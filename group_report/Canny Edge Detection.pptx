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ileron" panose="02010600030101010101" charset="0"/>
      <p:regular r:id="rId19"/>
    </p:embeddedFont>
    <p:embeddedFont>
      <p:font typeface="Aileron Bold" panose="02010600030101010101" charset="0"/>
      <p:regular r:id="rId20"/>
    </p:embeddedFont>
    <p:embeddedFont>
      <p:font typeface="Canva Sans" panose="02010600030101010101" charset="0"/>
      <p:regular r:id="rId21"/>
    </p:embeddedFont>
    <p:embeddedFont>
      <p:font typeface="Canva Sans Bold" panose="02010600030101010101" charset="0"/>
      <p:regular r:id="rId22"/>
    </p:embeddedFont>
    <p:embeddedFont>
      <p:font typeface="Open Sauce" panose="02010600030101010101" charset="0"/>
      <p:regular r:id="rId23"/>
    </p:embeddedFont>
    <p:embeddedFont>
      <p:font typeface="Open Sauce Bold" panose="02010600030101010101" charset="0"/>
      <p:regular r:id="rId24"/>
    </p:embeddedFont>
    <p:embeddedFont>
      <p:font typeface="Open Sauce Heavy" panose="02010600030101010101" charset="0"/>
      <p:regular r:id="rId25"/>
    </p:embeddedFont>
    <p:embeddedFont>
      <p:font typeface="Open Sauce Light" panose="02010600030101010101"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173" y="14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everyone. We are Group 5, and our project is Canny Edge Detection: Optimisation with cuTile on NVIDIA GPUs.</a:t>
            </a:r>
          </a:p>
          <a:p>
            <a:endParaRPr lang="en-US"/>
          </a:p>
          <a:p>
            <a:r>
              <a:rPr lang="en-US"/>
              <a:t>The aim of this project is to implement a Canny edge detection pipeline and accelerate suitable parts using GPU-based execution.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is our presentation structure.</a:t>
            </a:r>
          </a:p>
          <a:p>
            <a:endParaRPr lang="en-US"/>
          </a:p>
          <a:p>
            <a:r>
              <a:rPr lang="en-US"/>
              <a:t>First, I will cover the Algorithm and GPU Parallelisation Model, including the Canny pipeline and why it fits parallel computing.</a:t>
            </a:r>
          </a:p>
          <a:p>
            <a:endParaRPr lang="en-US"/>
          </a:p>
          <a:p>
            <a:r>
              <a:rPr lang="en-US"/>
              <a:t>Then, Xudong will explain the Implementation and Optimisation.</a:t>
            </a:r>
          </a:p>
          <a:p>
            <a:endParaRPr lang="en-US"/>
          </a:p>
          <a:p>
            <a:r>
              <a:rPr lang="en-US"/>
              <a:t>Finally, Shiying will present the Performance, Video Stream and Conclusion.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first look at Canny edge detection. It has five main stages.</a:t>
            </a:r>
          </a:p>
          <a:p>
            <a:endParaRPr lang="en-US"/>
          </a:p>
          <a:p>
            <a:r>
              <a:rPr lang="en-US"/>
              <a:t>First, Gaussian blur reduces noise before detecting edges. In our example, we use kernel size 5 and sigma 1.4. The formula shows separable Gaussian filtering: we blur horizontally first and then vertically, which is more efficient than applying a full 2D filter.</a:t>
            </a:r>
          </a:p>
          <a:p>
            <a:endParaRPr lang="en-US"/>
          </a:p>
          <a:p>
            <a:r>
              <a:rPr lang="en-US"/>
              <a:t>Second, Sobel gradient calculates the gradient magnitude and angle for each pixel. Magnitude gives edge strength, and angle gives edge direction.</a:t>
            </a:r>
          </a:p>
          <a:p>
            <a:endParaRPr lang="en-US"/>
          </a:p>
          <a:p>
            <a:r>
              <a:rPr lang="en-US"/>
              <a:t>After that, we use Non-Maximum Suppression, or NMS. After Sobel, edges can still be thick, so NMS keeps only the local maximum pixels along the gradient direction. This makes the edges thinner.</a:t>
            </a:r>
          </a:p>
          <a:p>
            <a:endParaRPr lang="en-US"/>
          </a:p>
          <a:p>
            <a:r>
              <a:rPr lang="en-US"/>
              <a:t>Fourth, Double Thresholding classifies pixels into strong, weak, and non-edge pixels.</a:t>
            </a:r>
          </a:p>
          <a:p>
            <a:r>
              <a:rPr lang="en-US"/>
              <a:t>Finally, Hysteresis/ˌhɪstəˈrisɪs/ keeps weak edges only if they are connected to strong edges.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why Canny Fits Data-Parallel Execution? The key idea is pixel-level data parallelism.</a:t>
            </a:r>
          </a:p>
          <a:p>
            <a:endParaRPr lang="en-US"/>
          </a:p>
          <a:p>
            <a:r>
              <a:rPr lang="en-US"/>
              <a:t>Image processing repeats similar operations over many pixels. For example, A five-twelve by five-twelve image has over two hundred and sixty thousand pixels, so many pixel operations can be mapped to GPU threads or tiles.</a:t>
            </a:r>
          </a:p>
          <a:p>
            <a:endParaRPr lang="en-US"/>
          </a:p>
          <a:p>
            <a:r>
              <a:rPr lang="en-US"/>
              <a:t>Gaussian blur and Sobel are stencil-style computations. Each output pixel reads nearby input pixels, but there is no inter-iteration dependence between output pixels, so these stages are good candidates for GPU parallelism.</a:t>
            </a:r>
          </a:p>
          <a:p>
            <a:endParaRPr lang="en-US"/>
          </a:p>
          <a:p>
            <a:r>
              <a:rPr lang="en-US"/>
              <a:t>NMS is also local, but it has more branching because the comparison direction depends on the gradient angle.</a:t>
            </a:r>
          </a:p>
          <a:p>
            <a:endParaRPr lang="en-US"/>
          </a:p>
          <a:p>
            <a:r>
              <a:rPr lang="en-US"/>
              <a:t>Thresholding is pixel-wise and easy to parallelise in theory. Hysteresis is harder because it depends on edge connectivity: a weak edge is kept only if it is connected to a strong edge.</a:t>
            </a:r>
          </a:p>
          <a:p>
            <a:endParaRPr lang="en-US"/>
          </a:p>
          <a:p>
            <a:r>
              <a:rPr lang="en-US"/>
              <a:t>This is also important for video, because the same pipeline runs for every frame, so throughput matters.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seeing that Canny has pixel-level parallelism, we still need to decide where and how to parallelise it. </a:t>
            </a:r>
          </a:p>
          <a:p>
            <a:endParaRPr lang="en-US"/>
          </a:p>
          <a:p>
            <a:r>
              <a:rPr lang="en-US"/>
              <a:t>We decompose the image into pixels or tiles, and decompose Canny into stages.</a:t>
            </a:r>
          </a:p>
          <a:p>
            <a:endParaRPr lang="en-US"/>
          </a:p>
          <a:p>
            <a:r>
              <a:rPr lang="en-US"/>
              <a:t>For dependence analysis, The first 3 stages read neighbouring pixels, but their outputs are independent. Hysteresis is different because it has connectivity dependence.</a:t>
            </a:r>
          </a:p>
          <a:p>
            <a:r>
              <a:rPr lang="en-US"/>
              <a:t>Based on this, our scheduling choice is to run suitable frontend stages on the GPU and keep intermediate data on the GPU when possible.</a:t>
            </a:r>
          </a:p>
          <a:p>
            <a:endParaRPr lang="en-US"/>
          </a:p>
          <a:p>
            <a:r>
              <a:rPr lang="en-US"/>
              <a:t>For benchmarking, we compare the CPU reference with GPU versions, and separate compute-only time from transfer or end-to-end time.</a:t>
            </a:r>
          </a:p>
          <a:p>
            <a:endParaRPr lang="en-US"/>
          </a:p>
          <a:p>
            <a:r>
              <a:rPr lang="en-US"/>
              <a:t>The table on the right summarises the GPU suitability. Gaussian and Sobel are strong GPU fits, NMS is still suitable but has branching. Double thresholding is parallel in theory, but in our code it stays on CPU because it is lightweight and directly feeds into CPU hysteresis. hysteresis is the hardest because it is connectivity-based. </a:t>
            </a:r>
          </a:p>
          <a:p>
            <a:endParaRPr lang="en-US"/>
          </a:p>
          <a:p>
            <a:r>
              <a:rPr lang="en-US"/>
              <a:t>We need to note that some stages can be fast on GPU, but the whole pipeline still includes data transfer, launch overhead, synchronisation, and CPU post-processing.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Based on the dependency analysis, the suitable frontend stages can be mapped to GPU execution.</a:t>
            </a:r>
          </a:p>
          <a:p>
            <a:endParaRPr lang="en-US"/>
          </a:p>
          <a:p>
            <a:r>
              <a:rPr lang="en-US"/>
              <a:t>The CPU baseline is still important because it gives us a correctness reference and a timing baseline.</a:t>
            </a:r>
          </a:p>
          <a:p>
            <a:endParaRPr lang="en-US"/>
          </a:p>
          <a:p>
            <a:r>
              <a:rPr lang="en-US"/>
              <a:t>The reason we use GPU is that many output pixels can be computed independently. This is the pixel-level data parallelism we discussed earlier.</a:t>
            </a:r>
          </a:p>
          <a:p>
            <a:endParaRPr lang="en-US"/>
          </a:p>
          <a:p>
            <a:r>
              <a:rPr lang="en-US"/>
              <a:t>cuTile is one way to express this parallelism on NVIDIA GPUs. The benefit is that it gives us a higher-level tile abstraction, so we can describe computation over chunks of pixels instead of manually managing every low-level CUDA thread.</a:t>
            </a:r>
          </a:p>
          <a:p>
            <a:endParaRPr lang="en-US"/>
          </a:p>
          <a:p>
            <a:r>
              <a:rPr lang="en-US"/>
              <a:t>In our code, this becomes a hybrid design. Suitable frontend stages run on GPU, cuTile-style kernels are used where supported, and CuPy fallback is used when needed. </a:t>
            </a:r>
          </a:p>
          <a:p>
            <a:endParaRPr lang="en-US"/>
          </a:p>
          <a:p>
            <a:r>
              <a:rPr lang="en-US"/>
              <a:t>Thresholding and hysteresis remain as CPU post-processing.</a:t>
            </a:r>
          </a:p>
          <a:p>
            <a:r>
              <a:rPr lang="en-US"/>
              <a:t>The code example shows the Sobel cuTile idea: the image interior is flattened into chunks, and each tile computes independent output pixels.</a:t>
            </a:r>
          </a:p>
          <a:p>
            <a:endParaRPr lang="en-US"/>
          </a:p>
          <a:p>
            <a:r>
              <a:rPr lang="en-US"/>
              <a:t>Next, Xudong will explain the implementation in more detail.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 Grace. Grace has explained why we need to move from CPU to GPU and eventually to cuTile. Now let me walk you through our Implementation work.</a:t>
            </a:r>
          </a:p>
          <a:p>
            <a:endParaRPr lang="en-US"/>
          </a:p>
          <a:p>
            <a:r>
              <a:rPr lang="en-US"/>
              <a:t>We implemented three progressively optimized versions, each corresponding to a different parallel model.</a:t>
            </a:r>
          </a:p>
          <a:p>
            <a:endParaRPr lang="en-US"/>
          </a:p>
          <a:p>
            <a:r>
              <a:rPr lang="en-US"/>
              <a:t>On the left is the CPU Baseline. We implemented the standard Canny pipeline using pure NumPy and SciPy, in the file canny_pipeline.py. This version is clear and easy to debug. It serves as our correctness reference and timing baseline. It is a fully Sequential / SISD model.</a:t>
            </a:r>
          </a:p>
          <a:p>
            <a:endParaRPr lang="en-US"/>
          </a:p>
          <a:p>
            <a:r>
              <a:rPr lang="en-US"/>
              <a:t>In the middle is the CuPy GPU version. We migrated all array operations to the GPU with almost zero code changes, in the file sobel_gpu_baseline.py. This achieved Data Parallelism on GPU. For example, Gaussian Blur reached a 10.64× compute-only speedup.</a:t>
            </a:r>
          </a:p>
          <a:p>
            <a:endParaRPr lang="en-US"/>
          </a:p>
          <a:p>
            <a:endParaRPr lang="en-US"/>
          </a:p>
          <a:p>
            <a:r>
              <a:rPr lang="en-US"/>
              <a:t>On the right is our main contribution — the cuTile GPU version, in cutile_full_pipeline.py. We implemented dedicated cuTile kernels for Gaussian and Sobel Magnitude. NMS also runs on GPU using CuPy — we explored a cuTile NMS design, but NMS requires gradient angle information across neighbouring pixels, which involves inter-tile data sharing that cuTile's 1D tile model doesn't natively support. Using pre-extracted neighbour arrays and tile-parallel design, we achieved true Tile-Parallel execution. </a:t>
            </a:r>
          </a:p>
          <a:p>
            <a:endParaRPr lang="en-US"/>
          </a:p>
          <a:p>
            <a:r>
              <a:rPr lang="en-US"/>
              <a:t>Now let me show you the actual kernel code behind this design.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actual Sobel cuTile kernel from sobel_cutile_benchmark.py.</a:t>
            </a:r>
          </a:p>
          <a:p>
            <a:endParaRPr lang="en-US"/>
          </a:p>
          <a:p>
            <a:r>
              <a:rPr lang="en-US"/>
              <a:t>The key design decision: instead of passing the full image, we pre-extract 8 neighbour arrays outside the kernel. So each tile loads only its own chunk, computes Gx and Gy independently, and stores the magnitude — zero inter-tile dependencies, full parallelism.</a:t>
            </a:r>
          </a:p>
          <a:p>
            <a:endParaRPr lang="en-US"/>
          </a:p>
          <a:p>
            <a:r>
              <a:rPr lang="en-US"/>
              <a:t>ct.load and ct.store handle tile-level memory automatically. No manual thread indexing, no shared memory management — that's the advantage of cuTile over raw CUDA.</a:t>
            </a:r>
          </a:p>
          <a:p>
            <a:r>
              <a:rPr lang="en-US"/>
              <a:t>Now let me walk through the scheduling decisions we built on top of this."</a:t>
            </a:r>
          </a:p>
          <a:p>
            <a:endParaRPr lang="en-US"/>
          </a:p>
          <a:p>
            <a:endParaRPr lang="en-US"/>
          </a:p>
          <a:p>
            <a:endParaRPr lang="en-US"/>
          </a:p>
          <a:p>
            <a:endParaRPr lang="en-US"/>
          </a:p>
          <a:p>
            <a:endParaRPr lang="en-US"/>
          </a:p>
          <a:p>
            <a:endParaRPr lang="en-US"/>
          </a:p>
          <a:p>
            <a:endParaRPr lang="en-US"/>
          </a:p>
          <a:p>
            <a:endParaRPr lang="en-US"/>
          </a:p>
          <a:p>
            <a:endParaRPr lang="en-US"/>
          </a:p>
          <a:p>
            <a:r>
              <a:rPr lang="en-US"/>
              <a:t>"Now let me show you the actual cuTile kernel we wrote — this is the core of our GPU implementation.</a:t>
            </a:r>
          </a:p>
          <a:p>
            <a:endParaRPr lang="en-US"/>
          </a:p>
          <a:p>
            <a:endParaRPr lang="en-US"/>
          </a:p>
          <a:p>
            <a:r>
              <a:rPr lang="en-US"/>
              <a:t>This is the Sobel magnitude kernel from sobel_cutile_benchmark.py. The key design decision is visible right here: instead of passing the full image into the kernel, we pre-extract 8 shifted neighbour arrays outside — top-left, top-center, all the way to bottom-right. This means each tile loads only its own chunk of pixels, computes Gx and Gy independently, and stores the magnitude. There are zero dependencies between tiles, which is exactly what makes full parallelism possible.</a:t>
            </a:r>
          </a:p>
          <a:p>
            <a:endParaRPr lang="en-US"/>
          </a:p>
          <a:p>
            <a:r>
              <a:rPr lang="en-US"/>
              <a:t>ct.load and ct.store are cuTile's tile-level memory operations — each block processes exactly tile_size pixels in one shot. And compared to raw CUDA, we never manually manage thread indices or shared memory. cuTile abstracts all of that away, which is the whole point of using it as a higher-level programming model.</a:t>
            </a:r>
          </a:p>
          <a:p>
            <a:endParaRPr lang="en-US"/>
          </a:p>
          <a:p>
            <a:r>
              <a:rPr lang="en-US"/>
              <a:t>This kernel is the foundation of everything I'll discuss next in our scheduling decisions."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the Scheduling &amp; Optimisation Decisions section, we made four key optimisation choices.</a:t>
            </a:r>
          </a:p>
          <a:p>
            <a:endParaRPr lang="en-US"/>
          </a:p>
          <a:p>
            <a:r>
              <a:rPr lang="en-US"/>
              <a:t>First is the Tile Size Sweep. We systematically tested tile sizes of 64, 128, 256, and 512 — tile size is the only tunable parameter for parallel</a:t>
            </a:r>
          </a:p>
          <a:p>
            <a:r>
              <a:rPr lang="en-US"/>
              <a:t> granularity个 ruang 牛来弱体 </a:t>
            </a:r>
          </a:p>
          <a:p>
            <a:endParaRPr lang="en-US"/>
          </a:p>
          <a:p>
            <a:r>
              <a:rPr lang="en-US"/>
              <a:t>in cuTile. Larger tiles increase register pressure per thread block, leading to lower SM occupancy and worse overall throughput. I'll go into the data in detail on the next slide.</a:t>
            </a:r>
          </a:p>
          <a:p>
            <a:endParaRPr lang="en-US"/>
          </a:p>
          <a:p>
            <a:r>
              <a:rPr lang="en-US"/>
              <a:t>Second is Memory Transfer Minimisation. We transfer the input image to the GPU only once, keep all intermediate results on the GPU, and only copy the NMS output back to the CPU for post-processing. This directly minimises the PCIe communication cost</a:t>
            </a:r>
          </a:p>
          <a:p>
            <a:r>
              <a:rPr lang="en-US"/>
              <a:t> — one of the key scheduling challenges from the course.</a:t>
            </a:r>
          </a:p>
          <a:p>
            <a:endParaRPr lang="en-US"/>
          </a:p>
          <a:p>
            <a:r>
              <a:rPr lang="en-US"/>
              <a:t>Third is our GPU Frontend + CPU Postprocess hybrid design. Gaussian, Sobel, and NMS run on the GPU. Double Threshold and Hysteresis 黑斯特瑞 sis</a:t>
            </a:r>
          </a:p>
          <a:p>
            <a:r>
              <a:rPr lang="en-US"/>
              <a:t> are executed on the CPU using cv2. The reason Hysteresis stays on CPU is not just that it's fast enough — it's that Hysteresis has a graph-traversal dependence. Whether a weak edge survives depends on whether it connects to a strong edge, which requires global BFS propagation破扰波给神 across the entire image. This is a flow dependence identified in our dependence analysis, and cuTile has no mechanism for inter-tile communication of this kind. So keeping it on CPU is the correct architectural decision, not just a convenience.</a:t>
            </a:r>
          </a:p>
          <a:p>
            <a:endParaRPr lang="en-US"/>
          </a:p>
          <a:p>
            <a:r>
              <a:rPr lang="en-US"/>
              <a:t>Finally, Percentile-Based Thresholds. For video streams, we adopted adaptive thresholds based on the 90th percentile of NMS values. This avoids frame-to-frame flicker and is far more robust than fixed thresholds for real-time use.</a:t>
            </a:r>
          </a:p>
          <a:p>
            <a:endParaRPr lang="en-US"/>
          </a:p>
          <a:p>
            <a:r>
              <a:rPr lang="en-US"/>
              <a:t>These four decisions together gave us a good balance between performance, compatibility, and correctness. Now let me show you the tile size data in detail.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cuTile, tile size directly determines how many pixels each block processes, which controls both SM utilisation and kernel launch overhead. We tested tile sizes from 32 to 1024 and compared cuTile against CuPy directly.</a:t>
            </a:r>
          </a:p>
          <a:p>
            <a:endParaRPr lang="en-US"/>
          </a:p>
          <a:p>
            <a:r>
              <a:rPr lang="en-US"/>
              <a:t>From the left chart ， tile = 64 gives the best performance. Too small a tile means too many kernel launches and dominant launch overhead. Too large a tile means too few blocks, leaving many SMs idle while also increasing register pressure per block.</a:t>
            </a:r>
          </a:p>
          <a:p>
            <a:endParaRPr lang="en-US"/>
          </a:p>
          <a:p>
            <a:r>
              <a:rPr lang="en-US"/>
              <a:t>The right chart  tells a different story. With a large image, there are enough pixels to keep all SMs busy regardless of tile size, so performance is stable across 128, 256, and 512. The sensitivity to tile size essentially disappears.</a:t>
            </a:r>
          </a:p>
          <a:p>
            <a:endParaRPr lang="en-US"/>
          </a:p>
          <a:p>
            <a:r>
              <a:rPr lang="en-US"/>
              <a:t>The key conclusion is: there is no one-size-fits-all tile size. For small images, tile = 64 achieves the best balance. For large images, tile size matters much less. Per-dimension testing is required.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Finally, the data confirms a clear pattern: larger images give the GPU more parallel work, so speedup scales up dramatically — from around 6× on the small image to nearly 20× on the large one. This is exactly what Gustafson's Law from Lecture 02 predicts. I'll hand over to Shiying for the full pipeline results."</a:t>
            </a:r>
          </a:p>
          <a:p>
            <a:endParaRPr lang="en-US"/>
          </a:p>
          <a:p>
            <a:r>
              <a:rPr lang="en-US"/>
              <a:t>Finally, let's look at how image size affects overall GPU parallel efficiency.</a:t>
            </a:r>
          </a:p>
          <a:p>
            <a:endParaRPr lang="en-US"/>
          </a:p>
          <a:p>
            <a:r>
              <a:rPr lang="en-US"/>
              <a:t>The left chart is the small image at 68K pixels, and the right is the large image at 12.2 million pixels. The GPU frontend speedup — covering Gaussian, Sobel, and NMS — increases dramatically with image size.</a:t>
            </a:r>
          </a:p>
          <a:p>
            <a:endParaRPr lang="en-US"/>
          </a:p>
          <a:p>
            <a:r>
              <a:rPr lang="en-US"/>
              <a:t>To be clear on the two measurements: compute-only measures pure kernel execution time, while end-to-end includes PCIe data transfer overhead. With the large image, GPU SM utilisation is much higher, and we reach speedups close to 20× compute-only — far above what the small image achieves.</a:t>
            </a:r>
          </a:p>
          <a:p>
            <a:endParaRPr lang="en-US"/>
          </a:p>
          <a:p>
            <a:r>
              <a:rPr lang="en-US"/>
              <a:t>This directly confirms what Amdahl's Law and Gustafson's Law both suggest from Lecture 02: with more parallel work available, the sequential and overhead fractions shrink proportionally, and the GPU's parallel advantage scales up. The more pixels we give the GPU, the better it performs.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look at the measured benchmark numbers.</a:t>
            </a:r>
          </a:p>
          <a:p>
            <a:endParaRPr lang="en-US"/>
          </a:p>
          <a:p>
            <a:r>
              <a:rPr lang="en-US"/>
              <a:t>We break the results into two levels. The first is the GPU frontend in isolation — Gaussian, Sobel, and NMS combined. Compute-only speedup, which measures just the GPU kernel time against CPU with no transfer included, peaks at 19.6× at tile sizes 128 and 256. Adding PCIe transfer brings end-to-end speedup down to around 13.5×, showing transfer has some cost, but the GPU frontend itself is genuinely fast.</a:t>
            </a:r>
          </a:p>
          <a:p>
            <a:endParaRPr lang="en-US"/>
          </a:p>
          <a:p>
            <a:r>
              <a:rPr lang="en-US"/>
              <a:t>The second level is the full pipeline speedup — GPU frontend plus CPU Hysteresis together, compared against a pure CPU baseline for the complete Canny pipeline. That number is 2.32×.</a:t>
            </a:r>
          </a:p>
          <a:p>
            <a:r>
              <a:rPr lang="en-US"/>
              <a:t>19.6× versus 2.32× — this gap is the central question of the entire performance analysis. The GPU frontend achieves nearly 20× speedup in isolation, so why does the full pipeline only reach 2.32×? The next slide answers that.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answer is Amdahl's Law.</a:t>
            </a:r>
          </a:p>
          <a:p>
            <a:r>
              <a:rPr lang="en-US"/>
              <a:t>The formula is straightforward: total speedup S equals one divided by the serial fraction f plus the contribution of the parallel portion. As the parallel part approaches infinite speed, the ceiling converges to 1/f.</a:t>
            </a:r>
          </a:p>
          <a:p>
            <a:r>
              <a:rPr lang="en-US"/>
              <a:t>In our pipeline, f comes from Stage 5 — Hysteresis. It currently has to run on CPU because connected-component analysis involves chain-like data dependencies with no fixed computation range, making it incompatible with cuTile's tile model. This is a structural constraint of the algorithm, not a limitation of our implementation.</a:t>
            </a:r>
          </a:p>
          <a:p>
            <a:r>
              <a:rPr lang="en-US"/>
              <a:t>Look at the chart on the left. Each bar has two segments: blue for GPU frontend plus PCIe transfer, red for CPU Hysteresis. The red portion is substantial — that's f made visible.</a:t>
            </a:r>
          </a:p>
          <a:p>
            <a:r>
              <a:rPr lang="en-US"/>
              <a:t>We computed f from measured data, derived S_max from the formula, and plotted the measured hybrid speedup onto the Amdahl curve. The orange dot lands directly on the curve — theory and experiment agree.</a:t>
            </a:r>
          </a:p>
          <a:p>
            <a:r>
              <a:rPr lang="en-US"/>
              <a:t>The conclusion: no matter how fast the GPU frontend becomes, as long as Hysteresis runs on CPU, the overall speedup is capped at 1/f. This is Amdahl's Law working exactly as expected.</a:t>
            </a:r>
          </a:p>
          <a:p>
            <a:r>
              <a:rPr lang="en-US"/>
              <a:t>One additional note — we repeated this analysis across 200 images from the BSDS500 benchmark dataset, and the measured mean point lands on the same curve. The conclusion holds generally, not just for a specific image.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 we transitioned the algorithm to video streams, we had a new idea: video capture is essentially a continuous sequence of image frames. So can we process multiple image at the same time？</a:t>
            </a:r>
          </a:p>
          <a:p>
            <a:endParaRPr lang="en-US"/>
          </a:p>
          <a:p>
            <a:r>
              <a:rPr lang="en-US"/>
              <a:t>The benchmark we discussed measures single-frame sequential processing. Here we introduce a different dimension: task parallelism across frames.</a:t>
            </a:r>
          </a:p>
          <a:p>
            <a:r>
              <a:rPr lang="en-US"/>
              <a:t>The implementation uses three threads. A Producer thread reads frames — in image-loop mode it cycles through test.jpg, in camera mode it reads from a real webcam. A GPU Worker thread handles Stages 1 through 3. The main thread runs CPU post-processing for Stages 4 and 5. Two queues connect the three, both with maxsize=4 to provide backpressure and prevent memory overflow.</a:t>
            </a:r>
          </a:p>
          <a:p>
            <a:endParaRPr lang="en-US"/>
          </a:p>
          <a:p>
            <a:r>
              <a:rPr lang="en-US"/>
              <a:t>Frames are resized to width 512 before entering the pipeline. Frame 0 is excluded as a CUDA JIT warm-up; statistics are collected from frame 1 onward. Both modes ran for 100 frames.</a:t>
            </a:r>
          </a:p>
          <a:p>
            <a:r>
              <a:rPr lang="en-US"/>
              <a:t>Results: image-loop sequential gives 9.36 FPS, pipeline gives 39.57 FPS; camera pipeline gives 22.79 FPS.</a:t>
            </a:r>
          </a:p>
          <a:p>
            <a:endParaRPr lang="en-US"/>
          </a:p>
          <a:p>
            <a:r>
              <a:rPr lang="en-US"/>
              <a:t>Image-loop is faster because test.jpg is already in memory — the Producer reads frames with almost no I/O delay, so the GPU runs continuously at full capacity. The camera introduces real hardware latency constrained by USB bandwidth and driver overhead.</a:t>
            </a:r>
          </a:p>
          <a:p>
            <a:r>
              <a:rPr lang="en-US"/>
              <a:t>One final point: 39.57 FPS is throughput, not per-frame latency. </a:t>
            </a:r>
          </a:p>
          <a:p>
            <a:endParaRPr lang="en-US"/>
          </a:p>
          <a:p>
            <a:r>
              <a:rPr lang="en-US"/>
              <a:t>Pipeline parallelism increases how many frames the system completes per second, but does not reduce the end-to-end delay for any individual frame.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First, Hysteresis parallelization. The chain-like data dependencies in connected-component analysis fall outside the scope of cuTile's tile model. However, this is a solvable problem — GPU Connected Components algorithms such as ECL-CC can perform parallel connected-component analysis directly on the GPU, reducing the serial fraction f to near zero. </a:t>
            </a:r>
          </a:p>
          <a:p>
            <a:r>
              <a:rPr lang="en-US"/>
              <a:t>Second, low GPU efficiency on small images — PCIe transfer and kernel launch overhead dominate at small image sizes, pushing end-to-end speedup close to or even below 1 times. </a:t>
            </a:r>
          </a:p>
          <a:p>
            <a:r>
              <a:rPr lang="en-US"/>
              <a:t>Third, camera I/O bottleneck — hardware latency from the physical camera limits throughput in real deployment, independent of the algorithm itself.</a:t>
            </a:r>
          </a:p>
          <a:p>
            <a:r>
              <a:rPr lang="en-US"/>
              <a:t>About the future direction,  first is Pinned Memory combined with CUDA Streams — eliminating the transfer copy overhead and overlapping data transfer with computation to reduce end-to-end latency.</a:t>
            </a:r>
          </a:p>
          <a:p>
            <a:r>
              <a:rPr lang="en-US"/>
              <a:t>The second direction is validating scalability at higher resolutions. Our current benchmarks are primarily at standard dataset resolutions. At 1080p and above, pixel count increases substantially, GPU utilization improves, and speedup is expected to climb further.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a:p>
            <a:r>
              <a:rPr lang="en-US"/>
              <a:t>No, I do not think the frontend optimisation targeted the wrong part.</a:t>
            </a:r>
          </a:p>
          <a:p>
            <a:r>
              <a:rPr lang="en-US"/>
              <a:t>From our dependency analysis, Gaussian, Sobel and NMS are the stages that naturally fit GPU data parallelism, so they are the right first targets for cuTile-style optimisation. </a:t>
            </a:r>
          </a:p>
          <a:p>
            <a:r>
              <a:rPr lang="en-US"/>
              <a:t>But the result shows the limitation: frontend optimisation only improves the parallel part. The full pipeline is still limited by the serial CPU part, especially hysteresis. So the frontend optimisation was useful, but it also revealed that the next bottleneck is CPU post-processing.</a:t>
            </a:r>
          </a:p>
          <a:p>
            <a:r>
              <a:rPr lang="en-US"/>
              <a:t>2.</a:t>
            </a:r>
          </a:p>
          <a:p>
            <a:r>
              <a:rPr lang="en-US"/>
              <a:t>We'd time each part separately — GPU frontend, PCIe transfer, thresholding, and hysteresis. Then swap each one out with a near-zero placeholder and see how much the overall speedup improves. The part that gives the biggest gain when removed is the real bottleneck. Our Amdahl analysis already points to hysteresis, but this would confirm whether transfer is actually the bigger issue.</a:t>
            </a:r>
          </a:p>
          <a:p>
            <a:endParaRPr lang="en-US"/>
          </a:p>
          <a:p>
            <a:r>
              <a:rPr lang="en-US"/>
              <a:t>Why do you use a 5×5 Gaussian kernel? What does sigma=1.4 control?</a:t>
            </a:r>
          </a:p>
          <a:p>
            <a:r>
              <a:rPr lang="en-US"/>
              <a:t>The 5×5 kernel covers roughly 3 sigma. Sigma=1.4 controls the blur strength — higher values suppress more noise but lose fine detail. 1.4 is the classic trade-off from the original Canny paper.</a:t>
            </a:r>
          </a:p>
          <a:p>
            <a:endParaRPr lang="en-US"/>
          </a:p>
          <a:p>
            <a:r>
              <a:rPr lang="en-US"/>
              <a:t>How do you choose the thresholds for double thresholding?"</a:t>
            </a:r>
          </a:p>
          <a:p>
            <a:r>
              <a:rPr lang="en-US"/>
              <a:t>"双阈值怎么确定的？"</a:t>
            </a:r>
          </a:p>
          <a:p>
            <a:r>
              <a:rPr lang="en-US"/>
              <a:t>We use adaptive percentile thresholds — the 90th percentile of non-zero NMS values as the high threshold, with the low threshold set at half that. This keeps thresholds relative to each image's own magnitude distribution rather than relying on fixed values.</a:t>
            </a:r>
          </a:p>
          <a:p>
            <a:r>
              <a:rPr lang="en-US"/>
              <a:t>What is cuTile and how is it different from writing CUDA directly?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jpe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sv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3"/>
            <a:stretch>
              <a:fillRect t="-9222" b="-9222"/>
            </a:stretch>
          </a:blipFill>
        </p:spPr>
      </p:sp>
      <p:grpSp>
        <p:nvGrpSpPr>
          <p:cNvPr id="3" name="Group 3"/>
          <p:cNvGrpSpPr/>
          <p:nvPr/>
        </p:nvGrpSpPr>
        <p:grpSpPr>
          <a:xfrm>
            <a:off x="14445008" y="8610695"/>
            <a:ext cx="2814292" cy="643540"/>
            <a:chOff x="0" y="0"/>
            <a:chExt cx="741213" cy="169492"/>
          </a:xfrm>
        </p:grpSpPr>
        <p:sp>
          <p:nvSpPr>
            <p:cNvPr id="4" name="Freeform 4"/>
            <p:cNvSpPr/>
            <p:nvPr/>
          </p:nvSpPr>
          <p:spPr>
            <a:xfrm>
              <a:off x="0" y="0"/>
              <a:ext cx="741213" cy="169492"/>
            </a:xfrm>
            <a:custGeom>
              <a:avLst/>
              <a:gdLst/>
              <a:ahLst/>
              <a:cxnLst/>
              <a:rect l="l" t="t" r="r" b="b"/>
              <a:pathLst>
                <a:path w="741213" h="169492">
                  <a:moveTo>
                    <a:pt x="84746" y="0"/>
                  </a:moveTo>
                  <a:lnTo>
                    <a:pt x="656467" y="0"/>
                  </a:lnTo>
                  <a:cubicBezTo>
                    <a:pt x="678943" y="0"/>
                    <a:pt x="700498" y="8929"/>
                    <a:pt x="716391" y="24822"/>
                  </a:cubicBezTo>
                  <a:cubicBezTo>
                    <a:pt x="732284" y="40714"/>
                    <a:pt x="741213" y="62270"/>
                    <a:pt x="741213" y="84746"/>
                  </a:cubicBezTo>
                  <a:lnTo>
                    <a:pt x="741213" y="84746"/>
                  </a:lnTo>
                  <a:cubicBezTo>
                    <a:pt x="741213" y="107222"/>
                    <a:pt x="732284" y="128777"/>
                    <a:pt x="716391" y="144670"/>
                  </a:cubicBezTo>
                  <a:cubicBezTo>
                    <a:pt x="700498" y="160563"/>
                    <a:pt x="678943" y="169492"/>
                    <a:pt x="656467" y="169492"/>
                  </a:cubicBezTo>
                  <a:lnTo>
                    <a:pt x="84746" y="169492"/>
                  </a:lnTo>
                  <a:cubicBezTo>
                    <a:pt x="62270" y="169492"/>
                    <a:pt x="40714" y="160563"/>
                    <a:pt x="24822" y="144670"/>
                  </a:cubicBezTo>
                  <a:cubicBezTo>
                    <a:pt x="8929" y="128777"/>
                    <a:pt x="0" y="107222"/>
                    <a:pt x="0" y="84746"/>
                  </a:cubicBezTo>
                  <a:lnTo>
                    <a:pt x="0" y="84746"/>
                  </a:lnTo>
                  <a:cubicBezTo>
                    <a:pt x="0" y="62270"/>
                    <a:pt x="8929" y="40714"/>
                    <a:pt x="24822" y="24822"/>
                  </a:cubicBezTo>
                  <a:cubicBezTo>
                    <a:pt x="40714" y="8929"/>
                    <a:pt x="62270" y="0"/>
                    <a:pt x="84746" y="0"/>
                  </a:cubicBezTo>
                  <a:close/>
                </a:path>
              </a:pathLst>
            </a:custGeom>
            <a:gradFill rotWithShape="1">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id="5" name="TextBox 5"/>
            <p:cNvSpPr txBox="1"/>
            <p:nvPr/>
          </p:nvSpPr>
          <p:spPr>
            <a:xfrm>
              <a:off x="0" y="85725"/>
              <a:ext cx="741213" cy="83767"/>
            </a:xfrm>
            <a:prstGeom prst="rect">
              <a:avLst/>
            </a:prstGeom>
          </p:spPr>
          <p:txBody>
            <a:bodyPr lIns="50800" tIns="50800" rIns="50800" bIns="50800" rtlCol="0" anchor="ctr"/>
            <a:lstStyle/>
            <a:p>
              <a:pPr algn="ctr">
                <a:lnSpc>
                  <a:spcPts val="2218"/>
                </a:lnSpc>
              </a:pPr>
              <a:endParaRPr/>
            </a:p>
          </p:txBody>
        </p:sp>
      </p:grpSp>
      <p:sp>
        <p:nvSpPr>
          <p:cNvPr id="6" name="TextBox 6"/>
          <p:cNvSpPr txBox="1"/>
          <p:nvPr/>
        </p:nvSpPr>
        <p:spPr>
          <a:xfrm>
            <a:off x="332395" y="2654201"/>
            <a:ext cx="10288249" cy="5036979"/>
          </a:xfrm>
          <a:prstGeom prst="rect">
            <a:avLst/>
          </a:prstGeom>
        </p:spPr>
        <p:txBody>
          <a:bodyPr lIns="0" tIns="0" rIns="0" bIns="0" rtlCol="0" anchor="t">
            <a:spAutoFit/>
          </a:bodyPr>
          <a:lstStyle/>
          <a:p>
            <a:pPr algn="l">
              <a:lnSpc>
                <a:spcPts val="12810"/>
              </a:lnSpc>
            </a:pPr>
            <a:r>
              <a:rPr lang="en-US" sz="14895" b="1" spc="-700">
                <a:solidFill>
                  <a:srgbClr val="FFFFFF"/>
                </a:solidFill>
                <a:latin typeface="Open Sauce Heavy"/>
                <a:ea typeface="Open Sauce Heavy"/>
                <a:cs typeface="Open Sauce Heavy"/>
                <a:sym typeface="Open Sauce Heavy"/>
              </a:rPr>
              <a:t>Canny Edge Detection</a:t>
            </a:r>
          </a:p>
        </p:txBody>
      </p:sp>
      <p:sp>
        <p:nvSpPr>
          <p:cNvPr id="7" name="TextBox 7"/>
          <p:cNvSpPr txBox="1"/>
          <p:nvPr/>
        </p:nvSpPr>
        <p:spPr>
          <a:xfrm>
            <a:off x="1132972" y="852689"/>
            <a:ext cx="5168833" cy="372323"/>
          </a:xfrm>
          <a:prstGeom prst="rect">
            <a:avLst/>
          </a:prstGeom>
        </p:spPr>
        <p:txBody>
          <a:bodyPr lIns="0" tIns="0" rIns="0" bIns="0" rtlCol="0" anchor="t">
            <a:spAutoFit/>
          </a:bodyPr>
          <a:lstStyle/>
          <a:p>
            <a:pPr algn="l">
              <a:lnSpc>
                <a:spcPts val="3121"/>
              </a:lnSpc>
            </a:pPr>
            <a:r>
              <a:rPr lang="en-US" sz="2229" b="1" spc="-104">
                <a:solidFill>
                  <a:srgbClr val="FFFFFF"/>
                </a:solidFill>
                <a:latin typeface="Open Sauce Heavy"/>
                <a:ea typeface="Open Sauce Heavy"/>
                <a:cs typeface="Open Sauce Heavy"/>
                <a:sym typeface="Open Sauce Heavy"/>
              </a:rPr>
              <a:t>SoftEng 751 </a:t>
            </a:r>
          </a:p>
        </p:txBody>
      </p:sp>
      <p:sp>
        <p:nvSpPr>
          <p:cNvPr id="8" name="TextBox 8"/>
          <p:cNvSpPr txBox="1"/>
          <p:nvPr/>
        </p:nvSpPr>
        <p:spPr>
          <a:xfrm>
            <a:off x="332395" y="7487162"/>
            <a:ext cx="9168161" cy="1903450"/>
          </a:xfrm>
          <a:prstGeom prst="rect">
            <a:avLst/>
          </a:prstGeom>
        </p:spPr>
        <p:txBody>
          <a:bodyPr lIns="0" tIns="0" rIns="0" bIns="0" rtlCol="0" anchor="t">
            <a:spAutoFit/>
          </a:bodyPr>
          <a:lstStyle/>
          <a:p>
            <a:pPr algn="l">
              <a:lnSpc>
                <a:spcPts val="5040"/>
              </a:lnSpc>
            </a:pPr>
            <a:r>
              <a:rPr lang="en-US" sz="4000" spc="-224">
                <a:solidFill>
                  <a:srgbClr val="FFFFFF"/>
                </a:solidFill>
                <a:latin typeface="Open Sauce Light"/>
                <a:ea typeface="Open Sauce Light"/>
                <a:cs typeface="Open Sauce Light"/>
                <a:sym typeface="Open Sauce Light"/>
              </a:rPr>
              <a:t>Optimisation with cuTile on NVIDIA GPUs</a:t>
            </a:r>
          </a:p>
          <a:p>
            <a:pPr algn="l">
              <a:lnSpc>
                <a:spcPts val="5040"/>
              </a:lnSpc>
            </a:pPr>
            <a:r>
              <a:rPr lang="en-US" sz="4000" spc="-224">
                <a:solidFill>
                  <a:srgbClr val="FFFFFF"/>
                </a:solidFill>
                <a:latin typeface="Open Sauce Light"/>
                <a:ea typeface="Open Sauce Light"/>
                <a:cs typeface="Open Sauce Light"/>
                <a:sym typeface="Open Sauce Light"/>
              </a:rPr>
              <a:t>Team 5</a:t>
            </a:r>
          </a:p>
          <a:p>
            <a:pPr algn="l">
              <a:lnSpc>
                <a:spcPts val="5040"/>
              </a:lnSpc>
            </a:pPr>
            <a:endParaRPr lang="en-US" sz="4000" spc="-224">
              <a:solidFill>
                <a:srgbClr val="FFFFFF"/>
              </a:solidFill>
              <a:latin typeface="Open Sauce Light"/>
              <a:ea typeface="Open Sauce Light"/>
              <a:cs typeface="Open Sauce Light"/>
              <a:sym typeface="Open Sauce Light"/>
            </a:endParaRPr>
          </a:p>
        </p:txBody>
      </p:sp>
      <p:grpSp>
        <p:nvGrpSpPr>
          <p:cNvPr id="9" name="Group 9"/>
          <p:cNvGrpSpPr/>
          <p:nvPr/>
        </p:nvGrpSpPr>
        <p:grpSpPr>
          <a:xfrm rot="566727">
            <a:off x="10895260" y="-4368833"/>
            <a:ext cx="11215742" cy="1121574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id="11" name="TextBox 11"/>
            <p:cNvSpPr txBox="1"/>
            <p:nvPr/>
          </p:nvSpPr>
          <p:spPr>
            <a:xfrm>
              <a:off x="76200" y="161925"/>
              <a:ext cx="660400" cy="574675"/>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12" name="Group 12"/>
          <p:cNvGrpSpPr/>
          <p:nvPr/>
        </p:nvGrpSpPr>
        <p:grpSpPr>
          <a:xfrm rot="566727">
            <a:off x="12737741" y="-2526351"/>
            <a:ext cx="7530780" cy="753078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id="14" name="TextBox 14"/>
            <p:cNvSpPr txBox="1"/>
            <p:nvPr/>
          </p:nvSpPr>
          <p:spPr>
            <a:xfrm>
              <a:off x="76200" y="161925"/>
              <a:ext cx="660400" cy="57467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15" name="TextBox 15"/>
          <p:cNvSpPr txBox="1"/>
          <p:nvPr/>
        </p:nvSpPr>
        <p:spPr>
          <a:xfrm>
            <a:off x="14445008" y="8763873"/>
            <a:ext cx="2814292" cy="318135"/>
          </a:xfrm>
          <a:prstGeom prst="rect">
            <a:avLst/>
          </a:prstGeom>
        </p:spPr>
        <p:txBody>
          <a:bodyPr lIns="0" tIns="0" rIns="0" bIns="0" rtlCol="0" anchor="t">
            <a:spAutoFit/>
          </a:bodyPr>
          <a:lstStyle/>
          <a:p>
            <a:pPr algn="ctr">
              <a:lnSpc>
                <a:spcPts val="2520"/>
              </a:lnSpc>
            </a:pPr>
            <a:r>
              <a:rPr lang="en-US" sz="2000" spc="-112">
                <a:solidFill>
                  <a:srgbClr val="FFFFFF"/>
                </a:solidFill>
                <a:latin typeface="Open Sauce"/>
                <a:ea typeface="Open Sauce"/>
                <a:cs typeface="Open Sauce"/>
                <a:sym typeface="Open Sauce"/>
              </a:rPr>
              <a:t>May 15, 2026</a:t>
            </a:r>
          </a:p>
        </p:txBody>
      </p:sp>
      <p:sp>
        <p:nvSpPr>
          <p:cNvPr id="16" name="TextBox 16"/>
          <p:cNvSpPr txBox="1"/>
          <p:nvPr/>
        </p:nvSpPr>
        <p:spPr>
          <a:xfrm>
            <a:off x="332395" y="8754348"/>
            <a:ext cx="9462221" cy="636264"/>
          </a:xfrm>
          <a:prstGeom prst="rect">
            <a:avLst/>
          </a:prstGeom>
        </p:spPr>
        <p:txBody>
          <a:bodyPr lIns="0" tIns="0" rIns="0" bIns="0" rtlCol="0" anchor="t">
            <a:spAutoFit/>
          </a:bodyPr>
          <a:lstStyle/>
          <a:p>
            <a:pPr algn="l">
              <a:lnSpc>
                <a:spcPts val="5040"/>
              </a:lnSpc>
            </a:pPr>
            <a:r>
              <a:rPr lang="en-US" sz="4000" b="1" spc="-224">
                <a:solidFill>
                  <a:srgbClr val="FFFFFF"/>
                </a:solidFill>
                <a:latin typeface="Open Sauce Bold"/>
                <a:ea typeface="Open Sauce Bold"/>
                <a:cs typeface="Open Sauce Bold"/>
                <a:sym typeface="Open Sauce Bold"/>
              </a:rPr>
              <a:t>Grace Liu         Xudong Ma        Shiying Yang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22" b="-9222"/>
            </a:stretch>
          </a:blipFill>
        </p:spPr>
      </p:sp>
      <p:grpSp>
        <p:nvGrpSpPr>
          <p:cNvPr id="3" name="Group 3"/>
          <p:cNvGrpSpPr/>
          <p:nvPr/>
        </p:nvGrpSpPr>
        <p:grpSpPr>
          <a:xfrm rot="-9278497">
            <a:off x="-5803234" y="-4738082"/>
            <a:ext cx="9966661" cy="996666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id="5" name="TextBox 5"/>
            <p:cNvSpPr txBox="1"/>
            <p:nvPr/>
          </p:nvSpPr>
          <p:spPr>
            <a:xfrm>
              <a:off x="76200" y="819150"/>
              <a:ext cx="660400" cy="660400"/>
            </a:xfrm>
            <a:prstGeom prst="rect">
              <a:avLst/>
            </a:prstGeom>
          </p:spPr>
          <p:txBody>
            <a:bodyPr lIns="50800" tIns="50800" rIns="50800" bIns="50800" rtlCol="0" anchor="ctr"/>
            <a:lstStyle/>
            <a:p>
              <a:pPr marL="0" lvl="0" indent="0" algn="l">
                <a:lnSpc>
                  <a:spcPts val="19673"/>
                </a:lnSpc>
                <a:spcBef>
                  <a:spcPct val="0"/>
                </a:spcBef>
              </a:pPr>
              <a:endParaRPr/>
            </a:p>
          </p:txBody>
        </p:sp>
      </p:grpSp>
      <p:grpSp>
        <p:nvGrpSpPr>
          <p:cNvPr id="6" name="Group 6"/>
          <p:cNvGrpSpPr/>
          <p:nvPr/>
        </p:nvGrpSpPr>
        <p:grpSpPr>
          <a:xfrm rot="-9278497">
            <a:off x="-2997112" y="-1545956"/>
            <a:ext cx="5213104" cy="52131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id="8" name="TextBox 8"/>
            <p:cNvSpPr txBox="1"/>
            <p:nvPr/>
          </p:nvSpPr>
          <p:spPr>
            <a:xfrm>
              <a:off x="76200" y="161925"/>
              <a:ext cx="660400" cy="57467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9" name="TextBox 9"/>
          <p:cNvSpPr txBox="1"/>
          <p:nvPr/>
        </p:nvSpPr>
        <p:spPr>
          <a:xfrm>
            <a:off x="-1034052" y="273824"/>
            <a:ext cx="16618709" cy="2933734"/>
          </a:xfrm>
          <a:prstGeom prst="rect">
            <a:avLst/>
          </a:prstGeom>
        </p:spPr>
        <p:txBody>
          <a:bodyPr lIns="0" tIns="0" rIns="0" bIns="0" rtlCol="0" anchor="t">
            <a:spAutoFit/>
          </a:bodyPr>
          <a:lstStyle/>
          <a:p>
            <a:pPr algn="r">
              <a:lnSpc>
                <a:spcPts val="11563"/>
              </a:lnSpc>
            </a:pPr>
            <a:r>
              <a:rPr lang="en-US" sz="9882" b="1" spc="-415">
                <a:solidFill>
                  <a:srgbClr val="FFFFFF"/>
                </a:solidFill>
                <a:latin typeface="Open Sauce Bold"/>
                <a:ea typeface="Open Sauce Bold"/>
                <a:cs typeface="Open Sauce Bold"/>
                <a:sym typeface="Open Sauce Bold"/>
              </a:rPr>
              <a:t>Presentation Overview</a:t>
            </a:r>
          </a:p>
          <a:p>
            <a:pPr algn="r">
              <a:lnSpc>
                <a:spcPts val="11563"/>
              </a:lnSpc>
            </a:pPr>
            <a:endParaRPr lang="en-US" sz="9882" b="1" spc="-415">
              <a:solidFill>
                <a:srgbClr val="FFFFFF"/>
              </a:solidFill>
              <a:latin typeface="Open Sauce Bold"/>
              <a:ea typeface="Open Sauce Bold"/>
              <a:cs typeface="Open Sauce Bold"/>
              <a:sym typeface="Open Sauce Bold"/>
            </a:endParaRPr>
          </a:p>
        </p:txBody>
      </p:sp>
      <p:grpSp>
        <p:nvGrpSpPr>
          <p:cNvPr id="10" name="Group 10"/>
          <p:cNvGrpSpPr/>
          <p:nvPr/>
        </p:nvGrpSpPr>
        <p:grpSpPr>
          <a:xfrm>
            <a:off x="1082626" y="2798062"/>
            <a:ext cx="15738928" cy="1844332"/>
            <a:chOff x="0" y="0"/>
            <a:chExt cx="5924174" cy="694211"/>
          </a:xfrm>
        </p:grpSpPr>
        <p:sp>
          <p:nvSpPr>
            <p:cNvPr id="11" name="Freeform 11"/>
            <p:cNvSpPr/>
            <p:nvPr/>
          </p:nvSpPr>
          <p:spPr>
            <a:xfrm>
              <a:off x="0" y="0"/>
              <a:ext cx="5924174" cy="694211"/>
            </a:xfrm>
            <a:custGeom>
              <a:avLst/>
              <a:gdLst/>
              <a:ahLst/>
              <a:cxnLst/>
              <a:rect l="l" t="t" r="r" b="b"/>
              <a:pathLst>
                <a:path w="5924174" h="694211">
                  <a:moveTo>
                    <a:pt x="25087" y="0"/>
                  </a:moveTo>
                  <a:lnTo>
                    <a:pt x="5899087" y="0"/>
                  </a:lnTo>
                  <a:cubicBezTo>
                    <a:pt x="5912942" y="0"/>
                    <a:pt x="5924174" y="11232"/>
                    <a:pt x="5924174" y="25087"/>
                  </a:cubicBezTo>
                  <a:lnTo>
                    <a:pt x="5924174" y="669125"/>
                  </a:lnTo>
                  <a:cubicBezTo>
                    <a:pt x="5924174" y="682980"/>
                    <a:pt x="5912942" y="694211"/>
                    <a:pt x="5899087" y="694211"/>
                  </a:cubicBezTo>
                  <a:lnTo>
                    <a:pt x="25087" y="694211"/>
                  </a:lnTo>
                  <a:cubicBezTo>
                    <a:pt x="11232" y="694211"/>
                    <a:pt x="0" y="682980"/>
                    <a:pt x="0" y="669125"/>
                  </a:cubicBezTo>
                  <a:lnTo>
                    <a:pt x="0" y="25087"/>
                  </a:lnTo>
                  <a:cubicBezTo>
                    <a:pt x="0" y="11232"/>
                    <a:pt x="11232" y="0"/>
                    <a:pt x="25087" y="0"/>
                  </a:cubicBezTo>
                  <a:close/>
                </a:path>
              </a:pathLst>
            </a:custGeom>
            <a:gradFill rotWithShape="1">
              <a:gsLst>
                <a:gs pos="0">
                  <a:srgbClr val="C55CD1">
                    <a:alpha val="100000"/>
                  </a:srgbClr>
                </a:gs>
                <a:gs pos="100000">
                  <a:srgbClr val="923ACD">
                    <a:alpha val="100000"/>
                  </a:srgbClr>
                </a:gs>
              </a:gsLst>
              <a:lin ang="2700000"/>
            </a:gradFill>
            <a:ln w="19050" cap="rnd">
              <a:solidFill>
                <a:srgbClr val="FFFFFF"/>
              </a:solidFill>
              <a:prstDash val="solid"/>
              <a:round/>
            </a:ln>
          </p:spPr>
        </p:sp>
        <p:sp>
          <p:nvSpPr>
            <p:cNvPr id="12" name="TextBox 12"/>
            <p:cNvSpPr txBox="1"/>
            <p:nvPr/>
          </p:nvSpPr>
          <p:spPr>
            <a:xfrm>
              <a:off x="0" y="85725"/>
              <a:ext cx="5924174" cy="608486"/>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13" name="Group 13"/>
          <p:cNvGrpSpPr/>
          <p:nvPr/>
        </p:nvGrpSpPr>
        <p:grpSpPr>
          <a:xfrm>
            <a:off x="1082626" y="5436311"/>
            <a:ext cx="15738928" cy="1844332"/>
            <a:chOff x="0" y="0"/>
            <a:chExt cx="5924174" cy="694211"/>
          </a:xfrm>
        </p:grpSpPr>
        <p:sp>
          <p:nvSpPr>
            <p:cNvPr id="14" name="Freeform 14"/>
            <p:cNvSpPr/>
            <p:nvPr/>
          </p:nvSpPr>
          <p:spPr>
            <a:xfrm>
              <a:off x="0" y="0"/>
              <a:ext cx="5924174" cy="694211"/>
            </a:xfrm>
            <a:custGeom>
              <a:avLst/>
              <a:gdLst/>
              <a:ahLst/>
              <a:cxnLst/>
              <a:rect l="l" t="t" r="r" b="b"/>
              <a:pathLst>
                <a:path w="5924174" h="694211">
                  <a:moveTo>
                    <a:pt x="25087" y="0"/>
                  </a:moveTo>
                  <a:lnTo>
                    <a:pt x="5899087" y="0"/>
                  </a:lnTo>
                  <a:cubicBezTo>
                    <a:pt x="5912942" y="0"/>
                    <a:pt x="5924174" y="11232"/>
                    <a:pt x="5924174" y="25087"/>
                  </a:cubicBezTo>
                  <a:lnTo>
                    <a:pt x="5924174" y="669125"/>
                  </a:lnTo>
                  <a:cubicBezTo>
                    <a:pt x="5924174" y="682980"/>
                    <a:pt x="5912942" y="694211"/>
                    <a:pt x="5899087" y="694211"/>
                  </a:cubicBezTo>
                  <a:lnTo>
                    <a:pt x="25087" y="694211"/>
                  </a:lnTo>
                  <a:cubicBezTo>
                    <a:pt x="11232" y="694211"/>
                    <a:pt x="0" y="682980"/>
                    <a:pt x="0" y="669125"/>
                  </a:cubicBezTo>
                  <a:lnTo>
                    <a:pt x="0" y="25087"/>
                  </a:lnTo>
                  <a:cubicBezTo>
                    <a:pt x="0" y="11232"/>
                    <a:pt x="11232" y="0"/>
                    <a:pt x="25087" y="0"/>
                  </a:cubicBezTo>
                  <a:close/>
                </a:path>
              </a:pathLst>
            </a:custGeom>
            <a:gradFill rotWithShape="1">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id="15" name="TextBox 15"/>
            <p:cNvSpPr txBox="1"/>
            <p:nvPr/>
          </p:nvSpPr>
          <p:spPr>
            <a:xfrm>
              <a:off x="0" y="85725"/>
              <a:ext cx="5924174" cy="608486"/>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16" name="TextBox 16"/>
          <p:cNvSpPr txBox="1"/>
          <p:nvPr/>
        </p:nvSpPr>
        <p:spPr>
          <a:xfrm>
            <a:off x="1251715" y="3073355"/>
            <a:ext cx="681061" cy="449580"/>
          </a:xfrm>
          <a:prstGeom prst="rect">
            <a:avLst/>
          </a:prstGeom>
        </p:spPr>
        <p:txBody>
          <a:bodyPr lIns="0" tIns="0" rIns="0" bIns="0" rtlCol="0" anchor="t">
            <a:spAutoFit/>
          </a:bodyPr>
          <a:lstStyle/>
          <a:p>
            <a:pPr algn="l">
              <a:lnSpc>
                <a:spcPts val="3509"/>
              </a:lnSpc>
            </a:pPr>
            <a:r>
              <a:rPr lang="en-US" sz="3000" b="1" spc="-126">
                <a:solidFill>
                  <a:srgbClr val="FFFFFF"/>
                </a:solidFill>
                <a:latin typeface="Open Sauce Bold"/>
                <a:ea typeface="Open Sauce Bold"/>
                <a:cs typeface="Open Sauce Bold"/>
                <a:sym typeface="Open Sauce Bold"/>
              </a:rPr>
              <a:t>01.</a:t>
            </a:r>
          </a:p>
        </p:txBody>
      </p:sp>
      <p:sp>
        <p:nvSpPr>
          <p:cNvPr id="17" name="TextBox 17"/>
          <p:cNvSpPr txBox="1"/>
          <p:nvPr/>
        </p:nvSpPr>
        <p:spPr>
          <a:xfrm>
            <a:off x="1232178" y="5739544"/>
            <a:ext cx="681061" cy="449580"/>
          </a:xfrm>
          <a:prstGeom prst="rect">
            <a:avLst/>
          </a:prstGeom>
        </p:spPr>
        <p:txBody>
          <a:bodyPr lIns="0" tIns="0" rIns="0" bIns="0" rtlCol="0" anchor="t">
            <a:spAutoFit/>
          </a:bodyPr>
          <a:lstStyle/>
          <a:p>
            <a:pPr algn="l">
              <a:lnSpc>
                <a:spcPts val="3509"/>
              </a:lnSpc>
            </a:pPr>
            <a:r>
              <a:rPr lang="en-US" sz="3000" b="1" spc="-126">
                <a:solidFill>
                  <a:srgbClr val="FFFFFF"/>
                </a:solidFill>
                <a:latin typeface="Open Sauce Bold"/>
                <a:ea typeface="Open Sauce Bold"/>
                <a:cs typeface="Open Sauce Bold"/>
                <a:sym typeface="Open Sauce Bold"/>
              </a:rPr>
              <a:t>02.</a:t>
            </a:r>
          </a:p>
        </p:txBody>
      </p:sp>
      <p:sp>
        <p:nvSpPr>
          <p:cNvPr id="18" name="TextBox 18"/>
          <p:cNvSpPr txBox="1"/>
          <p:nvPr/>
        </p:nvSpPr>
        <p:spPr>
          <a:xfrm>
            <a:off x="1848478" y="3140665"/>
            <a:ext cx="12248559" cy="422275"/>
          </a:xfrm>
          <a:prstGeom prst="rect">
            <a:avLst/>
          </a:prstGeom>
        </p:spPr>
        <p:txBody>
          <a:bodyPr lIns="0" tIns="0" rIns="0" bIns="0" rtlCol="0" anchor="t">
            <a:spAutoFit/>
          </a:bodyPr>
          <a:lstStyle/>
          <a:p>
            <a:pPr marL="0" lvl="0" indent="0" algn="l">
              <a:lnSpc>
                <a:spcPts val="3499"/>
              </a:lnSpc>
              <a:spcBef>
                <a:spcPct val="0"/>
              </a:spcBef>
            </a:pPr>
            <a:r>
              <a:rPr lang="en-US" sz="2499" b="1">
                <a:solidFill>
                  <a:srgbClr val="FFFFFF"/>
                </a:solidFill>
                <a:latin typeface="Open Sauce Bold"/>
                <a:ea typeface="Open Sauce Bold"/>
                <a:cs typeface="Open Sauce Bold"/>
                <a:sym typeface="Open Sauce Bold"/>
              </a:rPr>
              <a:t>Grac</a:t>
            </a:r>
            <a:r>
              <a:rPr lang="en-US" sz="2499" b="1" u="none" strike="noStrike">
                <a:solidFill>
                  <a:srgbClr val="FFFFFF"/>
                </a:solidFill>
                <a:latin typeface="Open Sauce Bold"/>
                <a:ea typeface="Open Sauce Bold"/>
                <a:cs typeface="Open Sauce Bold"/>
                <a:sym typeface="Open Sauce Bold"/>
              </a:rPr>
              <a:t>e — Algorithm &amp; GPU Parallelisation Model</a:t>
            </a:r>
          </a:p>
        </p:txBody>
      </p:sp>
      <p:grpSp>
        <p:nvGrpSpPr>
          <p:cNvPr id="19" name="Group 19"/>
          <p:cNvGrpSpPr/>
          <p:nvPr/>
        </p:nvGrpSpPr>
        <p:grpSpPr>
          <a:xfrm>
            <a:off x="1082626" y="8071218"/>
            <a:ext cx="15738928" cy="1844332"/>
            <a:chOff x="0" y="0"/>
            <a:chExt cx="5924174" cy="694211"/>
          </a:xfrm>
        </p:grpSpPr>
        <p:sp>
          <p:nvSpPr>
            <p:cNvPr id="20" name="Freeform 20"/>
            <p:cNvSpPr/>
            <p:nvPr/>
          </p:nvSpPr>
          <p:spPr>
            <a:xfrm>
              <a:off x="0" y="0"/>
              <a:ext cx="5924174" cy="694211"/>
            </a:xfrm>
            <a:custGeom>
              <a:avLst/>
              <a:gdLst/>
              <a:ahLst/>
              <a:cxnLst/>
              <a:rect l="l" t="t" r="r" b="b"/>
              <a:pathLst>
                <a:path w="5924174" h="694211">
                  <a:moveTo>
                    <a:pt x="25087" y="0"/>
                  </a:moveTo>
                  <a:lnTo>
                    <a:pt x="5899087" y="0"/>
                  </a:lnTo>
                  <a:cubicBezTo>
                    <a:pt x="5912942" y="0"/>
                    <a:pt x="5924174" y="11232"/>
                    <a:pt x="5924174" y="25087"/>
                  </a:cubicBezTo>
                  <a:lnTo>
                    <a:pt x="5924174" y="669125"/>
                  </a:lnTo>
                  <a:cubicBezTo>
                    <a:pt x="5924174" y="682980"/>
                    <a:pt x="5912942" y="694211"/>
                    <a:pt x="5899087" y="694211"/>
                  </a:cubicBezTo>
                  <a:lnTo>
                    <a:pt x="25087" y="694211"/>
                  </a:lnTo>
                  <a:cubicBezTo>
                    <a:pt x="11232" y="694211"/>
                    <a:pt x="0" y="682980"/>
                    <a:pt x="0" y="669125"/>
                  </a:cubicBezTo>
                  <a:lnTo>
                    <a:pt x="0" y="25087"/>
                  </a:lnTo>
                  <a:cubicBezTo>
                    <a:pt x="0" y="11232"/>
                    <a:pt x="11232" y="0"/>
                    <a:pt x="25087" y="0"/>
                  </a:cubicBezTo>
                  <a:close/>
                </a:path>
              </a:pathLst>
            </a:custGeom>
            <a:gradFill rotWithShape="1">
              <a:gsLst>
                <a:gs pos="0">
                  <a:srgbClr val="C55CD1">
                    <a:alpha val="100000"/>
                  </a:srgbClr>
                </a:gs>
                <a:gs pos="100000">
                  <a:srgbClr val="923ACD">
                    <a:alpha val="100000"/>
                  </a:srgbClr>
                </a:gs>
              </a:gsLst>
              <a:lin ang="2700000"/>
            </a:gradFill>
            <a:ln w="19050" cap="rnd">
              <a:solidFill>
                <a:srgbClr val="FFFFFF"/>
              </a:solidFill>
              <a:prstDash val="solid"/>
              <a:round/>
            </a:ln>
          </p:spPr>
        </p:sp>
        <p:sp>
          <p:nvSpPr>
            <p:cNvPr id="21" name="TextBox 21"/>
            <p:cNvSpPr txBox="1"/>
            <p:nvPr/>
          </p:nvSpPr>
          <p:spPr>
            <a:xfrm>
              <a:off x="0" y="85725"/>
              <a:ext cx="5924174" cy="608486"/>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22" name="TextBox 22"/>
          <p:cNvSpPr txBox="1"/>
          <p:nvPr/>
        </p:nvSpPr>
        <p:spPr>
          <a:xfrm>
            <a:off x="1235026" y="8374451"/>
            <a:ext cx="681061" cy="449580"/>
          </a:xfrm>
          <a:prstGeom prst="rect">
            <a:avLst/>
          </a:prstGeom>
        </p:spPr>
        <p:txBody>
          <a:bodyPr lIns="0" tIns="0" rIns="0" bIns="0" rtlCol="0" anchor="t">
            <a:spAutoFit/>
          </a:bodyPr>
          <a:lstStyle/>
          <a:p>
            <a:pPr algn="l">
              <a:lnSpc>
                <a:spcPts val="3509"/>
              </a:lnSpc>
            </a:pPr>
            <a:r>
              <a:rPr lang="en-US" sz="3000" b="1" spc="-126">
                <a:solidFill>
                  <a:srgbClr val="FFFFFF"/>
                </a:solidFill>
                <a:latin typeface="Open Sauce Bold"/>
                <a:ea typeface="Open Sauce Bold"/>
                <a:cs typeface="Open Sauce Bold"/>
                <a:sym typeface="Open Sauce Bold"/>
              </a:rPr>
              <a:t>03.</a:t>
            </a:r>
          </a:p>
        </p:txBody>
      </p:sp>
      <p:sp>
        <p:nvSpPr>
          <p:cNvPr id="23" name="TextBox 23"/>
          <p:cNvSpPr txBox="1"/>
          <p:nvPr/>
        </p:nvSpPr>
        <p:spPr>
          <a:xfrm>
            <a:off x="1913238" y="5778914"/>
            <a:ext cx="7463864" cy="422275"/>
          </a:xfrm>
          <a:prstGeom prst="rect">
            <a:avLst/>
          </a:prstGeom>
        </p:spPr>
        <p:txBody>
          <a:bodyPr lIns="0" tIns="0" rIns="0" bIns="0" rtlCol="0" anchor="t">
            <a:spAutoFit/>
          </a:bodyPr>
          <a:lstStyle/>
          <a:p>
            <a:pPr marL="0" lvl="0" indent="0" algn="l">
              <a:lnSpc>
                <a:spcPts val="3499"/>
              </a:lnSpc>
              <a:spcBef>
                <a:spcPct val="0"/>
              </a:spcBef>
            </a:pPr>
            <a:r>
              <a:rPr lang="en-US" sz="2499" b="1">
                <a:solidFill>
                  <a:srgbClr val="FFFFFF"/>
                </a:solidFill>
                <a:latin typeface="Open Sauce Bold"/>
                <a:ea typeface="Open Sauce Bold"/>
                <a:cs typeface="Open Sauce Bold"/>
                <a:sym typeface="Open Sauce Bold"/>
              </a:rPr>
              <a:t>Xudong — Impl</a:t>
            </a:r>
            <a:r>
              <a:rPr lang="en-US" sz="2499" b="1" u="none" strike="noStrike">
                <a:solidFill>
                  <a:srgbClr val="FFFFFF"/>
                </a:solidFill>
                <a:latin typeface="Open Sauce Bold"/>
                <a:ea typeface="Open Sauce Bold"/>
                <a:cs typeface="Open Sauce Bold"/>
                <a:sym typeface="Open Sauce Bold"/>
              </a:rPr>
              <a:t>ementation &amp; Optimisation</a:t>
            </a:r>
          </a:p>
        </p:txBody>
      </p:sp>
      <p:sp>
        <p:nvSpPr>
          <p:cNvPr id="24" name="TextBox 24"/>
          <p:cNvSpPr txBox="1"/>
          <p:nvPr/>
        </p:nvSpPr>
        <p:spPr>
          <a:xfrm>
            <a:off x="1911301" y="8356354"/>
            <a:ext cx="9018890" cy="422275"/>
          </a:xfrm>
          <a:prstGeom prst="rect">
            <a:avLst/>
          </a:prstGeom>
        </p:spPr>
        <p:txBody>
          <a:bodyPr lIns="0" tIns="0" rIns="0" bIns="0" rtlCol="0" anchor="t">
            <a:spAutoFit/>
          </a:bodyPr>
          <a:lstStyle/>
          <a:p>
            <a:pPr marL="0" lvl="0" indent="0" algn="l">
              <a:lnSpc>
                <a:spcPts val="3499"/>
              </a:lnSpc>
              <a:spcBef>
                <a:spcPct val="0"/>
              </a:spcBef>
            </a:pPr>
            <a:r>
              <a:rPr lang="en-US" sz="2499" b="1">
                <a:solidFill>
                  <a:srgbClr val="FFFFFF"/>
                </a:solidFill>
                <a:latin typeface="Open Sauce Bold"/>
                <a:ea typeface="Open Sauce Bold"/>
                <a:cs typeface="Open Sauce Bold"/>
                <a:sym typeface="Open Sauce Bold"/>
              </a:rPr>
              <a:t>Shiying — P</a:t>
            </a:r>
            <a:r>
              <a:rPr lang="en-US" sz="2499" b="1" u="none" strike="noStrike">
                <a:solidFill>
                  <a:srgbClr val="FFFFFF"/>
                </a:solidFill>
                <a:latin typeface="Open Sauce Bold"/>
                <a:ea typeface="Open Sauce Bold"/>
                <a:cs typeface="Open Sauce Bold"/>
                <a:sym typeface="Open Sauce Bold"/>
              </a:rPr>
              <a:t>erformance, Video Stream &amp; Conclusion</a:t>
            </a:r>
          </a:p>
        </p:txBody>
      </p:sp>
      <p:sp>
        <p:nvSpPr>
          <p:cNvPr id="25" name="TextBox 25"/>
          <p:cNvSpPr txBox="1"/>
          <p:nvPr/>
        </p:nvSpPr>
        <p:spPr>
          <a:xfrm>
            <a:off x="1848478" y="3825003"/>
            <a:ext cx="13736178" cy="389255"/>
          </a:xfrm>
          <a:prstGeom prst="rect">
            <a:avLst/>
          </a:prstGeom>
        </p:spPr>
        <p:txBody>
          <a:bodyPr lIns="0" tIns="0" rIns="0" bIns="0" rtlCol="0" anchor="t">
            <a:spAutoFit/>
          </a:bodyPr>
          <a:lstStyle/>
          <a:p>
            <a:pPr marL="0" lvl="0" indent="0" algn="l">
              <a:lnSpc>
                <a:spcPts val="3219"/>
              </a:lnSpc>
              <a:spcBef>
                <a:spcPct val="0"/>
              </a:spcBef>
            </a:pPr>
            <a:r>
              <a:rPr lang="en-US" sz="2299">
                <a:solidFill>
                  <a:srgbClr val="FFFFFF"/>
                </a:solidFill>
                <a:latin typeface="Open Sauce"/>
                <a:ea typeface="Open Sauce"/>
                <a:cs typeface="Open Sauce"/>
                <a:sym typeface="Open Sauce"/>
              </a:rPr>
              <a:t>Canny</a:t>
            </a:r>
            <a:r>
              <a:rPr lang="en-US" sz="2299" u="none" strike="noStrike">
                <a:solidFill>
                  <a:srgbClr val="FFFFFF"/>
                </a:solidFill>
                <a:latin typeface="Open Sauce"/>
                <a:ea typeface="Open Sauce"/>
                <a:cs typeface="Open Sauce"/>
                <a:sym typeface="Open Sauce"/>
              </a:rPr>
              <a:t> five-stage pipeline, data parallelism, dependency analysis, scheduling idea</a:t>
            </a:r>
          </a:p>
        </p:txBody>
      </p:sp>
      <p:sp>
        <p:nvSpPr>
          <p:cNvPr id="26" name="TextBox 26"/>
          <p:cNvSpPr txBox="1"/>
          <p:nvPr/>
        </p:nvSpPr>
        <p:spPr>
          <a:xfrm>
            <a:off x="1911301" y="9128831"/>
            <a:ext cx="13133727" cy="389255"/>
          </a:xfrm>
          <a:prstGeom prst="rect">
            <a:avLst/>
          </a:prstGeom>
        </p:spPr>
        <p:txBody>
          <a:bodyPr lIns="0" tIns="0" rIns="0" bIns="0" rtlCol="0" anchor="t">
            <a:spAutoFit/>
          </a:bodyPr>
          <a:lstStyle/>
          <a:p>
            <a:pPr marL="0" lvl="0" indent="0" algn="l">
              <a:lnSpc>
                <a:spcPts val="3219"/>
              </a:lnSpc>
              <a:spcBef>
                <a:spcPct val="0"/>
              </a:spcBef>
            </a:pPr>
            <a:r>
              <a:rPr lang="en-US" sz="2299">
                <a:solidFill>
                  <a:srgbClr val="FFFFFF"/>
                </a:solidFill>
                <a:latin typeface="Open Sauce"/>
                <a:ea typeface="Open Sauce"/>
                <a:cs typeface="Open Sauce"/>
                <a:sym typeface="Open Sauce"/>
              </a:rPr>
              <a:t>Tile size, Benchmark results, pipeline-parallel video,</a:t>
            </a:r>
            <a:r>
              <a:rPr lang="en-US" sz="2299" u="none" strike="noStrike">
                <a:solidFill>
                  <a:srgbClr val="FFFFFF"/>
                </a:solidFill>
                <a:latin typeface="Open Sauce"/>
                <a:ea typeface="Open Sauce"/>
                <a:cs typeface="Open Sauce"/>
                <a:sym typeface="Open Sauce"/>
              </a:rPr>
              <a:t> challenges and future work</a:t>
            </a:r>
          </a:p>
        </p:txBody>
      </p:sp>
      <p:sp>
        <p:nvSpPr>
          <p:cNvPr id="27" name="TextBox 27"/>
          <p:cNvSpPr txBox="1"/>
          <p:nvPr/>
        </p:nvSpPr>
        <p:spPr>
          <a:xfrm>
            <a:off x="1848478" y="6310852"/>
            <a:ext cx="13736178" cy="1189355"/>
          </a:xfrm>
          <a:prstGeom prst="rect">
            <a:avLst/>
          </a:prstGeom>
        </p:spPr>
        <p:txBody>
          <a:bodyPr lIns="0" tIns="0" rIns="0" bIns="0" rtlCol="0" anchor="t">
            <a:spAutoFit/>
          </a:bodyPr>
          <a:lstStyle/>
          <a:p>
            <a:pPr marL="0" lvl="0" indent="0" algn="l">
              <a:lnSpc>
                <a:spcPts val="3219"/>
              </a:lnSpc>
              <a:spcBef>
                <a:spcPct val="0"/>
              </a:spcBef>
            </a:pPr>
            <a:r>
              <a:rPr lang="en-US" sz="2299">
                <a:solidFill>
                  <a:srgbClr val="FFFFFF"/>
                </a:solidFill>
                <a:latin typeface="Open Sauce"/>
                <a:ea typeface="Open Sauce"/>
                <a:cs typeface="Open Sauce"/>
                <a:sym typeface="Open Sauce"/>
              </a:rPr>
              <a:t>CPU baseline → CuPy</a:t>
            </a:r>
            <a:r>
              <a:rPr lang="en-US" sz="2299" u="none" strike="noStrike">
                <a:solidFill>
                  <a:srgbClr val="FFFFFF"/>
                </a:solidFill>
                <a:latin typeface="Open Sauce"/>
                <a:ea typeface="Open Sauce"/>
                <a:cs typeface="Open Sauce"/>
                <a:sym typeface="Open Sauce"/>
              </a:rPr>
              <a:t> GPU → cuTile-style kernels, tile size sweep, memory transfer minimisation, hybrid GPU/CPU pipeline</a:t>
            </a:r>
          </a:p>
          <a:p>
            <a:pPr marL="0" lvl="0" indent="0" algn="l">
              <a:lnSpc>
                <a:spcPts val="3219"/>
              </a:lnSpc>
              <a:spcBef>
                <a:spcPct val="0"/>
              </a:spcBef>
            </a:pPr>
            <a:endParaRPr lang="en-US" sz="2299" u="none" strike="noStrike">
              <a:solidFill>
                <a:srgbClr val="FFFFFF"/>
              </a:solidFill>
              <a:latin typeface="Open Sauce"/>
              <a:ea typeface="Open Sauce"/>
              <a:cs typeface="Open Sauce"/>
              <a:sym typeface="Open Sauce"/>
            </a:endParaRPr>
          </a:p>
        </p:txBody>
      </p:sp>
      <p:sp>
        <p:nvSpPr>
          <p:cNvPr id="28" name="TextBox 28"/>
          <p:cNvSpPr txBox="1"/>
          <p:nvPr/>
        </p:nvSpPr>
        <p:spPr>
          <a:xfrm>
            <a:off x="16780018" y="206363"/>
            <a:ext cx="1242179"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Grace Liu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t="-9222" b="-9222"/>
            </a:stretch>
          </a:blipFill>
        </p:spPr>
      </p:sp>
      <p:sp>
        <p:nvSpPr>
          <p:cNvPr id="3" name="Freeform 3"/>
          <p:cNvSpPr/>
          <p:nvPr/>
        </p:nvSpPr>
        <p:spPr>
          <a:xfrm rot="-5400000" flipV="1">
            <a:off x="-436791" y="3180449"/>
            <a:ext cx="2289462" cy="453730"/>
          </a:xfrm>
          <a:custGeom>
            <a:avLst/>
            <a:gdLst/>
            <a:ahLst/>
            <a:cxnLst/>
            <a:rect l="l" t="t" r="r" b="b"/>
            <a:pathLst>
              <a:path w="2289462" h="453730">
                <a:moveTo>
                  <a:pt x="0" y="453730"/>
                </a:moveTo>
                <a:lnTo>
                  <a:pt x="2289462" y="453730"/>
                </a:lnTo>
                <a:lnTo>
                  <a:pt x="2289462" y="0"/>
                </a:lnTo>
                <a:lnTo>
                  <a:pt x="0" y="0"/>
                </a:lnTo>
                <a:lnTo>
                  <a:pt x="0" y="453730"/>
                </a:lnTo>
                <a:close/>
              </a:path>
            </a:pathLst>
          </a:custGeom>
          <a:blipFill>
            <a:blip r:embed="rId4">
              <a:alphaModFix amt="56000"/>
            </a:blip>
            <a:stretch>
              <a:fillRect/>
            </a:stretch>
          </a:blipFill>
        </p:spPr>
      </p:sp>
      <p:sp>
        <p:nvSpPr>
          <p:cNvPr id="4" name="Freeform 4"/>
          <p:cNvSpPr/>
          <p:nvPr/>
        </p:nvSpPr>
        <p:spPr>
          <a:xfrm rot="-5400000" flipV="1">
            <a:off x="9331740" y="6991105"/>
            <a:ext cx="4029852" cy="798643"/>
          </a:xfrm>
          <a:custGeom>
            <a:avLst/>
            <a:gdLst/>
            <a:ahLst/>
            <a:cxnLst/>
            <a:rect l="l" t="t" r="r" b="b"/>
            <a:pathLst>
              <a:path w="4029852" h="798643">
                <a:moveTo>
                  <a:pt x="0" y="798643"/>
                </a:moveTo>
                <a:lnTo>
                  <a:pt x="4029852" y="798643"/>
                </a:lnTo>
                <a:lnTo>
                  <a:pt x="4029852" y="0"/>
                </a:lnTo>
                <a:lnTo>
                  <a:pt x="0" y="0"/>
                </a:lnTo>
                <a:lnTo>
                  <a:pt x="0" y="798643"/>
                </a:lnTo>
                <a:close/>
              </a:path>
            </a:pathLst>
          </a:custGeom>
          <a:blipFill>
            <a:blip r:embed="rId4">
              <a:alphaModFix amt="56000"/>
            </a:blip>
            <a:stretch>
              <a:fillRect/>
            </a:stretch>
          </a:blipFill>
        </p:spPr>
      </p:sp>
      <p:sp>
        <p:nvSpPr>
          <p:cNvPr id="5" name="Freeform 5"/>
          <p:cNvSpPr/>
          <p:nvPr/>
        </p:nvSpPr>
        <p:spPr>
          <a:xfrm rot="-10800000" flipV="1">
            <a:off x="543723" y="2135353"/>
            <a:ext cx="3252737" cy="644633"/>
          </a:xfrm>
          <a:custGeom>
            <a:avLst/>
            <a:gdLst/>
            <a:ahLst/>
            <a:cxnLst/>
            <a:rect l="l" t="t" r="r" b="b"/>
            <a:pathLst>
              <a:path w="3252737" h="644633">
                <a:moveTo>
                  <a:pt x="0" y="644633"/>
                </a:moveTo>
                <a:lnTo>
                  <a:pt x="3252737" y="644633"/>
                </a:lnTo>
                <a:lnTo>
                  <a:pt x="3252737" y="0"/>
                </a:lnTo>
                <a:lnTo>
                  <a:pt x="0" y="0"/>
                </a:lnTo>
                <a:lnTo>
                  <a:pt x="0" y="644633"/>
                </a:lnTo>
                <a:close/>
              </a:path>
            </a:pathLst>
          </a:custGeom>
          <a:blipFill>
            <a:blip r:embed="rId4">
              <a:alphaModFix amt="56000"/>
            </a:blip>
            <a:stretch>
              <a:fillRect/>
            </a:stretch>
          </a:blipFill>
        </p:spPr>
      </p:sp>
      <p:sp>
        <p:nvSpPr>
          <p:cNvPr id="6" name="Freeform 6"/>
          <p:cNvSpPr/>
          <p:nvPr/>
        </p:nvSpPr>
        <p:spPr>
          <a:xfrm rot="-10800000" flipV="1">
            <a:off x="11057616" y="5134481"/>
            <a:ext cx="6776142" cy="1342908"/>
          </a:xfrm>
          <a:custGeom>
            <a:avLst/>
            <a:gdLst/>
            <a:ahLst/>
            <a:cxnLst/>
            <a:rect l="l" t="t" r="r" b="b"/>
            <a:pathLst>
              <a:path w="6776142" h="1342908">
                <a:moveTo>
                  <a:pt x="0" y="1342908"/>
                </a:moveTo>
                <a:lnTo>
                  <a:pt x="6776142" y="1342908"/>
                </a:lnTo>
                <a:lnTo>
                  <a:pt x="6776142" y="0"/>
                </a:lnTo>
                <a:lnTo>
                  <a:pt x="0" y="0"/>
                </a:lnTo>
                <a:lnTo>
                  <a:pt x="0" y="1342908"/>
                </a:lnTo>
                <a:close/>
              </a:path>
            </a:pathLst>
          </a:custGeom>
          <a:blipFill>
            <a:blip r:embed="rId4">
              <a:alphaModFix amt="56000"/>
            </a:blip>
            <a:stretch>
              <a:fillRect/>
            </a:stretch>
          </a:blipFill>
        </p:spPr>
      </p:sp>
      <p:grpSp>
        <p:nvGrpSpPr>
          <p:cNvPr id="7" name="Group 7"/>
          <p:cNvGrpSpPr/>
          <p:nvPr/>
        </p:nvGrpSpPr>
        <p:grpSpPr>
          <a:xfrm>
            <a:off x="375301" y="4651702"/>
            <a:ext cx="3129696" cy="2170002"/>
            <a:chOff x="0" y="0"/>
            <a:chExt cx="2073530" cy="1437700"/>
          </a:xfrm>
        </p:grpSpPr>
        <p:sp>
          <p:nvSpPr>
            <p:cNvPr id="8" name="Freeform 8"/>
            <p:cNvSpPr/>
            <p:nvPr/>
          </p:nvSpPr>
          <p:spPr>
            <a:xfrm>
              <a:off x="0" y="0"/>
              <a:ext cx="2073530" cy="1437700"/>
            </a:xfrm>
            <a:custGeom>
              <a:avLst/>
              <a:gdLst/>
              <a:ahLst/>
              <a:cxnLst/>
              <a:rect l="l" t="t" r="r" b="b"/>
              <a:pathLst>
                <a:path w="2073530" h="1437700">
                  <a:moveTo>
                    <a:pt x="126159" y="0"/>
                  </a:moveTo>
                  <a:lnTo>
                    <a:pt x="1947371" y="0"/>
                  </a:lnTo>
                  <a:cubicBezTo>
                    <a:pt x="1980831" y="0"/>
                    <a:pt x="2012920" y="13292"/>
                    <a:pt x="2036579" y="36951"/>
                  </a:cubicBezTo>
                  <a:cubicBezTo>
                    <a:pt x="2060238" y="60610"/>
                    <a:pt x="2073530" y="92699"/>
                    <a:pt x="2073530" y="126159"/>
                  </a:cubicBezTo>
                  <a:lnTo>
                    <a:pt x="2073530" y="1311541"/>
                  </a:lnTo>
                  <a:cubicBezTo>
                    <a:pt x="2073530" y="1381217"/>
                    <a:pt x="2017047" y="1437700"/>
                    <a:pt x="1947371" y="1437700"/>
                  </a:cubicBezTo>
                  <a:lnTo>
                    <a:pt x="126159" y="1437700"/>
                  </a:lnTo>
                  <a:cubicBezTo>
                    <a:pt x="92699" y="1437700"/>
                    <a:pt x="60610" y="1424408"/>
                    <a:pt x="36951" y="1400749"/>
                  </a:cubicBezTo>
                  <a:cubicBezTo>
                    <a:pt x="13292" y="1377090"/>
                    <a:pt x="0" y="1345001"/>
                    <a:pt x="0" y="1311541"/>
                  </a:cubicBezTo>
                  <a:lnTo>
                    <a:pt x="0" y="126159"/>
                  </a:lnTo>
                  <a:cubicBezTo>
                    <a:pt x="0" y="56483"/>
                    <a:pt x="56483" y="0"/>
                    <a:pt x="126159" y="0"/>
                  </a:cubicBezTo>
                  <a:close/>
                </a:path>
              </a:pathLst>
            </a:custGeom>
            <a:gradFill rotWithShape="1">
              <a:gsLst>
                <a:gs pos="0">
                  <a:srgbClr val="FFFFFF">
                    <a:alpha val="100000"/>
                  </a:srgbClr>
                </a:gs>
                <a:gs pos="100000">
                  <a:srgbClr val="DBD8D8">
                    <a:alpha val="100000"/>
                  </a:srgbClr>
                </a:gs>
              </a:gsLst>
              <a:lin ang="5400000"/>
            </a:gradFill>
            <a:ln w="19050" cap="rnd">
              <a:gradFill>
                <a:gsLst>
                  <a:gs pos="0">
                    <a:srgbClr val="C55CD1">
                      <a:alpha val="100000"/>
                    </a:srgbClr>
                  </a:gs>
                  <a:gs pos="100000">
                    <a:srgbClr val="923ACD">
                      <a:alpha val="100000"/>
                    </a:srgbClr>
                  </a:gs>
                </a:gsLst>
                <a:lin ang="2700000"/>
              </a:gradFill>
              <a:prstDash val="solid"/>
              <a:round/>
            </a:ln>
          </p:spPr>
        </p:sp>
        <p:sp>
          <p:nvSpPr>
            <p:cNvPr id="9" name="TextBox 9"/>
            <p:cNvSpPr txBox="1"/>
            <p:nvPr/>
          </p:nvSpPr>
          <p:spPr>
            <a:xfrm>
              <a:off x="0" y="85725"/>
              <a:ext cx="2073530" cy="1351975"/>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10" name="Group 10"/>
          <p:cNvGrpSpPr/>
          <p:nvPr/>
        </p:nvGrpSpPr>
        <p:grpSpPr>
          <a:xfrm rot="-9278497">
            <a:off x="12831161" y="-5292346"/>
            <a:ext cx="9966661" cy="99666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id="12" name="TextBox 12"/>
            <p:cNvSpPr txBox="1"/>
            <p:nvPr/>
          </p:nvSpPr>
          <p:spPr>
            <a:xfrm>
              <a:off x="76200" y="819150"/>
              <a:ext cx="660400" cy="660400"/>
            </a:xfrm>
            <a:prstGeom prst="rect">
              <a:avLst/>
            </a:prstGeom>
          </p:spPr>
          <p:txBody>
            <a:bodyPr lIns="50800" tIns="50800" rIns="50800" bIns="50800" rtlCol="0" anchor="ctr"/>
            <a:lstStyle/>
            <a:p>
              <a:pPr marL="0" lvl="0" indent="0" algn="l">
                <a:lnSpc>
                  <a:spcPts val="19673"/>
                </a:lnSpc>
                <a:spcBef>
                  <a:spcPct val="0"/>
                </a:spcBef>
              </a:pPr>
              <a:endParaRPr/>
            </a:p>
          </p:txBody>
        </p:sp>
      </p:grpSp>
      <p:grpSp>
        <p:nvGrpSpPr>
          <p:cNvPr id="13" name="Group 13"/>
          <p:cNvGrpSpPr/>
          <p:nvPr/>
        </p:nvGrpSpPr>
        <p:grpSpPr>
          <a:xfrm rot="-9278497">
            <a:off x="15038593" y="-2991692"/>
            <a:ext cx="5213104" cy="5213104"/>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id="15" name="TextBox 15"/>
            <p:cNvSpPr txBox="1"/>
            <p:nvPr/>
          </p:nvSpPr>
          <p:spPr>
            <a:xfrm>
              <a:off x="76200" y="161925"/>
              <a:ext cx="660400" cy="57467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16" name="TextBox 16"/>
          <p:cNvSpPr txBox="1"/>
          <p:nvPr/>
        </p:nvSpPr>
        <p:spPr>
          <a:xfrm>
            <a:off x="481075" y="253988"/>
            <a:ext cx="14952956" cy="1358513"/>
          </a:xfrm>
          <a:prstGeom prst="rect">
            <a:avLst/>
          </a:prstGeom>
        </p:spPr>
        <p:txBody>
          <a:bodyPr lIns="0" tIns="0" rIns="0" bIns="0" rtlCol="0" anchor="t">
            <a:spAutoFit/>
          </a:bodyPr>
          <a:lstStyle/>
          <a:p>
            <a:pPr algn="l">
              <a:lnSpc>
                <a:spcPts val="10606"/>
              </a:lnSpc>
            </a:pPr>
            <a:r>
              <a:rPr lang="en-US" sz="9065" b="1" spc="-380">
                <a:solidFill>
                  <a:srgbClr val="FFFFFF"/>
                </a:solidFill>
                <a:latin typeface="Open Sauce Bold"/>
                <a:ea typeface="Open Sauce Bold"/>
                <a:cs typeface="Open Sauce Bold"/>
                <a:sym typeface="Open Sauce Bold"/>
              </a:rPr>
              <a:t>Canny Edge Detection</a:t>
            </a:r>
          </a:p>
        </p:txBody>
      </p:sp>
      <p:sp>
        <p:nvSpPr>
          <p:cNvPr id="17" name="TextBox 17"/>
          <p:cNvSpPr txBox="1"/>
          <p:nvPr/>
        </p:nvSpPr>
        <p:spPr>
          <a:xfrm>
            <a:off x="808983" y="4896612"/>
            <a:ext cx="2356188" cy="334640"/>
          </a:xfrm>
          <a:prstGeom prst="rect">
            <a:avLst/>
          </a:prstGeom>
        </p:spPr>
        <p:txBody>
          <a:bodyPr lIns="0" tIns="0" rIns="0" bIns="0" rtlCol="0" anchor="t">
            <a:spAutoFit/>
          </a:bodyPr>
          <a:lstStyle/>
          <a:p>
            <a:pPr algn="l">
              <a:lnSpc>
                <a:spcPts val="2658"/>
              </a:lnSpc>
            </a:pPr>
            <a:r>
              <a:rPr lang="en-US" sz="2272" b="1" spc="-95">
                <a:solidFill>
                  <a:srgbClr val="0E0637"/>
                </a:solidFill>
                <a:latin typeface="Open Sauce Bold"/>
                <a:ea typeface="Open Sauce Bold"/>
                <a:cs typeface="Open Sauce Bold"/>
                <a:sym typeface="Open Sauce Bold"/>
              </a:rPr>
              <a:t>1.Gaussian Blur</a:t>
            </a:r>
          </a:p>
        </p:txBody>
      </p:sp>
      <p:sp>
        <p:nvSpPr>
          <p:cNvPr id="18" name="AutoShape 18"/>
          <p:cNvSpPr/>
          <p:nvPr/>
        </p:nvSpPr>
        <p:spPr>
          <a:xfrm>
            <a:off x="585573" y="5314857"/>
            <a:ext cx="2709153" cy="0"/>
          </a:xfrm>
          <a:prstGeom prst="line">
            <a:avLst/>
          </a:prstGeom>
          <a:ln w="9525" cap="flat">
            <a:solidFill>
              <a:srgbClr val="0E0637"/>
            </a:solidFill>
            <a:prstDash val="solid"/>
            <a:headEnd type="none" w="sm" len="sm"/>
            <a:tailEnd type="none" w="sm" len="sm"/>
          </a:ln>
        </p:spPr>
      </p:sp>
      <p:sp>
        <p:nvSpPr>
          <p:cNvPr id="19" name="Freeform 19"/>
          <p:cNvSpPr/>
          <p:nvPr/>
        </p:nvSpPr>
        <p:spPr>
          <a:xfrm rot="-5400000" flipV="1">
            <a:off x="3168157" y="3244063"/>
            <a:ext cx="2289462" cy="453730"/>
          </a:xfrm>
          <a:custGeom>
            <a:avLst/>
            <a:gdLst/>
            <a:ahLst/>
            <a:cxnLst/>
            <a:rect l="l" t="t" r="r" b="b"/>
            <a:pathLst>
              <a:path w="2289462" h="453730">
                <a:moveTo>
                  <a:pt x="0" y="453730"/>
                </a:moveTo>
                <a:lnTo>
                  <a:pt x="2289462" y="453730"/>
                </a:lnTo>
                <a:lnTo>
                  <a:pt x="2289462" y="0"/>
                </a:lnTo>
                <a:lnTo>
                  <a:pt x="0" y="0"/>
                </a:lnTo>
                <a:lnTo>
                  <a:pt x="0" y="453730"/>
                </a:lnTo>
                <a:close/>
              </a:path>
            </a:pathLst>
          </a:custGeom>
          <a:blipFill>
            <a:blip r:embed="rId4">
              <a:alphaModFix amt="56000"/>
            </a:blip>
            <a:stretch>
              <a:fillRect/>
            </a:stretch>
          </a:blipFill>
        </p:spPr>
      </p:sp>
      <p:sp>
        <p:nvSpPr>
          <p:cNvPr id="20" name="Freeform 20"/>
          <p:cNvSpPr/>
          <p:nvPr/>
        </p:nvSpPr>
        <p:spPr>
          <a:xfrm rot="-10800000" flipV="1">
            <a:off x="3951719" y="2159488"/>
            <a:ext cx="3252737" cy="644633"/>
          </a:xfrm>
          <a:custGeom>
            <a:avLst/>
            <a:gdLst/>
            <a:ahLst/>
            <a:cxnLst/>
            <a:rect l="l" t="t" r="r" b="b"/>
            <a:pathLst>
              <a:path w="3252737" h="644633">
                <a:moveTo>
                  <a:pt x="0" y="644633"/>
                </a:moveTo>
                <a:lnTo>
                  <a:pt x="3252737" y="644633"/>
                </a:lnTo>
                <a:lnTo>
                  <a:pt x="3252737" y="0"/>
                </a:lnTo>
                <a:lnTo>
                  <a:pt x="0" y="0"/>
                </a:lnTo>
                <a:lnTo>
                  <a:pt x="0" y="644633"/>
                </a:lnTo>
                <a:close/>
              </a:path>
            </a:pathLst>
          </a:custGeom>
          <a:blipFill>
            <a:blip r:embed="rId4">
              <a:alphaModFix amt="56000"/>
            </a:blip>
            <a:stretch>
              <a:fillRect/>
            </a:stretch>
          </a:blipFill>
        </p:spPr>
      </p:sp>
      <p:grpSp>
        <p:nvGrpSpPr>
          <p:cNvPr id="21" name="Group 21"/>
          <p:cNvGrpSpPr/>
          <p:nvPr/>
        </p:nvGrpSpPr>
        <p:grpSpPr>
          <a:xfrm>
            <a:off x="4019348" y="4664664"/>
            <a:ext cx="3129696" cy="2170002"/>
            <a:chOff x="0" y="0"/>
            <a:chExt cx="2073530" cy="1437700"/>
          </a:xfrm>
        </p:grpSpPr>
        <p:sp>
          <p:nvSpPr>
            <p:cNvPr id="22" name="Freeform 22"/>
            <p:cNvSpPr/>
            <p:nvPr/>
          </p:nvSpPr>
          <p:spPr>
            <a:xfrm>
              <a:off x="0" y="0"/>
              <a:ext cx="2073530" cy="1437700"/>
            </a:xfrm>
            <a:custGeom>
              <a:avLst/>
              <a:gdLst/>
              <a:ahLst/>
              <a:cxnLst/>
              <a:rect l="l" t="t" r="r" b="b"/>
              <a:pathLst>
                <a:path w="2073530" h="1437700">
                  <a:moveTo>
                    <a:pt x="126159" y="0"/>
                  </a:moveTo>
                  <a:lnTo>
                    <a:pt x="1947371" y="0"/>
                  </a:lnTo>
                  <a:cubicBezTo>
                    <a:pt x="1980831" y="0"/>
                    <a:pt x="2012920" y="13292"/>
                    <a:pt x="2036579" y="36951"/>
                  </a:cubicBezTo>
                  <a:cubicBezTo>
                    <a:pt x="2060238" y="60610"/>
                    <a:pt x="2073530" y="92699"/>
                    <a:pt x="2073530" y="126159"/>
                  </a:cubicBezTo>
                  <a:lnTo>
                    <a:pt x="2073530" y="1311541"/>
                  </a:lnTo>
                  <a:cubicBezTo>
                    <a:pt x="2073530" y="1381217"/>
                    <a:pt x="2017047" y="1437700"/>
                    <a:pt x="1947371" y="1437700"/>
                  </a:cubicBezTo>
                  <a:lnTo>
                    <a:pt x="126159" y="1437700"/>
                  </a:lnTo>
                  <a:cubicBezTo>
                    <a:pt x="92699" y="1437700"/>
                    <a:pt x="60610" y="1424408"/>
                    <a:pt x="36951" y="1400749"/>
                  </a:cubicBezTo>
                  <a:cubicBezTo>
                    <a:pt x="13292" y="1377090"/>
                    <a:pt x="0" y="1345001"/>
                    <a:pt x="0" y="1311541"/>
                  </a:cubicBezTo>
                  <a:lnTo>
                    <a:pt x="0" y="126159"/>
                  </a:lnTo>
                  <a:cubicBezTo>
                    <a:pt x="0" y="56483"/>
                    <a:pt x="56483" y="0"/>
                    <a:pt x="126159" y="0"/>
                  </a:cubicBezTo>
                  <a:close/>
                </a:path>
              </a:pathLst>
            </a:custGeom>
            <a:gradFill rotWithShape="1">
              <a:gsLst>
                <a:gs pos="0">
                  <a:srgbClr val="FFFFFF">
                    <a:alpha val="100000"/>
                  </a:srgbClr>
                </a:gs>
                <a:gs pos="100000">
                  <a:srgbClr val="DBD8D8">
                    <a:alpha val="100000"/>
                  </a:srgbClr>
                </a:gs>
              </a:gsLst>
              <a:lin ang="5400000"/>
            </a:gradFill>
            <a:ln w="19050" cap="rnd">
              <a:gradFill>
                <a:gsLst>
                  <a:gs pos="0">
                    <a:srgbClr val="C55CD1">
                      <a:alpha val="100000"/>
                    </a:srgbClr>
                  </a:gs>
                  <a:gs pos="100000">
                    <a:srgbClr val="923ACD">
                      <a:alpha val="100000"/>
                    </a:srgbClr>
                  </a:gs>
                </a:gsLst>
                <a:lin ang="2700000"/>
              </a:gradFill>
              <a:prstDash val="solid"/>
              <a:round/>
            </a:ln>
          </p:spPr>
        </p:sp>
        <p:sp>
          <p:nvSpPr>
            <p:cNvPr id="23" name="TextBox 23"/>
            <p:cNvSpPr txBox="1"/>
            <p:nvPr/>
          </p:nvSpPr>
          <p:spPr>
            <a:xfrm>
              <a:off x="0" y="85725"/>
              <a:ext cx="2073530" cy="135197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24" name="AutoShape 24"/>
          <p:cNvSpPr/>
          <p:nvPr/>
        </p:nvSpPr>
        <p:spPr>
          <a:xfrm>
            <a:off x="4229620" y="5348517"/>
            <a:ext cx="2709153" cy="0"/>
          </a:xfrm>
          <a:prstGeom prst="line">
            <a:avLst/>
          </a:prstGeom>
          <a:ln w="9525" cap="flat">
            <a:solidFill>
              <a:srgbClr val="0E0637"/>
            </a:solidFill>
            <a:prstDash val="solid"/>
            <a:headEnd type="none" w="sm" len="sm"/>
            <a:tailEnd type="none" w="sm" len="sm"/>
          </a:ln>
        </p:spPr>
      </p:sp>
      <p:sp>
        <p:nvSpPr>
          <p:cNvPr id="25" name="Freeform 25"/>
          <p:cNvSpPr/>
          <p:nvPr/>
        </p:nvSpPr>
        <p:spPr>
          <a:xfrm rot="-5400000" flipV="1">
            <a:off x="6822214" y="3201146"/>
            <a:ext cx="2289462" cy="453730"/>
          </a:xfrm>
          <a:custGeom>
            <a:avLst/>
            <a:gdLst/>
            <a:ahLst/>
            <a:cxnLst/>
            <a:rect l="l" t="t" r="r" b="b"/>
            <a:pathLst>
              <a:path w="2289462" h="453730">
                <a:moveTo>
                  <a:pt x="0" y="453730"/>
                </a:moveTo>
                <a:lnTo>
                  <a:pt x="2289463" y="453730"/>
                </a:lnTo>
                <a:lnTo>
                  <a:pt x="2289463" y="0"/>
                </a:lnTo>
                <a:lnTo>
                  <a:pt x="0" y="0"/>
                </a:lnTo>
                <a:lnTo>
                  <a:pt x="0" y="453730"/>
                </a:lnTo>
                <a:close/>
              </a:path>
            </a:pathLst>
          </a:custGeom>
          <a:blipFill>
            <a:blip r:embed="rId4">
              <a:alphaModFix amt="56000"/>
            </a:blip>
            <a:stretch>
              <a:fillRect/>
            </a:stretch>
          </a:blipFill>
        </p:spPr>
      </p:sp>
      <p:sp>
        <p:nvSpPr>
          <p:cNvPr id="26" name="Freeform 26"/>
          <p:cNvSpPr/>
          <p:nvPr/>
        </p:nvSpPr>
        <p:spPr>
          <a:xfrm rot="-10800000" flipV="1">
            <a:off x="7419504" y="2156050"/>
            <a:ext cx="3252737" cy="644633"/>
          </a:xfrm>
          <a:custGeom>
            <a:avLst/>
            <a:gdLst/>
            <a:ahLst/>
            <a:cxnLst/>
            <a:rect l="l" t="t" r="r" b="b"/>
            <a:pathLst>
              <a:path w="3252737" h="644633">
                <a:moveTo>
                  <a:pt x="0" y="644634"/>
                </a:moveTo>
                <a:lnTo>
                  <a:pt x="3252737" y="644634"/>
                </a:lnTo>
                <a:lnTo>
                  <a:pt x="3252737" y="0"/>
                </a:lnTo>
                <a:lnTo>
                  <a:pt x="0" y="0"/>
                </a:lnTo>
                <a:lnTo>
                  <a:pt x="0" y="644634"/>
                </a:lnTo>
                <a:close/>
              </a:path>
            </a:pathLst>
          </a:custGeom>
          <a:blipFill>
            <a:blip r:embed="rId4">
              <a:alphaModFix amt="56000"/>
            </a:blip>
            <a:stretch>
              <a:fillRect/>
            </a:stretch>
          </a:blipFill>
        </p:spPr>
      </p:sp>
      <p:grpSp>
        <p:nvGrpSpPr>
          <p:cNvPr id="27" name="Group 27"/>
          <p:cNvGrpSpPr/>
          <p:nvPr/>
        </p:nvGrpSpPr>
        <p:grpSpPr>
          <a:xfrm>
            <a:off x="7740081" y="4661227"/>
            <a:ext cx="3129696" cy="2170002"/>
            <a:chOff x="0" y="0"/>
            <a:chExt cx="2073530" cy="1437700"/>
          </a:xfrm>
        </p:grpSpPr>
        <p:sp>
          <p:nvSpPr>
            <p:cNvPr id="28" name="Freeform 28"/>
            <p:cNvSpPr/>
            <p:nvPr/>
          </p:nvSpPr>
          <p:spPr>
            <a:xfrm>
              <a:off x="0" y="0"/>
              <a:ext cx="2073530" cy="1437700"/>
            </a:xfrm>
            <a:custGeom>
              <a:avLst/>
              <a:gdLst/>
              <a:ahLst/>
              <a:cxnLst/>
              <a:rect l="l" t="t" r="r" b="b"/>
              <a:pathLst>
                <a:path w="2073530" h="1437700">
                  <a:moveTo>
                    <a:pt x="126159" y="0"/>
                  </a:moveTo>
                  <a:lnTo>
                    <a:pt x="1947371" y="0"/>
                  </a:lnTo>
                  <a:cubicBezTo>
                    <a:pt x="1980831" y="0"/>
                    <a:pt x="2012920" y="13292"/>
                    <a:pt x="2036579" y="36951"/>
                  </a:cubicBezTo>
                  <a:cubicBezTo>
                    <a:pt x="2060238" y="60610"/>
                    <a:pt x="2073530" y="92699"/>
                    <a:pt x="2073530" y="126159"/>
                  </a:cubicBezTo>
                  <a:lnTo>
                    <a:pt x="2073530" y="1311541"/>
                  </a:lnTo>
                  <a:cubicBezTo>
                    <a:pt x="2073530" y="1381217"/>
                    <a:pt x="2017047" y="1437700"/>
                    <a:pt x="1947371" y="1437700"/>
                  </a:cubicBezTo>
                  <a:lnTo>
                    <a:pt x="126159" y="1437700"/>
                  </a:lnTo>
                  <a:cubicBezTo>
                    <a:pt x="92699" y="1437700"/>
                    <a:pt x="60610" y="1424408"/>
                    <a:pt x="36951" y="1400749"/>
                  </a:cubicBezTo>
                  <a:cubicBezTo>
                    <a:pt x="13292" y="1377090"/>
                    <a:pt x="0" y="1345001"/>
                    <a:pt x="0" y="1311541"/>
                  </a:cubicBezTo>
                  <a:lnTo>
                    <a:pt x="0" y="126159"/>
                  </a:lnTo>
                  <a:cubicBezTo>
                    <a:pt x="0" y="56483"/>
                    <a:pt x="56483" y="0"/>
                    <a:pt x="126159" y="0"/>
                  </a:cubicBezTo>
                  <a:close/>
                </a:path>
              </a:pathLst>
            </a:custGeom>
            <a:gradFill rotWithShape="1">
              <a:gsLst>
                <a:gs pos="0">
                  <a:srgbClr val="FFFFFF">
                    <a:alpha val="100000"/>
                  </a:srgbClr>
                </a:gs>
                <a:gs pos="100000">
                  <a:srgbClr val="DBD8D8">
                    <a:alpha val="100000"/>
                  </a:srgbClr>
                </a:gs>
              </a:gsLst>
              <a:lin ang="5400000"/>
            </a:gradFill>
            <a:ln w="19050" cap="rnd">
              <a:gradFill>
                <a:gsLst>
                  <a:gs pos="0">
                    <a:srgbClr val="C55CD1">
                      <a:alpha val="100000"/>
                    </a:srgbClr>
                  </a:gs>
                  <a:gs pos="100000">
                    <a:srgbClr val="923ACD">
                      <a:alpha val="100000"/>
                    </a:srgbClr>
                  </a:gs>
                </a:gsLst>
                <a:lin ang="2700000"/>
              </a:gradFill>
              <a:prstDash val="solid"/>
              <a:round/>
            </a:ln>
          </p:spPr>
        </p:sp>
        <p:sp>
          <p:nvSpPr>
            <p:cNvPr id="29" name="TextBox 29"/>
            <p:cNvSpPr txBox="1"/>
            <p:nvPr/>
          </p:nvSpPr>
          <p:spPr>
            <a:xfrm>
              <a:off x="0" y="85725"/>
              <a:ext cx="2073530" cy="135197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30" name="AutoShape 30"/>
          <p:cNvSpPr/>
          <p:nvPr/>
        </p:nvSpPr>
        <p:spPr>
          <a:xfrm>
            <a:off x="7950352" y="5345080"/>
            <a:ext cx="2709153" cy="0"/>
          </a:xfrm>
          <a:prstGeom prst="line">
            <a:avLst/>
          </a:prstGeom>
          <a:ln w="9525" cap="flat">
            <a:solidFill>
              <a:srgbClr val="0E0637"/>
            </a:solidFill>
            <a:prstDash val="solid"/>
            <a:headEnd type="none" w="sm" len="sm"/>
            <a:tailEnd type="none" w="sm" len="sm"/>
          </a:ln>
        </p:spPr>
      </p:sp>
      <p:sp>
        <p:nvSpPr>
          <p:cNvPr id="31" name="Freeform 31"/>
          <p:cNvSpPr/>
          <p:nvPr/>
        </p:nvSpPr>
        <p:spPr>
          <a:xfrm rot="-5400000" flipV="1">
            <a:off x="9973450" y="3165104"/>
            <a:ext cx="2289462" cy="453730"/>
          </a:xfrm>
          <a:custGeom>
            <a:avLst/>
            <a:gdLst/>
            <a:ahLst/>
            <a:cxnLst/>
            <a:rect l="l" t="t" r="r" b="b"/>
            <a:pathLst>
              <a:path w="2289462" h="453730">
                <a:moveTo>
                  <a:pt x="0" y="453730"/>
                </a:moveTo>
                <a:lnTo>
                  <a:pt x="2289462" y="453730"/>
                </a:lnTo>
                <a:lnTo>
                  <a:pt x="2289462" y="0"/>
                </a:lnTo>
                <a:lnTo>
                  <a:pt x="0" y="0"/>
                </a:lnTo>
                <a:lnTo>
                  <a:pt x="0" y="453730"/>
                </a:lnTo>
                <a:close/>
              </a:path>
            </a:pathLst>
          </a:custGeom>
          <a:blipFill>
            <a:blip r:embed="rId4">
              <a:alphaModFix amt="56000"/>
            </a:blip>
            <a:stretch>
              <a:fillRect/>
            </a:stretch>
          </a:blipFill>
        </p:spPr>
      </p:sp>
      <p:sp>
        <p:nvSpPr>
          <p:cNvPr id="32" name="Freeform 32"/>
          <p:cNvSpPr/>
          <p:nvPr/>
        </p:nvSpPr>
        <p:spPr>
          <a:xfrm rot="-10800000" flipV="1">
            <a:off x="10953964" y="2120008"/>
            <a:ext cx="3252737" cy="644633"/>
          </a:xfrm>
          <a:custGeom>
            <a:avLst/>
            <a:gdLst/>
            <a:ahLst/>
            <a:cxnLst/>
            <a:rect l="l" t="t" r="r" b="b"/>
            <a:pathLst>
              <a:path w="3252737" h="644633">
                <a:moveTo>
                  <a:pt x="0" y="644634"/>
                </a:moveTo>
                <a:lnTo>
                  <a:pt x="3252737" y="644634"/>
                </a:lnTo>
                <a:lnTo>
                  <a:pt x="3252737" y="0"/>
                </a:lnTo>
                <a:lnTo>
                  <a:pt x="0" y="0"/>
                </a:lnTo>
                <a:lnTo>
                  <a:pt x="0" y="644634"/>
                </a:lnTo>
                <a:close/>
              </a:path>
            </a:pathLst>
          </a:custGeom>
          <a:blipFill>
            <a:blip r:embed="rId4">
              <a:alphaModFix amt="56000"/>
            </a:blip>
            <a:stretch>
              <a:fillRect/>
            </a:stretch>
          </a:blipFill>
        </p:spPr>
      </p:sp>
      <p:grpSp>
        <p:nvGrpSpPr>
          <p:cNvPr id="33" name="Group 33"/>
          <p:cNvGrpSpPr/>
          <p:nvPr/>
        </p:nvGrpSpPr>
        <p:grpSpPr>
          <a:xfrm>
            <a:off x="11358041" y="4651702"/>
            <a:ext cx="3129696" cy="2170002"/>
            <a:chOff x="0" y="0"/>
            <a:chExt cx="2073530" cy="1437700"/>
          </a:xfrm>
        </p:grpSpPr>
        <p:sp>
          <p:nvSpPr>
            <p:cNvPr id="34" name="Freeform 34"/>
            <p:cNvSpPr/>
            <p:nvPr/>
          </p:nvSpPr>
          <p:spPr>
            <a:xfrm>
              <a:off x="0" y="0"/>
              <a:ext cx="2073530" cy="1437700"/>
            </a:xfrm>
            <a:custGeom>
              <a:avLst/>
              <a:gdLst/>
              <a:ahLst/>
              <a:cxnLst/>
              <a:rect l="l" t="t" r="r" b="b"/>
              <a:pathLst>
                <a:path w="2073530" h="1437700">
                  <a:moveTo>
                    <a:pt x="126159" y="0"/>
                  </a:moveTo>
                  <a:lnTo>
                    <a:pt x="1947371" y="0"/>
                  </a:lnTo>
                  <a:cubicBezTo>
                    <a:pt x="1980831" y="0"/>
                    <a:pt x="2012920" y="13292"/>
                    <a:pt x="2036579" y="36951"/>
                  </a:cubicBezTo>
                  <a:cubicBezTo>
                    <a:pt x="2060238" y="60610"/>
                    <a:pt x="2073530" y="92699"/>
                    <a:pt x="2073530" y="126159"/>
                  </a:cubicBezTo>
                  <a:lnTo>
                    <a:pt x="2073530" y="1311541"/>
                  </a:lnTo>
                  <a:cubicBezTo>
                    <a:pt x="2073530" y="1381217"/>
                    <a:pt x="2017047" y="1437700"/>
                    <a:pt x="1947371" y="1437700"/>
                  </a:cubicBezTo>
                  <a:lnTo>
                    <a:pt x="126159" y="1437700"/>
                  </a:lnTo>
                  <a:cubicBezTo>
                    <a:pt x="92699" y="1437700"/>
                    <a:pt x="60610" y="1424408"/>
                    <a:pt x="36951" y="1400749"/>
                  </a:cubicBezTo>
                  <a:cubicBezTo>
                    <a:pt x="13292" y="1377090"/>
                    <a:pt x="0" y="1345001"/>
                    <a:pt x="0" y="1311541"/>
                  </a:cubicBezTo>
                  <a:lnTo>
                    <a:pt x="0" y="126159"/>
                  </a:lnTo>
                  <a:cubicBezTo>
                    <a:pt x="0" y="56483"/>
                    <a:pt x="56483" y="0"/>
                    <a:pt x="126159" y="0"/>
                  </a:cubicBezTo>
                  <a:close/>
                </a:path>
              </a:pathLst>
            </a:custGeom>
            <a:gradFill rotWithShape="1">
              <a:gsLst>
                <a:gs pos="0">
                  <a:srgbClr val="FFFFFF">
                    <a:alpha val="100000"/>
                  </a:srgbClr>
                </a:gs>
                <a:gs pos="100000">
                  <a:srgbClr val="DBD8D8">
                    <a:alpha val="100000"/>
                  </a:srgbClr>
                </a:gs>
              </a:gsLst>
              <a:lin ang="5400000"/>
            </a:gradFill>
            <a:ln w="19050" cap="rnd">
              <a:gradFill>
                <a:gsLst>
                  <a:gs pos="0">
                    <a:srgbClr val="C55CD1">
                      <a:alpha val="100000"/>
                    </a:srgbClr>
                  </a:gs>
                  <a:gs pos="100000">
                    <a:srgbClr val="923ACD">
                      <a:alpha val="100000"/>
                    </a:srgbClr>
                  </a:gs>
                </a:gsLst>
                <a:lin ang="2700000"/>
              </a:gradFill>
              <a:prstDash val="solid"/>
              <a:round/>
            </a:ln>
          </p:spPr>
        </p:sp>
        <p:sp>
          <p:nvSpPr>
            <p:cNvPr id="35" name="TextBox 35"/>
            <p:cNvSpPr txBox="1"/>
            <p:nvPr/>
          </p:nvSpPr>
          <p:spPr>
            <a:xfrm>
              <a:off x="0" y="85725"/>
              <a:ext cx="2073530" cy="135197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36" name="AutoShape 36"/>
          <p:cNvSpPr/>
          <p:nvPr/>
        </p:nvSpPr>
        <p:spPr>
          <a:xfrm>
            <a:off x="11568312" y="5335555"/>
            <a:ext cx="2709153" cy="0"/>
          </a:xfrm>
          <a:prstGeom prst="line">
            <a:avLst/>
          </a:prstGeom>
          <a:ln w="9525" cap="flat">
            <a:solidFill>
              <a:srgbClr val="0E0637"/>
            </a:solidFill>
            <a:prstDash val="solid"/>
            <a:headEnd type="none" w="sm" len="sm"/>
            <a:tailEnd type="none" w="sm" len="sm"/>
          </a:ln>
        </p:spPr>
      </p:sp>
      <p:sp>
        <p:nvSpPr>
          <p:cNvPr id="37" name="Freeform 37"/>
          <p:cNvSpPr/>
          <p:nvPr/>
        </p:nvSpPr>
        <p:spPr>
          <a:xfrm rot="-5400000" flipV="1">
            <a:off x="13468399" y="3285581"/>
            <a:ext cx="2289462" cy="453730"/>
          </a:xfrm>
          <a:custGeom>
            <a:avLst/>
            <a:gdLst/>
            <a:ahLst/>
            <a:cxnLst/>
            <a:rect l="l" t="t" r="r" b="b"/>
            <a:pathLst>
              <a:path w="2289462" h="453730">
                <a:moveTo>
                  <a:pt x="0" y="453730"/>
                </a:moveTo>
                <a:lnTo>
                  <a:pt x="2289462" y="453730"/>
                </a:lnTo>
                <a:lnTo>
                  <a:pt x="2289462" y="0"/>
                </a:lnTo>
                <a:lnTo>
                  <a:pt x="0" y="0"/>
                </a:lnTo>
                <a:lnTo>
                  <a:pt x="0" y="453730"/>
                </a:lnTo>
                <a:close/>
              </a:path>
            </a:pathLst>
          </a:custGeom>
          <a:blipFill>
            <a:blip r:embed="rId4">
              <a:alphaModFix amt="56000"/>
            </a:blip>
            <a:stretch>
              <a:fillRect/>
            </a:stretch>
          </a:blipFill>
        </p:spPr>
      </p:sp>
      <p:sp>
        <p:nvSpPr>
          <p:cNvPr id="38" name="Freeform 38"/>
          <p:cNvSpPr/>
          <p:nvPr/>
        </p:nvSpPr>
        <p:spPr>
          <a:xfrm rot="-10800000" flipV="1">
            <a:off x="14488425" y="2135353"/>
            <a:ext cx="3252737" cy="644633"/>
          </a:xfrm>
          <a:custGeom>
            <a:avLst/>
            <a:gdLst/>
            <a:ahLst/>
            <a:cxnLst/>
            <a:rect l="l" t="t" r="r" b="b"/>
            <a:pathLst>
              <a:path w="3252737" h="644633">
                <a:moveTo>
                  <a:pt x="0" y="644633"/>
                </a:moveTo>
                <a:lnTo>
                  <a:pt x="3252737" y="644633"/>
                </a:lnTo>
                <a:lnTo>
                  <a:pt x="3252737" y="0"/>
                </a:lnTo>
                <a:lnTo>
                  <a:pt x="0" y="0"/>
                </a:lnTo>
                <a:lnTo>
                  <a:pt x="0" y="644633"/>
                </a:lnTo>
                <a:close/>
              </a:path>
            </a:pathLst>
          </a:custGeom>
          <a:blipFill>
            <a:blip r:embed="rId4">
              <a:alphaModFix amt="56000"/>
            </a:blip>
            <a:stretch>
              <a:fillRect/>
            </a:stretch>
          </a:blipFill>
        </p:spPr>
      </p:sp>
      <p:grpSp>
        <p:nvGrpSpPr>
          <p:cNvPr id="39" name="Group 39"/>
          <p:cNvGrpSpPr/>
          <p:nvPr/>
        </p:nvGrpSpPr>
        <p:grpSpPr>
          <a:xfrm>
            <a:off x="14892501" y="4661227"/>
            <a:ext cx="3129696" cy="2170002"/>
            <a:chOff x="0" y="0"/>
            <a:chExt cx="2073530" cy="1437700"/>
          </a:xfrm>
        </p:grpSpPr>
        <p:sp>
          <p:nvSpPr>
            <p:cNvPr id="40" name="Freeform 40"/>
            <p:cNvSpPr/>
            <p:nvPr/>
          </p:nvSpPr>
          <p:spPr>
            <a:xfrm>
              <a:off x="0" y="0"/>
              <a:ext cx="2073530" cy="1437700"/>
            </a:xfrm>
            <a:custGeom>
              <a:avLst/>
              <a:gdLst/>
              <a:ahLst/>
              <a:cxnLst/>
              <a:rect l="l" t="t" r="r" b="b"/>
              <a:pathLst>
                <a:path w="2073530" h="1437700">
                  <a:moveTo>
                    <a:pt x="126159" y="0"/>
                  </a:moveTo>
                  <a:lnTo>
                    <a:pt x="1947371" y="0"/>
                  </a:lnTo>
                  <a:cubicBezTo>
                    <a:pt x="1980831" y="0"/>
                    <a:pt x="2012920" y="13292"/>
                    <a:pt x="2036579" y="36951"/>
                  </a:cubicBezTo>
                  <a:cubicBezTo>
                    <a:pt x="2060238" y="60610"/>
                    <a:pt x="2073530" y="92699"/>
                    <a:pt x="2073530" y="126159"/>
                  </a:cubicBezTo>
                  <a:lnTo>
                    <a:pt x="2073530" y="1311541"/>
                  </a:lnTo>
                  <a:cubicBezTo>
                    <a:pt x="2073530" y="1381217"/>
                    <a:pt x="2017047" y="1437700"/>
                    <a:pt x="1947371" y="1437700"/>
                  </a:cubicBezTo>
                  <a:lnTo>
                    <a:pt x="126159" y="1437700"/>
                  </a:lnTo>
                  <a:cubicBezTo>
                    <a:pt x="92699" y="1437700"/>
                    <a:pt x="60610" y="1424408"/>
                    <a:pt x="36951" y="1400749"/>
                  </a:cubicBezTo>
                  <a:cubicBezTo>
                    <a:pt x="13292" y="1377090"/>
                    <a:pt x="0" y="1345001"/>
                    <a:pt x="0" y="1311541"/>
                  </a:cubicBezTo>
                  <a:lnTo>
                    <a:pt x="0" y="126159"/>
                  </a:lnTo>
                  <a:cubicBezTo>
                    <a:pt x="0" y="56483"/>
                    <a:pt x="56483" y="0"/>
                    <a:pt x="126159" y="0"/>
                  </a:cubicBezTo>
                  <a:close/>
                </a:path>
              </a:pathLst>
            </a:custGeom>
            <a:gradFill rotWithShape="1">
              <a:gsLst>
                <a:gs pos="0">
                  <a:srgbClr val="FFFFFF">
                    <a:alpha val="100000"/>
                  </a:srgbClr>
                </a:gs>
                <a:gs pos="100000">
                  <a:srgbClr val="DBD8D8">
                    <a:alpha val="100000"/>
                  </a:srgbClr>
                </a:gs>
              </a:gsLst>
              <a:lin ang="5400000"/>
            </a:gradFill>
            <a:ln w="19050" cap="rnd">
              <a:gradFill>
                <a:gsLst>
                  <a:gs pos="0">
                    <a:srgbClr val="C55CD1">
                      <a:alpha val="100000"/>
                    </a:srgbClr>
                  </a:gs>
                  <a:gs pos="100000">
                    <a:srgbClr val="923ACD">
                      <a:alpha val="100000"/>
                    </a:srgbClr>
                  </a:gs>
                </a:gsLst>
                <a:lin ang="2700000"/>
              </a:gradFill>
              <a:prstDash val="solid"/>
              <a:round/>
            </a:ln>
          </p:spPr>
        </p:sp>
        <p:sp>
          <p:nvSpPr>
            <p:cNvPr id="41" name="TextBox 41"/>
            <p:cNvSpPr txBox="1"/>
            <p:nvPr/>
          </p:nvSpPr>
          <p:spPr>
            <a:xfrm>
              <a:off x="0" y="85725"/>
              <a:ext cx="2073530" cy="135197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42" name="AutoShape 42"/>
          <p:cNvSpPr/>
          <p:nvPr/>
        </p:nvSpPr>
        <p:spPr>
          <a:xfrm>
            <a:off x="15102773" y="5345080"/>
            <a:ext cx="2709153" cy="0"/>
          </a:xfrm>
          <a:prstGeom prst="line">
            <a:avLst/>
          </a:prstGeom>
          <a:ln w="9525" cap="flat">
            <a:solidFill>
              <a:srgbClr val="0E0637"/>
            </a:solidFill>
            <a:prstDash val="solid"/>
            <a:headEnd type="none" w="sm" len="sm"/>
            <a:tailEnd type="none" w="sm" len="sm"/>
          </a:ln>
        </p:spPr>
      </p:sp>
      <p:sp>
        <p:nvSpPr>
          <p:cNvPr id="43" name="Freeform 43"/>
          <p:cNvSpPr/>
          <p:nvPr/>
        </p:nvSpPr>
        <p:spPr>
          <a:xfrm>
            <a:off x="250700" y="7358541"/>
            <a:ext cx="3378898" cy="2251191"/>
          </a:xfrm>
          <a:custGeom>
            <a:avLst/>
            <a:gdLst/>
            <a:ahLst/>
            <a:cxnLst/>
            <a:rect l="l" t="t" r="r" b="b"/>
            <a:pathLst>
              <a:path w="3378898" h="2251191">
                <a:moveTo>
                  <a:pt x="0" y="0"/>
                </a:moveTo>
                <a:lnTo>
                  <a:pt x="3378898" y="0"/>
                </a:lnTo>
                <a:lnTo>
                  <a:pt x="3378898" y="2251191"/>
                </a:lnTo>
                <a:lnTo>
                  <a:pt x="0" y="2251191"/>
                </a:lnTo>
                <a:lnTo>
                  <a:pt x="0" y="0"/>
                </a:lnTo>
                <a:close/>
              </a:path>
            </a:pathLst>
          </a:custGeom>
          <a:blipFill>
            <a:blip r:embed="rId5"/>
            <a:stretch>
              <a:fillRect/>
            </a:stretch>
          </a:blipFill>
          <a:ln cap="sq">
            <a:noFill/>
            <a:prstDash val="solid"/>
            <a:miter/>
          </a:ln>
        </p:spPr>
      </p:sp>
      <p:sp>
        <p:nvSpPr>
          <p:cNvPr id="44" name="Freeform 44"/>
          <p:cNvSpPr/>
          <p:nvPr/>
        </p:nvSpPr>
        <p:spPr>
          <a:xfrm>
            <a:off x="3894747" y="7358541"/>
            <a:ext cx="3378898" cy="2251191"/>
          </a:xfrm>
          <a:custGeom>
            <a:avLst/>
            <a:gdLst/>
            <a:ahLst/>
            <a:cxnLst/>
            <a:rect l="l" t="t" r="r" b="b"/>
            <a:pathLst>
              <a:path w="3378898" h="2251191">
                <a:moveTo>
                  <a:pt x="0" y="0"/>
                </a:moveTo>
                <a:lnTo>
                  <a:pt x="3378898" y="0"/>
                </a:lnTo>
                <a:lnTo>
                  <a:pt x="3378898" y="2251191"/>
                </a:lnTo>
                <a:lnTo>
                  <a:pt x="0" y="2251191"/>
                </a:lnTo>
                <a:lnTo>
                  <a:pt x="0" y="0"/>
                </a:lnTo>
                <a:close/>
              </a:path>
            </a:pathLst>
          </a:custGeom>
          <a:blipFill>
            <a:blip r:embed="rId6"/>
            <a:stretch>
              <a:fillRect/>
            </a:stretch>
          </a:blipFill>
        </p:spPr>
      </p:sp>
      <p:sp>
        <p:nvSpPr>
          <p:cNvPr id="45" name="Freeform 45"/>
          <p:cNvSpPr/>
          <p:nvPr/>
        </p:nvSpPr>
        <p:spPr>
          <a:xfrm>
            <a:off x="7615479" y="7358541"/>
            <a:ext cx="3378898" cy="2251191"/>
          </a:xfrm>
          <a:custGeom>
            <a:avLst/>
            <a:gdLst/>
            <a:ahLst/>
            <a:cxnLst/>
            <a:rect l="l" t="t" r="r" b="b"/>
            <a:pathLst>
              <a:path w="3378898" h="2251191">
                <a:moveTo>
                  <a:pt x="0" y="0"/>
                </a:moveTo>
                <a:lnTo>
                  <a:pt x="3378898" y="0"/>
                </a:lnTo>
                <a:lnTo>
                  <a:pt x="3378898" y="2251191"/>
                </a:lnTo>
                <a:lnTo>
                  <a:pt x="0" y="2251191"/>
                </a:lnTo>
                <a:lnTo>
                  <a:pt x="0" y="0"/>
                </a:lnTo>
                <a:close/>
              </a:path>
            </a:pathLst>
          </a:custGeom>
          <a:blipFill>
            <a:blip r:embed="rId7"/>
            <a:stretch>
              <a:fillRect/>
            </a:stretch>
          </a:blipFill>
        </p:spPr>
      </p:sp>
      <p:sp>
        <p:nvSpPr>
          <p:cNvPr id="46" name="Freeform 46"/>
          <p:cNvSpPr/>
          <p:nvPr/>
        </p:nvSpPr>
        <p:spPr>
          <a:xfrm>
            <a:off x="12984300" y="7358541"/>
            <a:ext cx="3394871" cy="2261833"/>
          </a:xfrm>
          <a:custGeom>
            <a:avLst/>
            <a:gdLst/>
            <a:ahLst/>
            <a:cxnLst/>
            <a:rect l="l" t="t" r="r" b="b"/>
            <a:pathLst>
              <a:path w="3394871" h="2261833">
                <a:moveTo>
                  <a:pt x="0" y="0"/>
                </a:moveTo>
                <a:lnTo>
                  <a:pt x="3394871" y="0"/>
                </a:lnTo>
                <a:lnTo>
                  <a:pt x="3394871" y="2261833"/>
                </a:lnTo>
                <a:lnTo>
                  <a:pt x="0" y="2261833"/>
                </a:lnTo>
                <a:lnTo>
                  <a:pt x="0" y="0"/>
                </a:lnTo>
                <a:close/>
              </a:path>
            </a:pathLst>
          </a:custGeom>
          <a:blipFill>
            <a:blip r:embed="rId8"/>
            <a:stretch>
              <a:fillRect/>
            </a:stretch>
          </a:blipFill>
        </p:spPr>
      </p:sp>
      <p:sp>
        <p:nvSpPr>
          <p:cNvPr id="47" name="Freeform 47"/>
          <p:cNvSpPr/>
          <p:nvPr/>
        </p:nvSpPr>
        <p:spPr>
          <a:xfrm>
            <a:off x="7625004" y="1748038"/>
            <a:ext cx="3378898" cy="2251191"/>
          </a:xfrm>
          <a:custGeom>
            <a:avLst/>
            <a:gdLst/>
            <a:ahLst/>
            <a:cxnLst/>
            <a:rect l="l" t="t" r="r" b="b"/>
            <a:pathLst>
              <a:path w="3378898" h="2251191">
                <a:moveTo>
                  <a:pt x="0" y="0"/>
                </a:moveTo>
                <a:lnTo>
                  <a:pt x="3378898" y="0"/>
                </a:lnTo>
                <a:lnTo>
                  <a:pt x="3378898" y="2251191"/>
                </a:lnTo>
                <a:lnTo>
                  <a:pt x="0" y="2251191"/>
                </a:lnTo>
                <a:lnTo>
                  <a:pt x="0" y="0"/>
                </a:lnTo>
                <a:close/>
              </a:path>
            </a:pathLst>
          </a:custGeom>
          <a:blipFill>
            <a:blip r:embed="rId9"/>
            <a:stretch>
              <a:fillRect/>
            </a:stretch>
          </a:blipFill>
        </p:spPr>
      </p:sp>
      <p:sp>
        <p:nvSpPr>
          <p:cNvPr id="48" name="TextBox 48"/>
          <p:cNvSpPr txBox="1"/>
          <p:nvPr/>
        </p:nvSpPr>
        <p:spPr>
          <a:xfrm>
            <a:off x="633925" y="5554828"/>
            <a:ext cx="2612448" cy="1153232"/>
          </a:xfrm>
          <a:prstGeom prst="rect">
            <a:avLst/>
          </a:prstGeom>
        </p:spPr>
        <p:txBody>
          <a:bodyPr lIns="0" tIns="0" rIns="0" bIns="0" rtlCol="0" anchor="t">
            <a:spAutoFit/>
          </a:bodyPr>
          <a:lstStyle/>
          <a:p>
            <a:pPr algn="l">
              <a:lnSpc>
                <a:spcPts val="3140"/>
              </a:lnSpc>
            </a:pPr>
            <a:r>
              <a:rPr lang="en-US" sz="2308" spc="-53">
                <a:solidFill>
                  <a:srgbClr val="0E0637"/>
                </a:solidFill>
                <a:latin typeface="Open Sauce Light"/>
                <a:ea typeface="Open Sauce Light"/>
                <a:cs typeface="Open Sauce Light"/>
                <a:sym typeface="Open Sauce Light"/>
              </a:rPr>
              <a:t>Noise reduction</a:t>
            </a:r>
          </a:p>
          <a:p>
            <a:pPr algn="l">
              <a:lnSpc>
                <a:spcPts val="3140"/>
              </a:lnSpc>
            </a:pPr>
            <a:r>
              <a:rPr lang="en-US" sz="2308" spc="-53">
                <a:solidFill>
                  <a:srgbClr val="0E0637"/>
                </a:solidFill>
                <a:latin typeface="Open Sauce Light"/>
                <a:ea typeface="Open Sauce Light"/>
                <a:cs typeface="Open Sauce Light"/>
                <a:sym typeface="Open Sauce Light"/>
              </a:rPr>
              <a:t>σ = 1.4, k = 5</a:t>
            </a:r>
          </a:p>
          <a:p>
            <a:pPr algn="l">
              <a:lnSpc>
                <a:spcPts val="3140"/>
              </a:lnSpc>
            </a:pPr>
            <a:endParaRPr lang="en-US" sz="2308" spc="-53">
              <a:solidFill>
                <a:srgbClr val="0E0637"/>
              </a:solidFill>
              <a:latin typeface="Open Sauce Light"/>
              <a:ea typeface="Open Sauce Light"/>
              <a:cs typeface="Open Sauce Light"/>
              <a:sym typeface="Open Sauce Light"/>
            </a:endParaRPr>
          </a:p>
        </p:txBody>
      </p:sp>
      <p:sp>
        <p:nvSpPr>
          <p:cNvPr id="49" name="TextBox 49"/>
          <p:cNvSpPr txBox="1"/>
          <p:nvPr/>
        </p:nvSpPr>
        <p:spPr>
          <a:xfrm>
            <a:off x="4453029" y="4900050"/>
            <a:ext cx="2485743" cy="334640"/>
          </a:xfrm>
          <a:prstGeom prst="rect">
            <a:avLst/>
          </a:prstGeom>
        </p:spPr>
        <p:txBody>
          <a:bodyPr lIns="0" tIns="0" rIns="0" bIns="0" rtlCol="0" anchor="t">
            <a:spAutoFit/>
          </a:bodyPr>
          <a:lstStyle/>
          <a:p>
            <a:pPr algn="l">
              <a:lnSpc>
                <a:spcPts val="2658"/>
              </a:lnSpc>
            </a:pPr>
            <a:r>
              <a:rPr lang="en-US" sz="2272" b="1" spc="-95">
                <a:solidFill>
                  <a:srgbClr val="0E0637"/>
                </a:solidFill>
                <a:latin typeface="Open Sauce Bold"/>
                <a:ea typeface="Open Sauce Bold"/>
                <a:cs typeface="Open Sauce Bold"/>
                <a:sym typeface="Open Sauce Bold"/>
              </a:rPr>
              <a:t>2.Sobel Gradient</a:t>
            </a:r>
          </a:p>
        </p:txBody>
      </p:sp>
      <p:sp>
        <p:nvSpPr>
          <p:cNvPr id="50" name="TextBox 50"/>
          <p:cNvSpPr txBox="1"/>
          <p:nvPr/>
        </p:nvSpPr>
        <p:spPr>
          <a:xfrm>
            <a:off x="4277972" y="5558265"/>
            <a:ext cx="2612448" cy="1153232"/>
          </a:xfrm>
          <a:prstGeom prst="rect">
            <a:avLst/>
          </a:prstGeom>
        </p:spPr>
        <p:txBody>
          <a:bodyPr lIns="0" tIns="0" rIns="0" bIns="0" rtlCol="0" anchor="t">
            <a:spAutoFit/>
          </a:bodyPr>
          <a:lstStyle/>
          <a:p>
            <a:pPr algn="l">
              <a:lnSpc>
                <a:spcPts val="3140"/>
              </a:lnSpc>
            </a:pPr>
            <a:r>
              <a:rPr lang="en-US" sz="2308" spc="-53">
                <a:solidFill>
                  <a:srgbClr val="0E0637"/>
                </a:solidFill>
                <a:latin typeface="Open Sauce Light"/>
                <a:ea typeface="Open Sauce Light"/>
                <a:cs typeface="Open Sauce Light"/>
                <a:sym typeface="Open Sauce Light"/>
              </a:rPr>
              <a:t>Magnitude &amp;</a:t>
            </a:r>
          </a:p>
          <a:p>
            <a:pPr algn="l">
              <a:lnSpc>
                <a:spcPts val="3140"/>
              </a:lnSpc>
            </a:pPr>
            <a:r>
              <a:rPr lang="en-US" sz="2308" spc="-53">
                <a:solidFill>
                  <a:srgbClr val="0E0637"/>
                </a:solidFill>
                <a:latin typeface="Open Sauce Light"/>
                <a:ea typeface="Open Sauce Light"/>
                <a:cs typeface="Open Sauce Light"/>
                <a:sym typeface="Open Sauce Light"/>
              </a:rPr>
              <a:t>angle per pixel</a:t>
            </a:r>
          </a:p>
          <a:p>
            <a:pPr algn="l">
              <a:lnSpc>
                <a:spcPts val="3140"/>
              </a:lnSpc>
            </a:pPr>
            <a:endParaRPr lang="en-US" sz="2308" spc="-53">
              <a:solidFill>
                <a:srgbClr val="0E0637"/>
              </a:solidFill>
              <a:latin typeface="Open Sauce Light"/>
              <a:ea typeface="Open Sauce Light"/>
              <a:cs typeface="Open Sauce Light"/>
              <a:sym typeface="Open Sauce Light"/>
            </a:endParaRPr>
          </a:p>
        </p:txBody>
      </p:sp>
      <p:sp>
        <p:nvSpPr>
          <p:cNvPr id="51" name="TextBox 51"/>
          <p:cNvSpPr txBox="1"/>
          <p:nvPr/>
        </p:nvSpPr>
        <p:spPr>
          <a:xfrm>
            <a:off x="7927847" y="4941425"/>
            <a:ext cx="3327644" cy="293265"/>
          </a:xfrm>
          <a:prstGeom prst="rect">
            <a:avLst/>
          </a:prstGeom>
        </p:spPr>
        <p:txBody>
          <a:bodyPr lIns="0" tIns="0" rIns="0" bIns="0" rtlCol="0" anchor="t">
            <a:spAutoFit/>
          </a:bodyPr>
          <a:lstStyle/>
          <a:p>
            <a:pPr algn="l">
              <a:lnSpc>
                <a:spcPts val="2307"/>
              </a:lnSpc>
            </a:pPr>
            <a:r>
              <a:rPr lang="en-US" sz="1972" b="1" spc="-82">
                <a:solidFill>
                  <a:srgbClr val="0E0637"/>
                </a:solidFill>
                <a:latin typeface="Open Sauce Bold"/>
                <a:ea typeface="Open Sauce Bold"/>
                <a:cs typeface="Open Sauce Bold"/>
                <a:sym typeface="Open Sauce Bold"/>
              </a:rPr>
              <a:t>3.Non-Max Suppression</a:t>
            </a:r>
          </a:p>
        </p:txBody>
      </p:sp>
      <p:sp>
        <p:nvSpPr>
          <p:cNvPr id="52" name="TextBox 52"/>
          <p:cNvSpPr txBox="1"/>
          <p:nvPr/>
        </p:nvSpPr>
        <p:spPr>
          <a:xfrm>
            <a:off x="7998704" y="5554828"/>
            <a:ext cx="2612448" cy="1153232"/>
          </a:xfrm>
          <a:prstGeom prst="rect">
            <a:avLst/>
          </a:prstGeom>
        </p:spPr>
        <p:txBody>
          <a:bodyPr lIns="0" tIns="0" rIns="0" bIns="0" rtlCol="0" anchor="t">
            <a:spAutoFit/>
          </a:bodyPr>
          <a:lstStyle/>
          <a:p>
            <a:pPr algn="l">
              <a:lnSpc>
                <a:spcPts val="3140"/>
              </a:lnSpc>
            </a:pPr>
            <a:r>
              <a:rPr lang="en-US" sz="2308" spc="-53">
                <a:solidFill>
                  <a:srgbClr val="0E0637"/>
                </a:solidFill>
                <a:latin typeface="Open Sauce Light"/>
                <a:ea typeface="Open Sauce Light"/>
                <a:cs typeface="Open Sauce Light"/>
                <a:sym typeface="Open Sauce Light"/>
              </a:rPr>
              <a:t>Thin edges to</a:t>
            </a:r>
          </a:p>
          <a:p>
            <a:pPr algn="l">
              <a:lnSpc>
                <a:spcPts val="3140"/>
              </a:lnSpc>
            </a:pPr>
            <a:r>
              <a:rPr lang="en-US" sz="2308" spc="-53">
                <a:solidFill>
                  <a:srgbClr val="0E0637"/>
                </a:solidFill>
                <a:latin typeface="Open Sauce Light"/>
                <a:ea typeface="Open Sauce Light"/>
                <a:cs typeface="Open Sauce Light"/>
                <a:sym typeface="Open Sauce Light"/>
              </a:rPr>
              <a:t>1-pixel width</a:t>
            </a:r>
          </a:p>
          <a:p>
            <a:pPr algn="l">
              <a:lnSpc>
                <a:spcPts val="3140"/>
              </a:lnSpc>
            </a:pPr>
            <a:endParaRPr lang="en-US" sz="2308" spc="-53">
              <a:solidFill>
                <a:srgbClr val="0E0637"/>
              </a:solidFill>
              <a:latin typeface="Open Sauce Light"/>
              <a:ea typeface="Open Sauce Light"/>
              <a:cs typeface="Open Sauce Light"/>
              <a:sym typeface="Open Sauce Light"/>
            </a:endParaRPr>
          </a:p>
        </p:txBody>
      </p:sp>
      <p:sp>
        <p:nvSpPr>
          <p:cNvPr id="53" name="TextBox 53"/>
          <p:cNvSpPr txBox="1"/>
          <p:nvPr/>
        </p:nvSpPr>
        <p:spPr>
          <a:xfrm>
            <a:off x="11535132" y="4902432"/>
            <a:ext cx="2775513" cy="334640"/>
          </a:xfrm>
          <a:prstGeom prst="rect">
            <a:avLst/>
          </a:prstGeom>
        </p:spPr>
        <p:txBody>
          <a:bodyPr lIns="0" tIns="0" rIns="0" bIns="0" rtlCol="0" anchor="t">
            <a:spAutoFit/>
          </a:bodyPr>
          <a:lstStyle/>
          <a:p>
            <a:pPr algn="l">
              <a:lnSpc>
                <a:spcPts val="2658"/>
              </a:lnSpc>
            </a:pPr>
            <a:r>
              <a:rPr lang="en-US" sz="2272" b="1" spc="-95">
                <a:solidFill>
                  <a:srgbClr val="0E0637"/>
                </a:solidFill>
                <a:latin typeface="Open Sauce Bold"/>
                <a:ea typeface="Open Sauce Bold"/>
                <a:cs typeface="Open Sauce Bold"/>
                <a:sym typeface="Open Sauce Bold"/>
              </a:rPr>
              <a:t>4.Double Threshold</a:t>
            </a:r>
          </a:p>
        </p:txBody>
      </p:sp>
      <p:sp>
        <p:nvSpPr>
          <p:cNvPr id="54" name="TextBox 54"/>
          <p:cNvSpPr txBox="1"/>
          <p:nvPr/>
        </p:nvSpPr>
        <p:spPr>
          <a:xfrm>
            <a:off x="11616665" y="5545303"/>
            <a:ext cx="2612448" cy="1153232"/>
          </a:xfrm>
          <a:prstGeom prst="rect">
            <a:avLst/>
          </a:prstGeom>
        </p:spPr>
        <p:txBody>
          <a:bodyPr lIns="0" tIns="0" rIns="0" bIns="0" rtlCol="0" anchor="t">
            <a:spAutoFit/>
          </a:bodyPr>
          <a:lstStyle/>
          <a:p>
            <a:pPr algn="l">
              <a:lnSpc>
                <a:spcPts val="3140"/>
              </a:lnSpc>
            </a:pPr>
            <a:r>
              <a:rPr lang="en-US" sz="2308" spc="-53">
                <a:solidFill>
                  <a:srgbClr val="0E0637"/>
                </a:solidFill>
                <a:latin typeface="Open Sauce Light"/>
                <a:ea typeface="Open Sauce Light"/>
                <a:cs typeface="Open Sauce Light"/>
                <a:sym typeface="Open Sauce Light"/>
              </a:rPr>
              <a:t>Strong / weak</a:t>
            </a:r>
          </a:p>
          <a:p>
            <a:pPr algn="l">
              <a:lnSpc>
                <a:spcPts val="3140"/>
              </a:lnSpc>
            </a:pPr>
            <a:r>
              <a:rPr lang="en-US" sz="2308" spc="-53">
                <a:solidFill>
                  <a:srgbClr val="0E0637"/>
                </a:solidFill>
                <a:latin typeface="Open Sauce Light"/>
                <a:ea typeface="Open Sauce Light"/>
                <a:cs typeface="Open Sauce Light"/>
                <a:sym typeface="Open Sauce Light"/>
              </a:rPr>
              <a:t>edge classification</a:t>
            </a:r>
          </a:p>
          <a:p>
            <a:pPr algn="l">
              <a:lnSpc>
                <a:spcPts val="3140"/>
              </a:lnSpc>
            </a:pPr>
            <a:endParaRPr lang="en-US" sz="2308" spc="-53">
              <a:solidFill>
                <a:srgbClr val="0E0637"/>
              </a:solidFill>
              <a:latin typeface="Open Sauce Light"/>
              <a:ea typeface="Open Sauce Light"/>
              <a:cs typeface="Open Sauce Light"/>
              <a:sym typeface="Open Sauce Light"/>
            </a:endParaRPr>
          </a:p>
        </p:txBody>
      </p:sp>
      <p:sp>
        <p:nvSpPr>
          <p:cNvPr id="55" name="TextBox 55"/>
          <p:cNvSpPr txBox="1"/>
          <p:nvPr/>
        </p:nvSpPr>
        <p:spPr>
          <a:xfrm>
            <a:off x="15326183" y="4896612"/>
            <a:ext cx="2485743" cy="334640"/>
          </a:xfrm>
          <a:prstGeom prst="rect">
            <a:avLst/>
          </a:prstGeom>
        </p:spPr>
        <p:txBody>
          <a:bodyPr lIns="0" tIns="0" rIns="0" bIns="0" rtlCol="0" anchor="t">
            <a:spAutoFit/>
          </a:bodyPr>
          <a:lstStyle/>
          <a:p>
            <a:pPr algn="l">
              <a:lnSpc>
                <a:spcPts val="2658"/>
              </a:lnSpc>
            </a:pPr>
            <a:r>
              <a:rPr lang="en-US" sz="2272" b="1" spc="-95">
                <a:solidFill>
                  <a:srgbClr val="0E0637"/>
                </a:solidFill>
                <a:latin typeface="Open Sauce Bold"/>
                <a:ea typeface="Open Sauce Bold"/>
                <a:cs typeface="Open Sauce Bold"/>
                <a:sym typeface="Open Sauce Bold"/>
              </a:rPr>
              <a:t>5.Hysteresis</a:t>
            </a:r>
          </a:p>
        </p:txBody>
      </p:sp>
      <p:sp>
        <p:nvSpPr>
          <p:cNvPr id="56" name="TextBox 56"/>
          <p:cNvSpPr txBox="1"/>
          <p:nvPr/>
        </p:nvSpPr>
        <p:spPr>
          <a:xfrm>
            <a:off x="15151125" y="5554828"/>
            <a:ext cx="2612448" cy="1153232"/>
          </a:xfrm>
          <a:prstGeom prst="rect">
            <a:avLst/>
          </a:prstGeom>
        </p:spPr>
        <p:txBody>
          <a:bodyPr lIns="0" tIns="0" rIns="0" bIns="0" rtlCol="0" anchor="t">
            <a:spAutoFit/>
          </a:bodyPr>
          <a:lstStyle/>
          <a:p>
            <a:pPr algn="l">
              <a:lnSpc>
                <a:spcPts val="3140"/>
              </a:lnSpc>
            </a:pPr>
            <a:r>
              <a:rPr lang="en-US" sz="2308" spc="-53">
                <a:solidFill>
                  <a:srgbClr val="0E0637"/>
                </a:solidFill>
                <a:latin typeface="Open Sauce Light"/>
                <a:ea typeface="Open Sauce Light"/>
                <a:cs typeface="Open Sauce Light"/>
                <a:sym typeface="Open Sauce Light"/>
              </a:rPr>
              <a:t>Connect weak</a:t>
            </a:r>
          </a:p>
          <a:p>
            <a:pPr algn="l">
              <a:lnSpc>
                <a:spcPts val="3140"/>
              </a:lnSpc>
            </a:pPr>
            <a:r>
              <a:rPr lang="en-US" sz="2308" spc="-53">
                <a:solidFill>
                  <a:srgbClr val="0E0637"/>
                </a:solidFill>
                <a:latin typeface="Open Sauce Light"/>
                <a:ea typeface="Open Sauce Light"/>
                <a:cs typeface="Open Sauce Light"/>
                <a:sym typeface="Open Sauce Light"/>
              </a:rPr>
              <a:t>edges to strong</a:t>
            </a:r>
          </a:p>
          <a:p>
            <a:pPr algn="l">
              <a:lnSpc>
                <a:spcPts val="3140"/>
              </a:lnSpc>
            </a:pPr>
            <a:endParaRPr lang="en-US" sz="2308" spc="-53">
              <a:solidFill>
                <a:srgbClr val="0E0637"/>
              </a:solidFill>
              <a:latin typeface="Open Sauce Light"/>
              <a:ea typeface="Open Sauce Light"/>
              <a:cs typeface="Open Sauce Light"/>
              <a:sym typeface="Open Sauce Light"/>
            </a:endParaRPr>
          </a:p>
        </p:txBody>
      </p:sp>
      <p:sp>
        <p:nvSpPr>
          <p:cNvPr id="57" name="TextBox 57"/>
          <p:cNvSpPr txBox="1"/>
          <p:nvPr/>
        </p:nvSpPr>
        <p:spPr>
          <a:xfrm>
            <a:off x="6589377" y="2774554"/>
            <a:ext cx="1465885" cy="389200"/>
          </a:xfrm>
          <a:prstGeom prst="rect">
            <a:avLst/>
          </a:prstGeom>
        </p:spPr>
        <p:txBody>
          <a:bodyPr lIns="0" tIns="0" rIns="0" bIns="0" rtlCol="0" anchor="t">
            <a:spAutoFit/>
          </a:bodyPr>
          <a:lstStyle/>
          <a:p>
            <a:pPr algn="l">
              <a:lnSpc>
                <a:spcPts val="3276"/>
              </a:lnSpc>
              <a:spcBef>
                <a:spcPct val="0"/>
              </a:spcBef>
            </a:pPr>
            <a:r>
              <a:rPr lang="en-US" sz="2408" spc="-55">
                <a:solidFill>
                  <a:srgbClr val="FFFFFF"/>
                </a:solidFill>
                <a:latin typeface="Open Sauce Light"/>
                <a:ea typeface="Open Sauce Light"/>
                <a:cs typeface="Open Sauce Light"/>
                <a:sym typeface="Open Sauce Light"/>
              </a:rPr>
              <a:t>Input：</a:t>
            </a:r>
          </a:p>
        </p:txBody>
      </p:sp>
      <p:sp>
        <p:nvSpPr>
          <p:cNvPr id="58" name="TextBox 58"/>
          <p:cNvSpPr txBox="1"/>
          <p:nvPr/>
        </p:nvSpPr>
        <p:spPr>
          <a:xfrm>
            <a:off x="1577377" y="9819282"/>
            <a:ext cx="1465885" cy="389200"/>
          </a:xfrm>
          <a:prstGeom prst="rect">
            <a:avLst/>
          </a:prstGeom>
        </p:spPr>
        <p:txBody>
          <a:bodyPr lIns="0" tIns="0" rIns="0" bIns="0" rtlCol="0" anchor="t">
            <a:spAutoFit/>
          </a:bodyPr>
          <a:lstStyle/>
          <a:p>
            <a:pPr algn="l">
              <a:lnSpc>
                <a:spcPts val="3276"/>
              </a:lnSpc>
              <a:spcBef>
                <a:spcPct val="0"/>
              </a:spcBef>
            </a:pPr>
            <a:r>
              <a:rPr lang="en-US" sz="2408" spc="-55">
                <a:solidFill>
                  <a:srgbClr val="FFFFFF"/>
                </a:solidFill>
                <a:latin typeface="Open Sauce Light"/>
                <a:ea typeface="Open Sauce Light"/>
                <a:cs typeface="Open Sauce Light"/>
                <a:sym typeface="Open Sauce Light"/>
              </a:rPr>
              <a:t>Blur</a:t>
            </a:r>
          </a:p>
        </p:txBody>
      </p:sp>
      <p:sp>
        <p:nvSpPr>
          <p:cNvPr id="59" name="TextBox 59"/>
          <p:cNvSpPr txBox="1"/>
          <p:nvPr/>
        </p:nvSpPr>
        <p:spPr>
          <a:xfrm>
            <a:off x="5061271" y="9819282"/>
            <a:ext cx="1465885" cy="389200"/>
          </a:xfrm>
          <a:prstGeom prst="rect">
            <a:avLst/>
          </a:prstGeom>
        </p:spPr>
        <p:txBody>
          <a:bodyPr lIns="0" tIns="0" rIns="0" bIns="0" rtlCol="0" anchor="t">
            <a:spAutoFit/>
          </a:bodyPr>
          <a:lstStyle/>
          <a:p>
            <a:pPr algn="l">
              <a:lnSpc>
                <a:spcPts val="3276"/>
              </a:lnSpc>
              <a:spcBef>
                <a:spcPct val="0"/>
              </a:spcBef>
            </a:pPr>
            <a:r>
              <a:rPr lang="en-US" sz="2408" spc="-55">
                <a:solidFill>
                  <a:srgbClr val="FFFFFF"/>
                </a:solidFill>
                <a:latin typeface="Open Sauce Light"/>
                <a:ea typeface="Open Sauce Light"/>
                <a:cs typeface="Open Sauce Light"/>
                <a:sym typeface="Open Sauce Light"/>
              </a:rPr>
              <a:t>Sobel</a:t>
            </a:r>
          </a:p>
        </p:txBody>
      </p:sp>
      <p:sp>
        <p:nvSpPr>
          <p:cNvPr id="60" name="TextBox 60"/>
          <p:cNvSpPr txBox="1"/>
          <p:nvPr/>
        </p:nvSpPr>
        <p:spPr>
          <a:xfrm>
            <a:off x="8921964" y="9819282"/>
            <a:ext cx="1465885" cy="389200"/>
          </a:xfrm>
          <a:prstGeom prst="rect">
            <a:avLst/>
          </a:prstGeom>
        </p:spPr>
        <p:txBody>
          <a:bodyPr lIns="0" tIns="0" rIns="0" bIns="0" rtlCol="0" anchor="t">
            <a:spAutoFit/>
          </a:bodyPr>
          <a:lstStyle/>
          <a:p>
            <a:pPr algn="l">
              <a:lnSpc>
                <a:spcPts val="3276"/>
              </a:lnSpc>
              <a:spcBef>
                <a:spcPct val="0"/>
              </a:spcBef>
            </a:pPr>
            <a:r>
              <a:rPr lang="en-US" sz="2408" spc="-55">
                <a:solidFill>
                  <a:srgbClr val="FFFFFF"/>
                </a:solidFill>
                <a:latin typeface="Open Sauce Light"/>
                <a:ea typeface="Open Sauce Light"/>
                <a:cs typeface="Open Sauce Light"/>
                <a:sym typeface="Open Sauce Light"/>
              </a:rPr>
              <a:t>NMS</a:t>
            </a:r>
          </a:p>
        </p:txBody>
      </p:sp>
      <p:sp>
        <p:nvSpPr>
          <p:cNvPr id="61" name="TextBox 61"/>
          <p:cNvSpPr txBox="1"/>
          <p:nvPr/>
        </p:nvSpPr>
        <p:spPr>
          <a:xfrm>
            <a:off x="12303982" y="9753724"/>
            <a:ext cx="4869593" cy="389200"/>
          </a:xfrm>
          <a:prstGeom prst="rect">
            <a:avLst/>
          </a:prstGeom>
        </p:spPr>
        <p:txBody>
          <a:bodyPr lIns="0" tIns="0" rIns="0" bIns="0" rtlCol="0" anchor="t">
            <a:spAutoFit/>
          </a:bodyPr>
          <a:lstStyle/>
          <a:p>
            <a:pPr algn="l">
              <a:lnSpc>
                <a:spcPts val="3276"/>
              </a:lnSpc>
              <a:spcBef>
                <a:spcPct val="0"/>
              </a:spcBef>
            </a:pPr>
            <a:r>
              <a:rPr lang="en-US" sz="2408" spc="-55">
                <a:solidFill>
                  <a:srgbClr val="FFFFFF"/>
                </a:solidFill>
                <a:latin typeface="Open Sauce Light"/>
                <a:ea typeface="Open Sauce Light"/>
                <a:cs typeface="Open Sauce Light"/>
                <a:sym typeface="Open Sauce Light"/>
              </a:rPr>
              <a:t>Final edges (threshold + hysteresis)</a:t>
            </a:r>
          </a:p>
        </p:txBody>
      </p:sp>
      <p:sp>
        <p:nvSpPr>
          <p:cNvPr id="62" name="AutoShape 62"/>
          <p:cNvSpPr/>
          <p:nvPr/>
        </p:nvSpPr>
        <p:spPr>
          <a:xfrm>
            <a:off x="1940149" y="6821703"/>
            <a:ext cx="0" cy="536838"/>
          </a:xfrm>
          <a:prstGeom prst="line">
            <a:avLst/>
          </a:prstGeom>
          <a:ln w="38100" cap="flat">
            <a:solidFill>
              <a:srgbClr val="FFDE59"/>
            </a:solidFill>
            <a:prstDash val="sysDash"/>
            <a:headEnd type="none" w="sm" len="sm"/>
            <a:tailEnd type="triangle" w="lg" len="med"/>
          </a:ln>
        </p:spPr>
      </p:sp>
      <p:sp>
        <p:nvSpPr>
          <p:cNvPr id="63" name="AutoShape 63"/>
          <p:cNvSpPr/>
          <p:nvPr/>
        </p:nvSpPr>
        <p:spPr>
          <a:xfrm>
            <a:off x="5584196" y="6834666"/>
            <a:ext cx="0" cy="523875"/>
          </a:xfrm>
          <a:prstGeom prst="line">
            <a:avLst/>
          </a:prstGeom>
          <a:ln w="38100" cap="flat">
            <a:solidFill>
              <a:srgbClr val="FFDE59"/>
            </a:solidFill>
            <a:prstDash val="sysDash"/>
            <a:headEnd type="none" w="sm" len="sm"/>
            <a:tailEnd type="triangle" w="lg" len="med"/>
          </a:ln>
        </p:spPr>
      </p:sp>
      <p:sp>
        <p:nvSpPr>
          <p:cNvPr id="64" name="AutoShape 64"/>
          <p:cNvSpPr/>
          <p:nvPr/>
        </p:nvSpPr>
        <p:spPr>
          <a:xfrm flipH="1">
            <a:off x="9304928" y="6831228"/>
            <a:ext cx="0" cy="527313"/>
          </a:xfrm>
          <a:prstGeom prst="line">
            <a:avLst/>
          </a:prstGeom>
          <a:ln w="38100" cap="flat">
            <a:solidFill>
              <a:srgbClr val="FFDE59"/>
            </a:solidFill>
            <a:prstDash val="sysDash"/>
            <a:headEnd type="none" w="sm" len="sm"/>
            <a:tailEnd type="triangle" w="lg" len="med"/>
          </a:ln>
        </p:spPr>
      </p:sp>
      <p:sp>
        <p:nvSpPr>
          <p:cNvPr id="65" name="AutoShape 65"/>
          <p:cNvSpPr/>
          <p:nvPr/>
        </p:nvSpPr>
        <p:spPr>
          <a:xfrm>
            <a:off x="12922889" y="6821703"/>
            <a:ext cx="1758847" cy="536838"/>
          </a:xfrm>
          <a:prstGeom prst="line">
            <a:avLst/>
          </a:prstGeom>
          <a:ln w="38100" cap="flat">
            <a:solidFill>
              <a:srgbClr val="FFDE59"/>
            </a:solidFill>
            <a:prstDash val="sysDash"/>
            <a:headEnd type="none" w="sm" len="sm"/>
            <a:tailEnd type="triangle" w="lg" len="med"/>
          </a:ln>
        </p:spPr>
      </p:sp>
      <p:sp>
        <p:nvSpPr>
          <p:cNvPr id="66" name="AutoShape 66"/>
          <p:cNvSpPr/>
          <p:nvPr/>
        </p:nvSpPr>
        <p:spPr>
          <a:xfrm flipH="1">
            <a:off x="14681736" y="6831228"/>
            <a:ext cx="1775614" cy="527313"/>
          </a:xfrm>
          <a:prstGeom prst="line">
            <a:avLst/>
          </a:prstGeom>
          <a:ln w="38100" cap="flat">
            <a:solidFill>
              <a:srgbClr val="FFDE59"/>
            </a:solidFill>
            <a:prstDash val="sysDash"/>
            <a:headEnd type="none" w="sm" len="sm"/>
            <a:tailEnd type="triangle" w="lg" len="med"/>
          </a:ln>
        </p:spPr>
      </p:sp>
      <p:sp>
        <p:nvSpPr>
          <p:cNvPr id="67" name="TextBox 67"/>
          <p:cNvSpPr txBox="1"/>
          <p:nvPr/>
        </p:nvSpPr>
        <p:spPr>
          <a:xfrm>
            <a:off x="334636" y="1580799"/>
            <a:ext cx="6841245" cy="440254"/>
          </a:xfrm>
          <a:prstGeom prst="rect">
            <a:avLst/>
          </a:prstGeom>
        </p:spPr>
        <p:txBody>
          <a:bodyPr lIns="0" tIns="0" rIns="0" bIns="0" rtlCol="0" anchor="t">
            <a:spAutoFit/>
          </a:bodyPr>
          <a:lstStyle/>
          <a:p>
            <a:pPr algn="ctr">
              <a:lnSpc>
                <a:spcPts val="3684"/>
              </a:lnSpc>
              <a:spcBef>
                <a:spcPct val="0"/>
              </a:spcBef>
            </a:pPr>
            <a:r>
              <a:rPr lang="en-US" sz="2708" spc="-62">
                <a:solidFill>
                  <a:srgbClr val="FFFFFF"/>
                </a:solidFill>
                <a:latin typeface="Open Sauce Light"/>
                <a:ea typeface="Open Sauce Light"/>
                <a:cs typeface="Open Sauce Light"/>
                <a:sym typeface="Open Sauce Light"/>
              </a:rPr>
              <a:t>Pipeline outputs from our implementation</a:t>
            </a:r>
          </a:p>
        </p:txBody>
      </p:sp>
      <p:sp>
        <p:nvSpPr>
          <p:cNvPr id="68" name="TextBox 68"/>
          <p:cNvSpPr txBox="1"/>
          <p:nvPr/>
        </p:nvSpPr>
        <p:spPr>
          <a:xfrm>
            <a:off x="3494351" y="4037329"/>
            <a:ext cx="4179689" cy="655910"/>
          </a:xfrm>
          <a:prstGeom prst="rect">
            <a:avLst/>
          </a:prstGeom>
        </p:spPr>
        <p:txBody>
          <a:bodyPr lIns="0" tIns="0" rIns="0" bIns="0" rtlCol="0" anchor="t">
            <a:spAutoFit/>
          </a:bodyPr>
          <a:lstStyle/>
          <a:p>
            <a:pPr algn="ctr">
              <a:lnSpc>
                <a:spcPts val="2637"/>
              </a:lnSpc>
              <a:spcBef>
                <a:spcPct val="0"/>
              </a:spcBef>
            </a:pPr>
            <a:r>
              <a:rPr lang="en-US" sz="1939" spc="-44">
                <a:solidFill>
                  <a:srgbClr val="FFFFFF"/>
                </a:solidFill>
                <a:latin typeface="Open Sauce Light"/>
                <a:ea typeface="Open Sauce Light"/>
                <a:cs typeface="Open Sauce Light"/>
                <a:sym typeface="Open Sauce Light"/>
              </a:rPr>
              <a:t>Sobel output:</a:t>
            </a:r>
          </a:p>
          <a:p>
            <a:pPr algn="ctr">
              <a:lnSpc>
                <a:spcPts val="2637"/>
              </a:lnSpc>
              <a:spcBef>
                <a:spcPct val="0"/>
              </a:spcBef>
            </a:pPr>
            <a:r>
              <a:rPr lang="en-US" sz="1939" spc="-44">
                <a:solidFill>
                  <a:srgbClr val="FFFFFF"/>
                </a:solidFill>
                <a:latin typeface="Open Sauce Light"/>
                <a:ea typeface="Open Sauce Light"/>
                <a:cs typeface="Open Sauce Light"/>
                <a:sym typeface="Open Sauce Light"/>
              </a:rPr>
              <a:t>M = sqrt(Gx² + Gy²),  θ = atan2(Gy, Gx)</a:t>
            </a:r>
          </a:p>
        </p:txBody>
      </p:sp>
      <p:sp>
        <p:nvSpPr>
          <p:cNvPr id="69" name="TextBox 69"/>
          <p:cNvSpPr txBox="1"/>
          <p:nvPr/>
        </p:nvSpPr>
        <p:spPr>
          <a:xfrm>
            <a:off x="981637" y="4302649"/>
            <a:ext cx="1878925" cy="322535"/>
          </a:xfrm>
          <a:prstGeom prst="rect">
            <a:avLst/>
          </a:prstGeom>
        </p:spPr>
        <p:txBody>
          <a:bodyPr lIns="0" tIns="0" rIns="0" bIns="0" rtlCol="0" anchor="t">
            <a:spAutoFit/>
          </a:bodyPr>
          <a:lstStyle/>
          <a:p>
            <a:pPr algn="ctr">
              <a:lnSpc>
                <a:spcPts val="2637"/>
              </a:lnSpc>
              <a:spcBef>
                <a:spcPct val="0"/>
              </a:spcBef>
            </a:pPr>
            <a:r>
              <a:rPr lang="en-US" sz="1939" spc="-44">
                <a:solidFill>
                  <a:srgbClr val="FFFFFF"/>
                </a:solidFill>
                <a:latin typeface="Open Sauce Light"/>
                <a:ea typeface="Open Sauce Light"/>
                <a:cs typeface="Open Sauce Light"/>
                <a:sym typeface="Open Sauce Light"/>
              </a:rPr>
              <a:t>Iblur = (I * gx) * gy</a:t>
            </a:r>
          </a:p>
        </p:txBody>
      </p:sp>
      <p:sp>
        <p:nvSpPr>
          <p:cNvPr id="70" name="TextBox 70"/>
          <p:cNvSpPr txBox="1"/>
          <p:nvPr/>
        </p:nvSpPr>
        <p:spPr>
          <a:xfrm>
            <a:off x="11558787" y="3954932"/>
            <a:ext cx="2766774" cy="655910"/>
          </a:xfrm>
          <a:prstGeom prst="rect">
            <a:avLst/>
          </a:prstGeom>
        </p:spPr>
        <p:txBody>
          <a:bodyPr lIns="0" tIns="0" rIns="0" bIns="0" rtlCol="0" anchor="t">
            <a:spAutoFit/>
          </a:bodyPr>
          <a:lstStyle/>
          <a:p>
            <a:pPr algn="ctr">
              <a:lnSpc>
                <a:spcPts val="2637"/>
              </a:lnSpc>
              <a:spcBef>
                <a:spcPct val="0"/>
              </a:spcBef>
            </a:pPr>
            <a:r>
              <a:rPr lang="en-US" sz="1939" spc="-44">
                <a:solidFill>
                  <a:srgbClr val="FFFFFF"/>
                </a:solidFill>
                <a:latin typeface="Open Sauce Light"/>
                <a:ea typeface="Open Sauce Light"/>
                <a:cs typeface="Open Sauce Light"/>
                <a:sym typeface="Open Sauce Light"/>
              </a:rPr>
              <a:t>Strong: NMS ≥ high</a:t>
            </a:r>
          </a:p>
          <a:p>
            <a:pPr algn="ctr">
              <a:lnSpc>
                <a:spcPts val="2637"/>
              </a:lnSpc>
              <a:spcBef>
                <a:spcPct val="0"/>
              </a:spcBef>
            </a:pPr>
            <a:r>
              <a:rPr lang="en-US" sz="1939" spc="-44">
                <a:solidFill>
                  <a:srgbClr val="FFFFFF"/>
                </a:solidFill>
                <a:latin typeface="Open Sauce Light"/>
                <a:ea typeface="Open Sauce Light"/>
                <a:cs typeface="Open Sauce Light"/>
                <a:sym typeface="Open Sauce Light"/>
              </a:rPr>
              <a:t>Weak: low ≤ NMS &lt; high</a:t>
            </a:r>
          </a:p>
        </p:txBody>
      </p:sp>
      <p:sp>
        <p:nvSpPr>
          <p:cNvPr id="71" name="TextBox 71"/>
          <p:cNvSpPr txBox="1"/>
          <p:nvPr/>
        </p:nvSpPr>
        <p:spPr>
          <a:xfrm>
            <a:off x="16780018" y="206363"/>
            <a:ext cx="1242179"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Grace Liu</a:t>
            </a:r>
          </a:p>
        </p:txBody>
      </p:sp>
      <p:sp>
        <p:nvSpPr>
          <p:cNvPr id="72" name="AutoShape 72"/>
          <p:cNvSpPr/>
          <p:nvPr/>
        </p:nvSpPr>
        <p:spPr>
          <a:xfrm>
            <a:off x="3504997" y="5736703"/>
            <a:ext cx="514351" cy="12963"/>
          </a:xfrm>
          <a:prstGeom prst="line">
            <a:avLst/>
          </a:prstGeom>
          <a:ln w="38100" cap="flat">
            <a:solidFill>
              <a:srgbClr val="FFFFFF"/>
            </a:solidFill>
            <a:prstDash val="solid"/>
            <a:headEnd type="none" w="sm" len="sm"/>
            <a:tailEnd type="triangle" w="lg" len="med"/>
          </a:ln>
        </p:spPr>
      </p:sp>
      <p:sp>
        <p:nvSpPr>
          <p:cNvPr id="73" name="AutoShape 73"/>
          <p:cNvSpPr/>
          <p:nvPr/>
        </p:nvSpPr>
        <p:spPr>
          <a:xfrm>
            <a:off x="7149044" y="5749665"/>
            <a:ext cx="611225" cy="56270"/>
          </a:xfrm>
          <a:prstGeom prst="line">
            <a:avLst/>
          </a:prstGeom>
          <a:ln w="38100" cap="flat">
            <a:solidFill>
              <a:srgbClr val="FFFFFF"/>
            </a:solidFill>
            <a:prstDash val="solid"/>
            <a:headEnd type="none" w="sm" len="sm"/>
            <a:tailEnd type="triangle" w="lg" len="med"/>
          </a:ln>
        </p:spPr>
      </p:sp>
      <p:sp>
        <p:nvSpPr>
          <p:cNvPr id="74" name="AutoShape 74"/>
          <p:cNvSpPr/>
          <p:nvPr/>
        </p:nvSpPr>
        <p:spPr>
          <a:xfrm flipV="1">
            <a:off x="10869776" y="5736703"/>
            <a:ext cx="488265" cy="9525"/>
          </a:xfrm>
          <a:prstGeom prst="line">
            <a:avLst/>
          </a:prstGeom>
          <a:ln w="38100" cap="flat">
            <a:solidFill>
              <a:srgbClr val="FFFFFF"/>
            </a:solidFill>
            <a:prstDash val="solid"/>
            <a:headEnd type="none" w="sm" len="sm"/>
            <a:tailEnd type="triangle" w="lg" len="med"/>
          </a:ln>
        </p:spPr>
      </p:sp>
      <p:sp>
        <p:nvSpPr>
          <p:cNvPr id="75" name="AutoShape 75"/>
          <p:cNvSpPr/>
          <p:nvPr/>
        </p:nvSpPr>
        <p:spPr>
          <a:xfrm>
            <a:off x="14487737" y="5736703"/>
            <a:ext cx="404765" cy="9525"/>
          </a:xfrm>
          <a:prstGeom prst="line">
            <a:avLst/>
          </a:prstGeom>
          <a:ln w="38100" cap="flat">
            <a:solidFill>
              <a:srgbClr val="FFFFFF"/>
            </a:solidFill>
            <a:prstDash val="solid"/>
            <a:headEnd type="none" w="sm" len="sm"/>
            <a:tailEnd type="triangle" w="lg" len="med"/>
          </a:ln>
        </p:spPr>
      </p:sp>
      <p:sp>
        <p:nvSpPr>
          <p:cNvPr id="76" name="AutoShape 76"/>
          <p:cNvSpPr/>
          <p:nvPr/>
        </p:nvSpPr>
        <p:spPr>
          <a:xfrm>
            <a:off x="3629598" y="8484136"/>
            <a:ext cx="207221" cy="193052"/>
          </a:xfrm>
          <a:prstGeom prst="line">
            <a:avLst/>
          </a:prstGeom>
          <a:ln w="38100" cap="flat">
            <a:solidFill>
              <a:srgbClr val="FFFFFF"/>
            </a:solidFill>
            <a:prstDash val="solid"/>
            <a:headEnd type="none" w="sm" len="sm"/>
            <a:tailEnd type="triangle" w="lg" len="med"/>
          </a:ln>
        </p:spPr>
      </p:sp>
      <p:sp>
        <p:nvSpPr>
          <p:cNvPr id="77" name="AutoShape 77"/>
          <p:cNvSpPr/>
          <p:nvPr/>
        </p:nvSpPr>
        <p:spPr>
          <a:xfrm flipV="1">
            <a:off x="7389459" y="8484136"/>
            <a:ext cx="226021" cy="156166"/>
          </a:xfrm>
          <a:prstGeom prst="line">
            <a:avLst/>
          </a:prstGeom>
          <a:ln w="38100" cap="flat">
            <a:solidFill>
              <a:srgbClr val="FFFFFF"/>
            </a:solidFill>
            <a:prstDash val="solid"/>
            <a:headEnd type="none" w="sm" len="sm"/>
            <a:tailEnd type="triangle" w="lg" len="med"/>
          </a:ln>
        </p:spPr>
      </p:sp>
      <p:sp>
        <p:nvSpPr>
          <p:cNvPr id="78" name="AutoShape 78"/>
          <p:cNvSpPr/>
          <p:nvPr/>
        </p:nvSpPr>
        <p:spPr>
          <a:xfrm>
            <a:off x="11118181" y="8489457"/>
            <a:ext cx="1866119" cy="0"/>
          </a:xfrm>
          <a:prstGeom prst="line">
            <a:avLst/>
          </a:prstGeom>
          <a:ln w="38100" cap="flat">
            <a:solidFill>
              <a:srgbClr val="FFFFFF"/>
            </a:solidFill>
            <a:prstDash val="solid"/>
            <a:headEnd type="none" w="sm" len="sm"/>
            <a:tailEnd type="triangle" w="lg" len="me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t="-9222" b="-9222"/>
            </a:stretch>
          </a:blipFill>
        </p:spPr>
      </p:sp>
      <p:sp>
        <p:nvSpPr>
          <p:cNvPr id="3" name="Freeform 3"/>
          <p:cNvSpPr/>
          <p:nvPr/>
        </p:nvSpPr>
        <p:spPr>
          <a:xfrm rot="-10800000" flipV="1">
            <a:off x="13962557" y="3339906"/>
            <a:ext cx="4272937" cy="995736"/>
          </a:xfrm>
          <a:custGeom>
            <a:avLst/>
            <a:gdLst/>
            <a:ahLst/>
            <a:cxnLst/>
            <a:rect l="l" t="t" r="r" b="b"/>
            <a:pathLst>
              <a:path w="4272937" h="995736">
                <a:moveTo>
                  <a:pt x="0" y="995736"/>
                </a:moveTo>
                <a:lnTo>
                  <a:pt x="4272937" y="995736"/>
                </a:lnTo>
                <a:lnTo>
                  <a:pt x="4272937" y="0"/>
                </a:lnTo>
                <a:lnTo>
                  <a:pt x="0" y="0"/>
                </a:lnTo>
                <a:lnTo>
                  <a:pt x="0" y="995736"/>
                </a:lnTo>
                <a:close/>
              </a:path>
            </a:pathLst>
          </a:custGeom>
          <a:blipFill>
            <a:blip r:embed="rId4">
              <a:alphaModFix amt="56000"/>
            </a:blip>
            <a:stretch>
              <a:fillRect l="-8792" r="-8792"/>
            </a:stretch>
          </a:blipFill>
        </p:spPr>
      </p:sp>
      <p:grpSp>
        <p:nvGrpSpPr>
          <p:cNvPr id="4" name="Group 4"/>
          <p:cNvGrpSpPr/>
          <p:nvPr/>
        </p:nvGrpSpPr>
        <p:grpSpPr>
          <a:xfrm>
            <a:off x="14139052" y="3565492"/>
            <a:ext cx="4001326" cy="2832131"/>
            <a:chOff x="0" y="0"/>
            <a:chExt cx="2031228" cy="1437700"/>
          </a:xfrm>
        </p:grpSpPr>
        <p:sp>
          <p:nvSpPr>
            <p:cNvPr id="5" name="Freeform 5"/>
            <p:cNvSpPr/>
            <p:nvPr/>
          </p:nvSpPr>
          <p:spPr>
            <a:xfrm>
              <a:off x="0" y="0"/>
              <a:ext cx="2031228" cy="1437700"/>
            </a:xfrm>
            <a:custGeom>
              <a:avLst/>
              <a:gdLst/>
              <a:ahLst/>
              <a:cxnLst/>
              <a:rect l="l" t="t" r="r" b="b"/>
              <a:pathLst>
                <a:path w="2031228" h="1437700">
                  <a:moveTo>
                    <a:pt x="98677" y="0"/>
                  </a:moveTo>
                  <a:lnTo>
                    <a:pt x="1932552" y="0"/>
                  </a:lnTo>
                  <a:cubicBezTo>
                    <a:pt x="1987049" y="0"/>
                    <a:pt x="2031228" y="44179"/>
                    <a:pt x="2031228" y="98677"/>
                  </a:cubicBezTo>
                  <a:lnTo>
                    <a:pt x="2031228" y="1339023"/>
                  </a:lnTo>
                  <a:cubicBezTo>
                    <a:pt x="2031228" y="1393521"/>
                    <a:pt x="1987049" y="1437700"/>
                    <a:pt x="1932552" y="1437700"/>
                  </a:cubicBezTo>
                  <a:lnTo>
                    <a:pt x="98677" y="1437700"/>
                  </a:lnTo>
                  <a:cubicBezTo>
                    <a:pt x="72506" y="1437700"/>
                    <a:pt x="47407" y="1427304"/>
                    <a:pt x="28902" y="1408798"/>
                  </a:cubicBezTo>
                  <a:cubicBezTo>
                    <a:pt x="10396" y="1390293"/>
                    <a:pt x="0" y="1365194"/>
                    <a:pt x="0" y="1339023"/>
                  </a:cubicBezTo>
                  <a:lnTo>
                    <a:pt x="0" y="98677"/>
                  </a:lnTo>
                  <a:cubicBezTo>
                    <a:pt x="0" y="44179"/>
                    <a:pt x="44179" y="0"/>
                    <a:pt x="98677" y="0"/>
                  </a:cubicBezTo>
                  <a:close/>
                </a:path>
              </a:pathLst>
            </a:custGeom>
            <a:gradFill rotWithShape="1">
              <a:gsLst>
                <a:gs pos="0">
                  <a:srgbClr val="C55CD1">
                    <a:alpha val="100000"/>
                  </a:srgbClr>
                </a:gs>
                <a:gs pos="100000">
                  <a:srgbClr val="923ACD">
                    <a:alpha val="100000"/>
                  </a:srgbClr>
                </a:gs>
              </a:gsLst>
              <a:lin ang="2700000"/>
            </a:gradFill>
            <a:ln w="19050" cap="rnd">
              <a:solidFill>
                <a:srgbClr val="FFFFFF"/>
              </a:solidFill>
              <a:prstDash val="solid"/>
              <a:round/>
            </a:ln>
          </p:spPr>
        </p:sp>
        <p:sp>
          <p:nvSpPr>
            <p:cNvPr id="6" name="TextBox 6"/>
            <p:cNvSpPr txBox="1"/>
            <p:nvPr/>
          </p:nvSpPr>
          <p:spPr>
            <a:xfrm>
              <a:off x="0" y="85725"/>
              <a:ext cx="2031228" cy="135197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7" name="TextBox 7"/>
          <p:cNvSpPr txBox="1"/>
          <p:nvPr/>
        </p:nvSpPr>
        <p:spPr>
          <a:xfrm>
            <a:off x="14473640" y="3847299"/>
            <a:ext cx="3666738" cy="439654"/>
          </a:xfrm>
          <a:prstGeom prst="rect">
            <a:avLst/>
          </a:prstGeom>
        </p:spPr>
        <p:txBody>
          <a:bodyPr lIns="0" tIns="0" rIns="0" bIns="0" rtlCol="0" anchor="t">
            <a:spAutoFit/>
          </a:bodyPr>
          <a:lstStyle/>
          <a:p>
            <a:pPr algn="l">
              <a:lnSpc>
                <a:spcPts val="3470"/>
              </a:lnSpc>
            </a:pPr>
            <a:r>
              <a:rPr lang="en-US" sz="2965" b="1" spc="-124">
                <a:solidFill>
                  <a:srgbClr val="FFFFFF"/>
                </a:solidFill>
                <a:latin typeface="Open Sauce Bold"/>
                <a:ea typeface="Open Sauce Bold"/>
                <a:cs typeface="Open Sauce Bold"/>
                <a:sym typeface="Open Sauce Bold"/>
              </a:rPr>
              <a:t>Example frame size</a:t>
            </a:r>
          </a:p>
        </p:txBody>
      </p:sp>
      <p:sp>
        <p:nvSpPr>
          <p:cNvPr id="8" name="TextBox 8"/>
          <p:cNvSpPr txBox="1"/>
          <p:nvPr/>
        </p:nvSpPr>
        <p:spPr>
          <a:xfrm>
            <a:off x="330733" y="3517867"/>
            <a:ext cx="14789415" cy="4753377"/>
          </a:xfrm>
          <a:prstGeom prst="rect">
            <a:avLst/>
          </a:prstGeom>
        </p:spPr>
        <p:txBody>
          <a:bodyPr lIns="0" tIns="0" rIns="0" bIns="0" rtlCol="0" anchor="t">
            <a:spAutoFit/>
          </a:bodyPr>
          <a:lstStyle/>
          <a:p>
            <a:pPr algn="l">
              <a:lnSpc>
                <a:spcPts val="3798"/>
              </a:lnSpc>
            </a:pPr>
            <a:r>
              <a:rPr lang="en-US" sz="2792" spc="-64">
                <a:solidFill>
                  <a:srgbClr val="FFFFFF"/>
                </a:solidFill>
                <a:latin typeface="Open Sauce Light"/>
                <a:ea typeface="Open Sauce Light"/>
                <a:cs typeface="Open Sauce Light"/>
                <a:sym typeface="Open Sauce Light"/>
              </a:rPr>
              <a:t>• Image processing applies similar operations to thousands of pixels.</a:t>
            </a:r>
          </a:p>
          <a:p>
            <a:pPr algn="l">
              <a:lnSpc>
                <a:spcPts val="3798"/>
              </a:lnSpc>
            </a:pPr>
            <a:endParaRPr lang="en-US" sz="2792" spc="-64">
              <a:solidFill>
                <a:srgbClr val="FFFFFF"/>
              </a:solidFill>
              <a:latin typeface="Open Sauce Light"/>
              <a:ea typeface="Open Sauce Light"/>
              <a:cs typeface="Open Sauce Light"/>
              <a:sym typeface="Open Sauce Light"/>
            </a:endParaRPr>
          </a:p>
          <a:p>
            <a:pPr algn="l">
              <a:lnSpc>
                <a:spcPts val="3798"/>
              </a:lnSpc>
            </a:pPr>
            <a:r>
              <a:rPr lang="en-US" sz="2792" spc="-64">
                <a:solidFill>
                  <a:srgbClr val="FFFFFF"/>
                </a:solidFill>
                <a:latin typeface="Open Sauce Light"/>
                <a:ea typeface="Open Sauce Light"/>
                <a:cs typeface="Open Sauce Light"/>
                <a:sym typeface="Open Sauce Light"/>
              </a:rPr>
              <a:t>• Gaussian blur and Sobel are stencil-style computations: each output pixel reads </a:t>
            </a:r>
          </a:p>
          <a:p>
            <a:pPr algn="l">
              <a:lnSpc>
                <a:spcPts val="3798"/>
              </a:lnSpc>
            </a:pPr>
            <a:r>
              <a:rPr lang="en-US" sz="2792" spc="-64">
                <a:solidFill>
                  <a:srgbClr val="FFFFFF"/>
                </a:solidFill>
                <a:latin typeface="Open Sauce Light"/>
                <a:ea typeface="Open Sauce Light"/>
                <a:cs typeface="Open Sauce Light"/>
                <a:sym typeface="Open Sauce Light"/>
              </a:rPr>
              <a:t>   nearby input pixels, but output pixels do not depend on each other.</a:t>
            </a:r>
          </a:p>
          <a:p>
            <a:pPr algn="l">
              <a:lnSpc>
                <a:spcPts val="3798"/>
              </a:lnSpc>
            </a:pPr>
            <a:endParaRPr lang="en-US" sz="2792" spc="-64">
              <a:solidFill>
                <a:srgbClr val="FFFFFF"/>
              </a:solidFill>
              <a:latin typeface="Open Sauce Light"/>
              <a:ea typeface="Open Sauce Light"/>
              <a:cs typeface="Open Sauce Light"/>
              <a:sym typeface="Open Sauce Light"/>
            </a:endParaRPr>
          </a:p>
          <a:p>
            <a:pPr algn="l">
              <a:lnSpc>
                <a:spcPts val="3798"/>
              </a:lnSpc>
            </a:pPr>
            <a:r>
              <a:rPr lang="en-US" sz="2792" spc="-64">
                <a:solidFill>
                  <a:srgbClr val="FFFFFF"/>
                </a:solidFill>
                <a:latin typeface="Open Sauce Light"/>
                <a:ea typeface="Open Sauce Light"/>
                <a:cs typeface="Open Sauce Light"/>
                <a:sym typeface="Open Sauce Light"/>
              </a:rPr>
              <a:t>• NMS is also local, but includes branching based on gradient direction.</a:t>
            </a:r>
          </a:p>
          <a:p>
            <a:pPr algn="l">
              <a:lnSpc>
                <a:spcPts val="3798"/>
              </a:lnSpc>
            </a:pPr>
            <a:endParaRPr lang="en-US" sz="2792" spc="-64">
              <a:solidFill>
                <a:srgbClr val="FFFFFF"/>
              </a:solidFill>
              <a:latin typeface="Open Sauce Light"/>
              <a:ea typeface="Open Sauce Light"/>
              <a:cs typeface="Open Sauce Light"/>
              <a:sym typeface="Open Sauce Light"/>
            </a:endParaRPr>
          </a:p>
          <a:p>
            <a:pPr algn="l">
              <a:lnSpc>
                <a:spcPts val="3798"/>
              </a:lnSpc>
            </a:pPr>
            <a:r>
              <a:rPr lang="en-US" sz="2792" spc="-64">
                <a:solidFill>
                  <a:srgbClr val="FFFFFF"/>
                </a:solidFill>
                <a:latin typeface="Open Sauce Light"/>
                <a:ea typeface="Open Sauce Light"/>
                <a:cs typeface="Open Sauce Light"/>
                <a:sym typeface="Open Sauce Light"/>
              </a:rPr>
              <a:t>• Thresholding is pixel-wise; hysteresis is harder because it depends on edge connectivity.</a:t>
            </a:r>
          </a:p>
          <a:p>
            <a:pPr algn="l">
              <a:lnSpc>
                <a:spcPts val="3798"/>
              </a:lnSpc>
            </a:pPr>
            <a:endParaRPr lang="en-US" sz="2792" spc="-64">
              <a:solidFill>
                <a:srgbClr val="FFFFFF"/>
              </a:solidFill>
              <a:latin typeface="Open Sauce Light"/>
              <a:ea typeface="Open Sauce Light"/>
              <a:cs typeface="Open Sauce Light"/>
              <a:sym typeface="Open Sauce Light"/>
            </a:endParaRPr>
          </a:p>
          <a:p>
            <a:pPr algn="l">
              <a:lnSpc>
                <a:spcPts val="3798"/>
              </a:lnSpc>
            </a:pPr>
            <a:r>
              <a:rPr lang="en-US" sz="2792" spc="-64">
                <a:solidFill>
                  <a:srgbClr val="FFFFFF"/>
                </a:solidFill>
                <a:latin typeface="Open Sauce Light"/>
                <a:ea typeface="Open Sauce Light"/>
                <a:cs typeface="Open Sauce Light"/>
                <a:sym typeface="Open Sauce Light"/>
              </a:rPr>
              <a:t>• For video, the same pipeline must run for every frame, so throughput matters.</a:t>
            </a:r>
          </a:p>
        </p:txBody>
      </p:sp>
      <p:sp>
        <p:nvSpPr>
          <p:cNvPr id="9" name="TextBox 9"/>
          <p:cNvSpPr txBox="1"/>
          <p:nvPr/>
        </p:nvSpPr>
        <p:spPr>
          <a:xfrm>
            <a:off x="14369089" y="5040155"/>
            <a:ext cx="3647677" cy="1423093"/>
          </a:xfrm>
          <a:prstGeom prst="rect">
            <a:avLst/>
          </a:prstGeom>
        </p:spPr>
        <p:txBody>
          <a:bodyPr lIns="0" tIns="0" rIns="0" bIns="0" rtlCol="0" anchor="t">
            <a:spAutoFit/>
          </a:bodyPr>
          <a:lstStyle/>
          <a:p>
            <a:pPr algn="l">
              <a:lnSpc>
                <a:spcPts val="2767"/>
              </a:lnSpc>
            </a:pPr>
            <a:r>
              <a:rPr lang="en-US" sz="2034" spc="-46">
                <a:solidFill>
                  <a:srgbClr val="FFFFFF"/>
                </a:solidFill>
                <a:latin typeface="Open Sauce Light"/>
                <a:ea typeface="Open Sauce Light"/>
                <a:cs typeface="Open Sauce Light"/>
                <a:sym typeface="Open Sauce Light"/>
              </a:rPr>
              <a:t>= 262,144 pixels</a:t>
            </a:r>
          </a:p>
          <a:p>
            <a:pPr algn="l">
              <a:lnSpc>
                <a:spcPts val="1815"/>
              </a:lnSpc>
            </a:pPr>
            <a:endParaRPr lang="en-US" sz="2034" spc="-46">
              <a:solidFill>
                <a:srgbClr val="FFFFFF"/>
              </a:solidFill>
              <a:latin typeface="Open Sauce Light"/>
              <a:ea typeface="Open Sauce Light"/>
              <a:cs typeface="Open Sauce Light"/>
              <a:sym typeface="Open Sauce Light"/>
            </a:endParaRPr>
          </a:p>
          <a:p>
            <a:pPr algn="l">
              <a:lnSpc>
                <a:spcPts val="2495"/>
              </a:lnSpc>
            </a:pPr>
            <a:r>
              <a:rPr lang="en-US" sz="1834" spc="-42">
                <a:solidFill>
                  <a:srgbClr val="FFFFFF"/>
                </a:solidFill>
                <a:latin typeface="Open Sauce Light"/>
                <a:ea typeface="Open Sauce Light"/>
                <a:cs typeface="Open Sauce Light"/>
                <a:sym typeface="Open Sauce Light"/>
              </a:rPr>
              <a:t>Many pixels can be mapped to GPU threads / tiles.</a:t>
            </a:r>
          </a:p>
          <a:p>
            <a:pPr algn="l">
              <a:lnSpc>
                <a:spcPts val="1815"/>
              </a:lnSpc>
            </a:pPr>
            <a:endParaRPr lang="en-US" sz="1834" spc="-42">
              <a:solidFill>
                <a:srgbClr val="FFFFFF"/>
              </a:solidFill>
              <a:latin typeface="Open Sauce Light"/>
              <a:ea typeface="Open Sauce Light"/>
              <a:cs typeface="Open Sauce Light"/>
              <a:sym typeface="Open Sauce Light"/>
            </a:endParaRPr>
          </a:p>
        </p:txBody>
      </p:sp>
      <p:sp>
        <p:nvSpPr>
          <p:cNvPr id="10" name="TextBox 10"/>
          <p:cNvSpPr txBox="1"/>
          <p:nvPr/>
        </p:nvSpPr>
        <p:spPr>
          <a:xfrm>
            <a:off x="273583" y="615319"/>
            <a:ext cx="17176950" cy="987171"/>
          </a:xfrm>
          <a:prstGeom prst="rect">
            <a:avLst/>
          </a:prstGeom>
        </p:spPr>
        <p:txBody>
          <a:bodyPr lIns="0" tIns="0" rIns="0" bIns="0" rtlCol="0" anchor="t">
            <a:spAutoFit/>
          </a:bodyPr>
          <a:lstStyle/>
          <a:p>
            <a:pPr algn="l">
              <a:lnSpc>
                <a:spcPts val="7721"/>
              </a:lnSpc>
            </a:pPr>
            <a:r>
              <a:rPr lang="en-US" sz="6599" b="1" spc="-277">
                <a:solidFill>
                  <a:srgbClr val="FFFFFF"/>
                </a:solidFill>
                <a:latin typeface="Open Sauce Bold"/>
                <a:ea typeface="Open Sauce Bold"/>
                <a:cs typeface="Open Sauce Bold"/>
                <a:sym typeface="Open Sauce Bold"/>
              </a:rPr>
              <a:t>Why Canny Fits Data-Parallel Execution？</a:t>
            </a:r>
          </a:p>
        </p:txBody>
      </p:sp>
      <p:sp>
        <p:nvSpPr>
          <p:cNvPr id="11" name="TextBox 11"/>
          <p:cNvSpPr txBox="1"/>
          <p:nvPr/>
        </p:nvSpPr>
        <p:spPr>
          <a:xfrm>
            <a:off x="15113254" y="4263452"/>
            <a:ext cx="2098364" cy="726826"/>
          </a:xfrm>
          <a:prstGeom prst="rect">
            <a:avLst/>
          </a:prstGeom>
        </p:spPr>
        <p:txBody>
          <a:bodyPr lIns="0" tIns="0" rIns="0" bIns="0" rtlCol="0" anchor="t">
            <a:spAutoFit/>
          </a:bodyPr>
          <a:lstStyle/>
          <a:p>
            <a:pPr algn="ctr">
              <a:lnSpc>
                <a:spcPts val="5926"/>
              </a:lnSpc>
              <a:spcBef>
                <a:spcPct val="0"/>
              </a:spcBef>
            </a:pPr>
            <a:r>
              <a:rPr lang="en-US" sz="4233" spc="-317">
                <a:solidFill>
                  <a:srgbClr val="6A367A"/>
                </a:solidFill>
                <a:latin typeface="Aileron"/>
                <a:ea typeface="Aileron"/>
                <a:cs typeface="Aileron"/>
                <a:sym typeface="Aileron"/>
              </a:rPr>
              <a:t>512 × 512</a:t>
            </a:r>
          </a:p>
        </p:txBody>
      </p:sp>
      <p:sp>
        <p:nvSpPr>
          <p:cNvPr id="12" name="TextBox 12"/>
          <p:cNvSpPr txBox="1"/>
          <p:nvPr/>
        </p:nvSpPr>
        <p:spPr>
          <a:xfrm>
            <a:off x="330733" y="1904021"/>
            <a:ext cx="7000637" cy="544577"/>
          </a:xfrm>
          <a:prstGeom prst="rect">
            <a:avLst/>
          </a:prstGeom>
        </p:spPr>
        <p:txBody>
          <a:bodyPr lIns="0" tIns="0" rIns="0" bIns="0" rtlCol="0" anchor="t">
            <a:spAutoFit/>
          </a:bodyPr>
          <a:lstStyle/>
          <a:p>
            <a:pPr marL="0" lvl="0" indent="0" algn="l">
              <a:lnSpc>
                <a:spcPts val="4351"/>
              </a:lnSpc>
              <a:spcBef>
                <a:spcPct val="0"/>
              </a:spcBef>
            </a:pPr>
            <a:r>
              <a:rPr lang="en-US" sz="3199" b="1" u="none" strike="noStrike" spc="-73">
                <a:solidFill>
                  <a:srgbClr val="FFFFFF"/>
                </a:solidFill>
                <a:latin typeface="Open Sauce Bold"/>
                <a:ea typeface="Open Sauce Bold"/>
                <a:cs typeface="Open Sauce Bold"/>
                <a:sym typeface="Open Sauce Bold"/>
              </a:rPr>
              <a:t>Key idea: pixel-level data parallelism</a:t>
            </a:r>
          </a:p>
        </p:txBody>
      </p:sp>
      <p:sp>
        <p:nvSpPr>
          <p:cNvPr id="13" name="TextBox 13"/>
          <p:cNvSpPr txBox="1"/>
          <p:nvPr/>
        </p:nvSpPr>
        <p:spPr>
          <a:xfrm>
            <a:off x="16780018" y="206363"/>
            <a:ext cx="1242179"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Grace Liu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3"/>
            <a:stretch>
              <a:fillRect t="-9222" b="-9222"/>
            </a:stretch>
          </a:blipFill>
        </p:spPr>
      </p:sp>
      <p:grpSp>
        <p:nvGrpSpPr>
          <p:cNvPr id="3" name="Group 3"/>
          <p:cNvGrpSpPr/>
          <p:nvPr/>
        </p:nvGrpSpPr>
        <p:grpSpPr>
          <a:xfrm>
            <a:off x="207863" y="2139468"/>
            <a:ext cx="9610565" cy="6829013"/>
            <a:chOff x="0" y="0"/>
            <a:chExt cx="2531178" cy="1798588"/>
          </a:xfrm>
        </p:grpSpPr>
        <p:sp>
          <p:nvSpPr>
            <p:cNvPr id="4" name="Freeform 4"/>
            <p:cNvSpPr/>
            <p:nvPr/>
          </p:nvSpPr>
          <p:spPr>
            <a:xfrm>
              <a:off x="0" y="0"/>
              <a:ext cx="2531178" cy="1798588"/>
            </a:xfrm>
            <a:custGeom>
              <a:avLst/>
              <a:gdLst/>
              <a:ahLst/>
              <a:cxnLst/>
              <a:rect l="l" t="t" r="r" b="b"/>
              <a:pathLst>
                <a:path w="2531178" h="1798588">
                  <a:moveTo>
                    <a:pt x="13695" y="0"/>
                  </a:moveTo>
                  <a:lnTo>
                    <a:pt x="2517483" y="0"/>
                  </a:lnTo>
                  <a:cubicBezTo>
                    <a:pt x="2521115" y="0"/>
                    <a:pt x="2524598" y="1443"/>
                    <a:pt x="2527167" y="4011"/>
                  </a:cubicBezTo>
                  <a:cubicBezTo>
                    <a:pt x="2529735" y="6579"/>
                    <a:pt x="2531178" y="10063"/>
                    <a:pt x="2531178" y="13695"/>
                  </a:cubicBezTo>
                  <a:lnTo>
                    <a:pt x="2531178" y="1784893"/>
                  </a:lnTo>
                  <a:cubicBezTo>
                    <a:pt x="2531178" y="1788525"/>
                    <a:pt x="2529735" y="1792008"/>
                    <a:pt x="2527167" y="1794577"/>
                  </a:cubicBezTo>
                  <a:cubicBezTo>
                    <a:pt x="2524598" y="1797145"/>
                    <a:pt x="2521115" y="1798588"/>
                    <a:pt x="2517483" y="1798588"/>
                  </a:cubicBezTo>
                  <a:lnTo>
                    <a:pt x="13695" y="1798588"/>
                  </a:lnTo>
                  <a:cubicBezTo>
                    <a:pt x="10063" y="1798588"/>
                    <a:pt x="6579" y="1797145"/>
                    <a:pt x="4011" y="1794577"/>
                  </a:cubicBezTo>
                  <a:cubicBezTo>
                    <a:pt x="1443" y="1792008"/>
                    <a:pt x="0" y="1788525"/>
                    <a:pt x="0" y="1784893"/>
                  </a:cubicBezTo>
                  <a:lnTo>
                    <a:pt x="0" y="13695"/>
                  </a:lnTo>
                  <a:cubicBezTo>
                    <a:pt x="0" y="10063"/>
                    <a:pt x="1443" y="6579"/>
                    <a:pt x="4011" y="4011"/>
                  </a:cubicBezTo>
                  <a:cubicBezTo>
                    <a:pt x="6579" y="1443"/>
                    <a:pt x="10063" y="0"/>
                    <a:pt x="13695" y="0"/>
                  </a:cubicBezTo>
                  <a:close/>
                </a:path>
              </a:pathLst>
            </a:custGeom>
            <a:solidFill>
              <a:srgbClr val="6A367A"/>
            </a:solidFill>
          </p:spPr>
        </p:sp>
        <p:sp>
          <p:nvSpPr>
            <p:cNvPr id="5" name="TextBox 5"/>
            <p:cNvSpPr txBox="1"/>
            <p:nvPr/>
          </p:nvSpPr>
          <p:spPr>
            <a:xfrm>
              <a:off x="0" y="-28575"/>
              <a:ext cx="2531178" cy="1827163"/>
            </a:xfrm>
            <a:prstGeom prst="rect">
              <a:avLst/>
            </a:prstGeom>
          </p:spPr>
          <p:txBody>
            <a:bodyPr lIns="50800" tIns="50800" rIns="50800" bIns="50800" rtlCol="0" anchor="ctr"/>
            <a:lstStyle/>
            <a:p>
              <a:pPr algn="ctr">
                <a:lnSpc>
                  <a:spcPts val="3140"/>
                </a:lnSpc>
              </a:pPr>
              <a:endParaRPr/>
            </a:p>
          </p:txBody>
        </p:sp>
      </p:grpSp>
      <p:graphicFrame>
        <p:nvGraphicFramePr>
          <p:cNvPr id="6" name="Table 6"/>
          <p:cNvGraphicFramePr>
            <a:graphicFrameLocks noGrp="1"/>
          </p:cNvGraphicFramePr>
          <p:nvPr/>
        </p:nvGraphicFramePr>
        <p:xfrm>
          <a:off x="10476950" y="1885319"/>
          <a:ext cx="7199678" cy="7124700"/>
        </p:xfrm>
        <a:graphic>
          <a:graphicData uri="http://schemas.openxmlformats.org/drawingml/2006/table">
            <a:tbl>
              <a:tblPr/>
              <a:tblGrid>
                <a:gridCol w="1752736">
                  <a:extLst>
                    <a:ext uri="{9D8B030D-6E8A-4147-A177-3AD203B41FA5}">
                      <a16:colId xmlns:a16="http://schemas.microsoft.com/office/drawing/2014/main" val="20000"/>
                    </a:ext>
                  </a:extLst>
                </a:gridCol>
                <a:gridCol w="3008338">
                  <a:extLst>
                    <a:ext uri="{9D8B030D-6E8A-4147-A177-3AD203B41FA5}">
                      <a16:colId xmlns:a16="http://schemas.microsoft.com/office/drawing/2014/main" val="20001"/>
                    </a:ext>
                  </a:extLst>
                </a:gridCol>
                <a:gridCol w="2438605">
                  <a:extLst>
                    <a:ext uri="{9D8B030D-6E8A-4147-A177-3AD203B41FA5}">
                      <a16:colId xmlns:a16="http://schemas.microsoft.com/office/drawing/2014/main" val="20002"/>
                    </a:ext>
                  </a:extLst>
                </a:gridCol>
              </a:tblGrid>
              <a:tr h="1129993">
                <a:tc>
                  <a:txBody>
                    <a:bodyPr/>
                    <a:lstStyle/>
                    <a:p>
                      <a:pPr algn="ctr">
                        <a:lnSpc>
                          <a:spcPts val="2708"/>
                        </a:lnSpc>
                        <a:defRPr/>
                      </a:pPr>
                      <a:r>
                        <a:rPr lang="en-US" sz="1934" b="1">
                          <a:solidFill>
                            <a:srgbClr val="FFFFFF"/>
                          </a:solidFill>
                          <a:latin typeface="Open Sauce Bold"/>
                          <a:ea typeface="Open Sauce Bold"/>
                          <a:cs typeface="Open Sauce Bold"/>
                          <a:sym typeface="Open Sauce Bold"/>
                        </a:rPr>
                        <a:t>Stage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b="1">
                          <a:solidFill>
                            <a:srgbClr val="FFFFFF"/>
                          </a:solidFill>
                          <a:latin typeface="Open Sauce Bold"/>
                          <a:ea typeface="Open Sauce Bold"/>
                          <a:cs typeface="Open Sauce Bold"/>
                          <a:sym typeface="Open Sauce Bold"/>
                        </a:rPr>
                        <a:t>Parallel pattern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b="1">
                          <a:solidFill>
                            <a:srgbClr val="FFFFFF"/>
                          </a:solidFill>
                          <a:latin typeface="Open Sauce Bold"/>
                          <a:ea typeface="Open Sauce Bold"/>
                          <a:cs typeface="Open Sauce Bold"/>
                          <a:sym typeface="Open Sauce Bold"/>
                        </a:rPr>
                        <a:t>GPU fit / our 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129993">
                <a:tc>
                  <a:txBody>
                    <a:bodyPr/>
                    <a:lstStyle/>
                    <a:p>
                      <a:pPr algn="ctr">
                        <a:lnSpc>
                          <a:spcPts val="2708"/>
                        </a:lnSpc>
                        <a:defRPr/>
                      </a:pPr>
                      <a:r>
                        <a:rPr lang="en-US" sz="1934">
                          <a:solidFill>
                            <a:srgbClr val="FFFFFF"/>
                          </a:solidFill>
                          <a:latin typeface="Open Sauce"/>
                          <a:ea typeface="Open Sauce"/>
                          <a:cs typeface="Open Sauce"/>
                          <a:sym typeface="Open Sauce"/>
                        </a:rPr>
                        <a:t>Gaussian blur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a:solidFill>
                            <a:srgbClr val="FFFFFF"/>
                          </a:solidFill>
                          <a:latin typeface="Open Sauce"/>
                          <a:ea typeface="Open Sauce"/>
                          <a:cs typeface="Open Sauce"/>
                          <a:sym typeface="Open Sauce"/>
                        </a:rPr>
                        <a:t> stencil / separable convolution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a:solidFill>
                            <a:srgbClr val="7ED957"/>
                          </a:solidFill>
                          <a:latin typeface="Open Sauce"/>
                          <a:ea typeface="Open Sauce"/>
                          <a:cs typeface="Open Sauce"/>
                          <a:sym typeface="Open Sauce"/>
                        </a:rPr>
                        <a:t>high</a:t>
                      </a:r>
                      <a:r>
                        <a:rPr lang="en-US" sz="1934">
                          <a:solidFill>
                            <a:srgbClr val="FFFFFF"/>
                          </a:solidFill>
                          <a:latin typeface="Open Sauce"/>
                          <a:ea typeface="Open Sauce"/>
                          <a:cs typeface="Open Sauce"/>
                          <a:sym typeface="Open Sauce"/>
                        </a:rPr>
                        <a:t> — GPU frontend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129993">
                <a:tc>
                  <a:txBody>
                    <a:bodyPr/>
                    <a:lstStyle/>
                    <a:p>
                      <a:pPr algn="ctr">
                        <a:lnSpc>
                          <a:spcPts val="2708"/>
                        </a:lnSpc>
                        <a:defRPr/>
                      </a:pPr>
                      <a:r>
                        <a:rPr lang="en-US" sz="1934">
                          <a:solidFill>
                            <a:srgbClr val="FFFFFF"/>
                          </a:solidFill>
                          <a:latin typeface="Open Sauce"/>
                          <a:ea typeface="Open Sauce"/>
                          <a:cs typeface="Open Sauce"/>
                          <a:sym typeface="Open Sauce"/>
                        </a:rPr>
                        <a:t>Sobel gradient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a:solidFill>
                            <a:srgbClr val="FFFFFF"/>
                          </a:solidFill>
                          <a:latin typeface="Open Sauce"/>
                          <a:ea typeface="Open Sauce"/>
                          <a:cs typeface="Open Sauce"/>
                          <a:sym typeface="Open Sauce"/>
                        </a:rPr>
                        <a:t> 3×3 stencil + magnitude/angle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a:solidFill>
                            <a:srgbClr val="7ED957"/>
                          </a:solidFill>
                          <a:latin typeface="Open Sauce"/>
                          <a:ea typeface="Open Sauce"/>
                          <a:cs typeface="Open Sauce"/>
                          <a:sym typeface="Open Sauce"/>
                        </a:rPr>
                        <a:t>high</a:t>
                      </a:r>
                      <a:r>
                        <a:rPr lang="en-US" sz="1934">
                          <a:solidFill>
                            <a:srgbClr val="FFFFFF"/>
                          </a:solidFill>
                          <a:latin typeface="Open Sauce"/>
                          <a:ea typeface="Open Sauce"/>
                          <a:cs typeface="Open Sauce"/>
                          <a:sym typeface="Open Sauce"/>
                        </a:rPr>
                        <a:t> — GPU frontend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474736">
                <a:tc>
                  <a:txBody>
                    <a:bodyPr/>
                    <a:lstStyle/>
                    <a:p>
                      <a:pPr algn="ctr">
                        <a:lnSpc>
                          <a:spcPts val="2708"/>
                        </a:lnSpc>
                        <a:defRPr/>
                      </a:pPr>
                      <a:r>
                        <a:rPr lang="en-US" sz="1934">
                          <a:solidFill>
                            <a:srgbClr val="FFFFFF"/>
                          </a:solidFill>
                          <a:latin typeface="Open Sauce"/>
                          <a:ea typeface="Open Sauce"/>
                          <a:cs typeface="Open Sauce"/>
                          <a:sym typeface="Open Sauce"/>
                        </a:rPr>
                        <a:t>NMS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a:solidFill>
                            <a:srgbClr val="FFFFFF"/>
                          </a:solidFill>
                          <a:latin typeface="Open Sauce"/>
                          <a:ea typeface="Open Sauce"/>
                          <a:cs typeface="Open Sauce"/>
                          <a:sym typeface="Open Sauce"/>
                        </a:rPr>
                        <a:t>neighbour comparison + branches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a:solidFill>
                            <a:srgbClr val="FFDE59"/>
                          </a:solidFill>
                          <a:latin typeface="Open Sauce"/>
                          <a:ea typeface="Open Sauce"/>
                          <a:cs typeface="Open Sauce"/>
                          <a:sym typeface="Open Sauce"/>
                        </a:rPr>
                        <a:t>medium-high</a:t>
                      </a:r>
                      <a:r>
                        <a:rPr lang="en-US" sz="1934">
                          <a:solidFill>
                            <a:srgbClr val="FFFFFF"/>
                          </a:solidFill>
                          <a:latin typeface="Open Sauce"/>
                          <a:ea typeface="Open Sauce"/>
                          <a:cs typeface="Open Sauce"/>
                          <a:sym typeface="Open Sauce"/>
                        </a:rPr>
                        <a:t> — GPU frontend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129993">
                <a:tc>
                  <a:txBody>
                    <a:bodyPr/>
                    <a:lstStyle/>
                    <a:p>
                      <a:pPr algn="ctr">
                        <a:lnSpc>
                          <a:spcPts val="2708"/>
                        </a:lnSpc>
                        <a:defRPr/>
                      </a:pPr>
                      <a:r>
                        <a:rPr lang="en-US" sz="1934">
                          <a:solidFill>
                            <a:srgbClr val="FFFFFF"/>
                          </a:solidFill>
                          <a:latin typeface="Open Sauce"/>
                          <a:ea typeface="Open Sauce"/>
                          <a:cs typeface="Open Sauce"/>
                          <a:sym typeface="Open Sauce"/>
                        </a:rPr>
                        <a:t>Double threshold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a:solidFill>
                            <a:srgbClr val="FFFFFF"/>
                          </a:solidFill>
                          <a:latin typeface="Open Sauce"/>
                          <a:ea typeface="Open Sauce"/>
                          <a:cs typeface="Open Sauce"/>
                          <a:sym typeface="Open Sauce"/>
                        </a:rPr>
                        <a:t>pixel-wise classification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a:solidFill>
                            <a:srgbClr val="7ED957"/>
                          </a:solidFill>
                          <a:latin typeface="Open Sauce"/>
                          <a:ea typeface="Open Sauce"/>
                          <a:cs typeface="Open Sauce"/>
                          <a:sym typeface="Open Sauce"/>
                        </a:rPr>
                        <a:t>high in theory</a:t>
                      </a:r>
                      <a:r>
                        <a:rPr lang="en-US" sz="1934">
                          <a:solidFill>
                            <a:srgbClr val="FFFFFF"/>
                          </a:solidFill>
                          <a:latin typeface="Open Sauce"/>
                          <a:ea typeface="Open Sauce"/>
                          <a:cs typeface="Open Sauce"/>
                          <a:sym typeface="Open Sauce"/>
                        </a:rPr>
                        <a:t>; </a:t>
                      </a:r>
                      <a:r>
                        <a:rPr lang="en-US" sz="1934">
                          <a:solidFill>
                            <a:srgbClr val="FF5757"/>
                          </a:solidFill>
                          <a:latin typeface="Open Sauce"/>
                          <a:ea typeface="Open Sauce"/>
                          <a:cs typeface="Open Sauce"/>
                          <a:sym typeface="Open Sauce"/>
                        </a:rPr>
                        <a:t>CPU</a:t>
                      </a:r>
                      <a:r>
                        <a:rPr lang="en-US" sz="1934">
                          <a:solidFill>
                            <a:srgbClr val="FFFFFF"/>
                          </a:solidFill>
                          <a:latin typeface="Open Sauce"/>
                          <a:ea typeface="Open Sauce"/>
                          <a:cs typeface="Open Sauce"/>
                          <a:sym typeface="Open Sauce"/>
                        </a:rPr>
                        <a:t> in our 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1129993">
                <a:tc>
                  <a:txBody>
                    <a:bodyPr/>
                    <a:lstStyle/>
                    <a:p>
                      <a:pPr algn="ctr">
                        <a:lnSpc>
                          <a:spcPts val="2708"/>
                        </a:lnSpc>
                        <a:defRPr/>
                      </a:pPr>
                      <a:r>
                        <a:rPr lang="en-US" sz="1934">
                          <a:solidFill>
                            <a:srgbClr val="FFFFFF"/>
                          </a:solidFill>
                          <a:latin typeface="Open Sauce"/>
                          <a:ea typeface="Open Sauce"/>
                          <a:cs typeface="Open Sauce"/>
                          <a:sym typeface="Open Sauce"/>
                        </a:rPr>
                        <a:t>Hysteresis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a:solidFill>
                            <a:srgbClr val="FFFFFF"/>
                          </a:solidFill>
                          <a:latin typeface="Open Sauce"/>
                          <a:ea typeface="Open Sauce"/>
                          <a:cs typeface="Open Sauce"/>
                          <a:sym typeface="Open Sauce"/>
                        </a:rPr>
                        <a:t>connectivity / graph-like propagation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708"/>
                        </a:lnSpc>
                        <a:defRPr/>
                      </a:pPr>
                      <a:r>
                        <a:rPr lang="en-US" sz="1934">
                          <a:solidFill>
                            <a:srgbClr val="FF5757"/>
                          </a:solidFill>
                          <a:latin typeface="Open Sauce"/>
                          <a:ea typeface="Open Sauce"/>
                          <a:cs typeface="Open Sauce"/>
                          <a:sym typeface="Open Sauce"/>
                        </a:rPr>
                        <a:t>hard</a:t>
                      </a:r>
                      <a:r>
                        <a:rPr lang="en-US" sz="1934">
                          <a:solidFill>
                            <a:srgbClr val="FFFFFF"/>
                          </a:solidFill>
                          <a:latin typeface="Open Sauce"/>
                          <a:ea typeface="Open Sauce"/>
                          <a:cs typeface="Open Sauce"/>
                          <a:sym typeface="Open Sauce"/>
                        </a:rPr>
                        <a:t>; </a:t>
                      </a:r>
                      <a:r>
                        <a:rPr lang="en-US" sz="1934">
                          <a:solidFill>
                            <a:srgbClr val="FF5757"/>
                          </a:solidFill>
                          <a:latin typeface="Open Sauce"/>
                          <a:ea typeface="Open Sauce"/>
                          <a:cs typeface="Open Sauce"/>
                          <a:sym typeface="Open Sauce"/>
                        </a:rPr>
                        <a:t>CPU</a:t>
                      </a:r>
                      <a:r>
                        <a:rPr lang="en-US" sz="1934">
                          <a:solidFill>
                            <a:srgbClr val="FFFFFF"/>
                          </a:solidFill>
                          <a:latin typeface="Open Sauce"/>
                          <a:ea typeface="Open Sauce"/>
                          <a:cs typeface="Open Sauce"/>
                          <a:sym typeface="Open Sauce"/>
                        </a:rPr>
                        <a:t> in our 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Box 7"/>
          <p:cNvSpPr txBox="1"/>
          <p:nvPr/>
        </p:nvSpPr>
        <p:spPr>
          <a:xfrm>
            <a:off x="273583" y="615319"/>
            <a:ext cx="17176950" cy="987171"/>
          </a:xfrm>
          <a:prstGeom prst="rect">
            <a:avLst/>
          </a:prstGeom>
        </p:spPr>
        <p:txBody>
          <a:bodyPr lIns="0" tIns="0" rIns="0" bIns="0" rtlCol="0" anchor="t">
            <a:spAutoFit/>
          </a:bodyPr>
          <a:lstStyle/>
          <a:p>
            <a:pPr algn="l">
              <a:lnSpc>
                <a:spcPts val="7721"/>
              </a:lnSpc>
            </a:pPr>
            <a:r>
              <a:rPr lang="en-US" sz="6599" b="1" spc="-277">
                <a:solidFill>
                  <a:srgbClr val="FFFFFF"/>
                </a:solidFill>
                <a:latin typeface="Open Sauce Bold"/>
                <a:ea typeface="Open Sauce Bold"/>
                <a:cs typeface="Open Sauce Bold"/>
                <a:sym typeface="Open Sauce Bold"/>
              </a:rPr>
              <a:t>Canny as a Parallel Program</a:t>
            </a:r>
          </a:p>
        </p:txBody>
      </p:sp>
      <p:sp>
        <p:nvSpPr>
          <p:cNvPr id="8" name="TextBox 8"/>
          <p:cNvSpPr txBox="1"/>
          <p:nvPr/>
        </p:nvSpPr>
        <p:spPr>
          <a:xfrm>
            <a:off x="318392" y="2353030"/>
            <a:ext cx="9446657" cy="6259013"/>
          </a:xfrm>
          <a:prstGeom prst="rect">
            <a:avLst/>
          </a:prstGeom>
        </p:spPr>
        <p:txBody>
          <a:bodyPr lIns="0" tIns="0" rIns="0" bIns="0" rtlCol="0" anchor="t">
            <a:spAutoFit/>
          </a:bodyPr>
          <a:lstStyle/>
          <a:p>
            <a:pPr algn="ctr">
              <a:lnSpc>
                <a:spcPts val="4228"/>
              </a:lnSpc>
              <a:spcBef>
                <a:spcPct val="0"/>
              </a:spcBef>
            </a:pPr>
            <a:r>
              <a:rPr lang="en-US" sz="3108" spc="-71">
                <a:solidFill>
                  <a:srgbClr val="FFFFFF"/>
                </a:solidFill>
                <a:latin typeface="Open Sauce Light"/>
                <a:ea typeface="Open Sauce Light"/>
                <a:cs typeface="Open Sauce Light"/>
                <a:sym typeface="Open Sauce Light"/>
              </a:rPr>
              <a:t>parallelisation process</a:t>
            </a:r>
          </a:p>
          <a:p>
            <a:pPr algn="l">
              <a:lnSpc>
                <a:spcPts val="3276"/>
              </a:lnSpc>
              <a:spcBef>
                <a:spcPct val="0"/>
              </a:spcBef>
            </a:pPr>
            <a:r>
              <a:rPr lang="en-US" sz="2408" spc="-55">
                <a:solidFill>
                  <a:srgbClr val="F199FF"/>
                </a:solidFill>
                <a:latin typeface="Open Sauce Light"/>
                <a:ea typeface="Open Sauce Light"/>
                <a:cs typeface="Open Sauce Light"/>
                <a:sym typeface="Open Sauce Light"/>
              </a:rPr>
              <a:t>Task decomposition</a:t>
            </a:r>
          </a:p>
          <a:p>
            <a:pPr algn="l">
              <a:lnSpc>
                <a:spcPts val="3276"/>
              </a:lnSpc>
              <a:spcBef>
                <a:spcPct val="0"/>
              </a:spcBef>
            </a:pPr>
            <a:r>
              <a:rPr lang="en-US" sz="2408" spc="-55">
                <a:solidFill>
                  <a:srgbClr val="FFFFFF"/>
                </a:solidFill>
                <a:latin typeface="Open Sauce Light"/>
                <a:ea typeface="Open Sauce Light"/>
                <a:cs typeface="Open Sauce Light"/>
                <a:sym typeface="Open Sauce Light"/>
              </a:rPr>
              <a:t>Image → pixels / tiles; pipeline → stages</a:t>
            </a:r>
          </a:p>
          <a:p>
            <a:pPr algn="l">
              <a:lnSpc>
                <a:spcPts val="3276"/>
              </a:lnSpc>
              <a:spcBef>
                <a:spcPct val="0"/>
              </a:spcBef>
            </a:pPr>
            <a:endParaRPr lang="en-US" sz="2408" spc="-55">
              <a:solidFill>
                <a:srgbClr val="FFFFFF"/>
              </a:solidFill>
              <a:latin typeface="Open Sauce Light"/>
              <a:ea typeface="Open Sauce Light"/>
              <a:cs typeface="Open Sauce Light"/>
              <a:sym typeface="Open Sauce Light"/>
            </a:endParaRPr>
          </a:p>
          <a:p>
            <a:pPr algn="l">
              <a:lnSpc>
                <a:spcPts val="3276"/>
              </a:lnSpc>
              <a:spcBef>
                <a:spcPct val="0"/>
              </a:spcBef>
            </a:pPr>
            <a:r>
              <a:rPr lang="en-US" sz="2408" spc="-55">
                <a:solidFill>
                  <a:srgbClr val="FFDE59"/>
                </a:solidFill>
                <a:latin typeface="Open Sauce Light"/>
                <a:ea typeface="Open Sauce Light"/>
                <a:cs typeface="Open Sauce Light"/>
                <a:sym typeface="Open Sauce Light"/>
              </a:rPr>
              <a:t>Dependence analysis</a:t>
            </a:r>
          </a:p>
          <a:p>
            <a:pPr algn="l">
              <a:lnSpc>
                <a:spcPts val="3276"/>
              </a:lnSpc>
              <a:spcBef>
                <a:spcPct val="0"/>
              </a:spcBef>
            </a:pPr>
            <a:r>
              <a:rPr lang="en-US" sz="2408" spc="-55">
                <a:solidFill>
                  <a:srgbClr val="FFFFFF"/>
                </a:solidFill>
                <a:latin typeface="Open Sauce Light"/>
                <a:ea typeface="Open Sauce Light"/>
                <a:cs typeface="Open Sauce Light"/>
                <a:sym typeface="Open Sauce Light"/>
              </a:rPr>
              <a:t>Gaussian/Sobel/NMS read neighbours, but outputs are independent.</a:t>
            </a:r>
          </a:p>
          <a:p>
            <a:pPr algn="l">
              <a:lnSpc>
                <a:spcPts val="3276"/>
              </a:lnSpc>
              <a:spcBef>
                <a:spcPct val="0"/>
              </a:spcBef>
            </a:pPr>
            <a:r>
              <a:rPr lang="en-US" sz="2408" spc="-55">
                <a:solidFill>
                  <a:srgbClr val="FFFFFF"/>
                </a:solidFill>
                <a:latin typeface="Open Sauce Light"/>
                <a:ea typeface="Open Sauce Light"/>
                <a:cs typeface="Open Sauce Light"/>
                <a:sym typeface="Open Sauce Light"/>
              </a:rPr>
              <a:t>Hysteresis has connectivity dependence.</a:t>
            </a:r>
          </a:p>
          <a:p>
            <a:pPr algn="l">
              <a:lnSpc>
                <a:spcPts val="3276"/>
              </a:lnSpc>
              <a:spcBef>
                <a:spcPct val="0"/>
              </a:spcBef>
            </a:pPr>
            <a:endParaRPr lang="en-US" sz="2408" spc="-55">
              <a:solidFill>
                <a:srgbClr val="FFFFFF"/>
              </a:solidFill>
              <a:latin typeface="Open Sauce Light"/>
              <a:ea typeface="Open Sauce Light"/>
              <a:cs typeface="Open Sauce Light"/>
              <a:sym typeface="Open Sauce Light"/>
            </a:endParaRPr>
          </a:p>
          <a:p>
            <a:pPr algn="l">
              <a:lnSpc>
                <a:spcPts val="3276"/>
              </a:lnSpc>
              <a:spcBef>
                <a:spcPct val="0"/>
              </a:spcBef>
            </a:pPr>
            <a:r>
              <a:rPr lang="en-US" sz="2408" spc="-55">
                <a:solidFill>
                  <a:srgbClr val="FF5757"/>
                </a:solidFill>
                <a:latin typeface="Open Sauce Light"/>
                <a:ea typeface="Open Sauce Light"/>
                <a:cs typeface="Open Sauce Light"/>
                <a:sym typeface="Open Sauce Light"/>
              </a:rPr>
              <a:t>Scheduling</a:t>
            </a:r>
          </a:p>
          <a:p>
            <a:pPr algn="l">
              <a:lnSpc>
                <a:spcPts val="3276"/>
              </a:lnSpc>
              <a:spcBef>
                <a:spcPct val="0"/>
              </a:spcBef>
            </a:pPr>
            <a:r>
              <a:rPr lang="en-US" sz="2408" spc="-55">
                <a:solidFill>
                  <a:srgbClr val="FFFFFF"/>
                </a:solidFill>
                <a:latin typeface="Open Sauce Light"/>
                <a:ea typeface="Open Sauce Light"/>
                <a:cs typeface="Open Sauce Light"/>
                <a:sym typeface="Open Sauce Light"/>
              </a:rPr>
              <a:t>Run suitable frontend stages on GPU;</a:t>
            </a:r>
          </a:p>
          <a:p>
            <a:pPr algn="l">
              <a:lnSpc>
                <a:spcPts val="3276"/>
              </a:lnSpc>
              <a:spcBef>
                <a:spcPct val="0"/>
              </a:spcBef>
            </a:pPr>
            <a:r>
              <a:rPr lang="en-US" sz="2408" spc="-55">
                <a:solidFill>
                  <a:srgbClr val="FFFFFF"/>
                </a:solidFill>
                <a:latin typeface="Open Sauce Light"/>
                <a:ea typeface="Open Sauce Light"/>
                <a:cs typeface="Open Sauce Light"/>
                <a:sym typeface="Open Sauce Light"/>
              </a:rPr>
              <a:t> keep intermediate data on GPU when possible.</a:t>
            </a:r>
          </a:p>
          <a:p>
            <a:pPr algn="l">
              <a:lnSpc>
                <a:spcPts val="3276"/>
              </a:lnSpc>
              <a:spcBef>
                <a:spcPct val="0"/>
              </a:spcBef>
            </a:pPr>
            <a:endParaRPr lang="en-US" sz="2408" spc="-55">
              <a:solidFill>
                <a:srgbClr val="FFFFFF"/>
              </a:solidFill>
              <a:latin typeface="Open Sauce Light"/>
              <a:ea typeface="Open Sauce Light"/>
              <a:cs typeface="Open Sauce Light"/>
              <a:sym typeface="Open Sauce Light"/>
            </a:endParaRPr>
          </a:p>
          <a:p>
            <a:pPr algn="l">
              <a:lnSpc>
                <a:spcPts val="3276"/>
              </a:lnSpc>
              <a:spcBef>
                <a:spcPct val="0"/>
              </a:spcBef>
            </a:pPr>
            <a:r>
              <a:rPr lang="en-US" sz="2408" spc="-55">
                <a:solidFill>
                  <a:srgbClr val="7ED957"/>
                </a:solidFill>
                <a:latin typeface="Open Sauce Light"/>
                <a:ea typeface="Open Sauce Light"/>
                <a:cs typeface="Open Sauce Light"/>
                <a:sym typeface="Open Sauce Light"/>
              </a:rPr>
              <a:t>Benchmarking</a:t>
            </a:r>
          </a:p>
          <a:p>
            <a:pPr algn="l">
              <a:lnSpc>
                <a:spcPts val="3276"/>
              </a:lnSpc>
              <a:spcBef>
                <a:spcPct val="0"/>
              </a:spcBef>
            </a:pPr>
            <a:r>
              <a:rPr lang="en-US" sz="2408" spc="-55">
                <a:solidFill>
                  <a:srgbClr val="FFFFFF"/>
                </a:solidFill>
                <a:latin typeface="Open Sauce Light"/>
                <a:ea typeface="Open Sauce Light"/>
                <a:cs typeface="Open Sauce Light"/>
                <a:sym typeface="Open Sauce Light"/>
              </a:rPr>
              <a:t>Compare CPU reference vs GPU versions;</a:t>
            </a:r>
          </a:p>
          <a:p>
            <a:pPr algn="l">
              <a:lnSpc>
                <a:spcPts val="3276"/>
              </a:lnSpc>
              <a:spcBef>
                <a:spcPct val="0"/>
              </a:spcBef>
            </a:pPr>
            <a:r>
              <a:rPr lang="en-US" sz="2408" spc="-55">
                <a:solidFill>
                  <a:srgbClr val="FFFFFF"/>
                </a:solidFill>
                <a:latin typeface="Open Sauce Light"/>
                <a:ea typeface="Open Sauce Light"/>
                <a:cs typeface="Open Sauce Light"/>
                <a:sym typeface="Open Sauce Light"/>
              </a:rPr>
              <a:t>separate compute-only time from transfer/end-to-end time.</a:t>
            </a:r>
          </a:p>
        </p:txBody>
      </p:sp>
      <p:sp>
        <p:nvSpPr>
          <p:cNvPr id="9" name="TextBox 9"/>
          <p:cNvSpPr txBox="1"/>
          <p:nvPr/>
        </p:nvSpPr>
        <p:spPr>
          <a:xfrm>
            <a:off x="12239461" y="1088217"/>
            <a:ext cx="3559135" cy="1051251"/>
          </a:xfrm>
          <a:prstGeom prst="rect">
            <a:avLst/>
          </a:prstGeom>
        </p:spPr>
        <p:txBody>
          <a:bodyPr lIns="0" tIns="0" rIns="0" bIns="0" rtlCol="0" anchor="t">
            <a:spAutoFit/>
          </a:bodyPr>
          <a:lstStyle/>
          <a:p>
            <a:pPr marL="0" lvl="0" indent="0" algn="ctr">
              <a:lnSpc>
                <a:spcPts val="4228"/>
              </a:lnSpc>
              <a:spcBef>
                <a:spcPct val="0"/>
              </a:spcBef>
            </a:pPr>
            <a:r>
              <a:rPr lang="en-US" sz="3108" u="none" strike="noStrike" spc="-71">
                <a:solidFill>
                  <a:srgbClr val="FFFFFF"/>
                </a:solidFill>
                <a:latin typeface="Open Sauce Light"/>
                <a:ea typeface="Open Sauce Light"/>
                <a:cs typeface="Open Sauce Light"/>
                <a:sym typeface="Open Sauce Light"/>
              </a:rPr>
              <a:t>Parallelism by stage</a:t>
            </a:r>
          </a:p>
          <a:p>
            <a:pPr marL="0" lvl="0" indent="0" algn="ctr">
              <a:lnSpc>
                <a:spcPts val="4228"/>
              </a:lnSpc>
              <a:spcBef>
                <a:spcPct val="0"/>
              </a:spcBef>
            </a:pPr>
            <a:endParaRPr lang="en-US" sz="3108" u="none" strike="noStrike" spc="-71">
              <a:solidFill>
                <a:srgbClr val="FFFFFF"/>
              </a:solidFill>
              <a:latin typeface="Open Sauce Light"/>
              <a:ea typeface="Open Sauce Light"/>
              <a:cs typeface="Open Sauce Light"/>
              <a:sym typeface="Open Sauce Light"/>
            </a:endParaRPr>
          </a:p>
        </p:txBody>
      </p:sp>
      <p:sp>
        <p:nvSpPr>
          <p:cNvPr id="10" name="TextBox 10"/>
          <p:cNvSpPr txBox="1"/>
          <p:nvPr/>
        </p:nvSpPr>
        <p:spPr>
          <a:xfrm>
            <a:off x="1253252" y="9267194"/>
            <a:ext cx="15648146" cy="762707"/>
          </a:xfrm>
          <a:prstGeom prst="rect">
            <a:avLst/>
          </a:prstGeom>
        </p:spPr>
        <p:txBody>
          <a:bodyPr lIns="0" tIns="0" rIns="0" bIns="0" rtlCol="0" anchor="t">
            <a:spAutoFit/>
          </a:bodyPr>
          <a:lstStyle/>
          <a:p>
            <a:pPr algn="ctr">
              <a:lnSpc>
                <a:spcPts val="3140"/>
              </a:lnSpc>
            </a:pPr>
            <a:r>
              <a:rPr lang="en-US" sz="2308" spc="-53">
                <a:gradFill>
                  <a:gsLst>
                    <a:gs pos="0">
                      <a:srgbClr val="FF5757">
                        <a:alpha val="100000"/>
                      </a:srgbClr>
                    </a:gs>
                    <a:gs pos="100000">
                      <a:srgbClr val="8C52FF">
                        <a:alpha val="100000"/>
                      </a:srgbClr>
                    </a:gs>
                  </a:gsLst>
                  <a:lin ang="0"/>
                </a:gradFill>
                <a:latin typeface="Open Sauce Light"/>
                <a:ea typeface="Open Sauce Light"/>
                <a:cs typeface="Open Sauce Light"/>
                <a:sym typeface="Open Sauce Light"/>
              </a:rPr>
              <a:t>Stage-level speedup ≠ full-pipeline speedup:</a:t>
            </a:r>
          </a:p>
          <a:p>
            <a:pPr algn="ctr">
              <a:lnSpc>
                <a:spcPts val="3140"/>
              </a:lnSpc>
              <a:spcBef>
                <a:spcPct val="0"/>
              </a:spcBef>
            </a:pPr>
            <a:r>
              <a:rPr lang="en-US" sz="2308" spc="-53">
                <a:gradFill>
                  <a:gsLst>
                    <a:gs pos="0">
                      <a:srgbClr val="FF5757">
                        <a:alpha val="100000"/>
                      </a:srgbClr>
                    </a:gs>
                    <a:gs pos="100000">
                      <a:srgbClr val="8C52FF">
                        <a:alpha val="100000"/>
                      </a:srgbClr>
                    </a:gs>
                  </a:gsLst>
                  <a:lin ang="0"/>
                </a:gradFill>
                <a:latin typeface="Open Sauce Light"/>
                <a:ea typeface="Open Sauce Light"/>
                <a:cs typeface="Open Sauce Light"/>
                <a:sym typeface="Open Sauce Light"/>
              </a:rPr>
              <a:t>end-to-end performance is limited by data transfer, kernel launch/synchronisation overhead, and CPU post-processing.</a:t>
            </a:r>
          </a:p>
        </p:txBody>
      </p:sp>
      <p:sp>
        <p:nvSpPr>
          <p:cNvPr id="11" name="TextBox 11"/>
          <p:cNvSpPr txBox="1"/>
          <p:nvPr/>
        </p:nvSpPr>
        <p:spPr>
          <a:xfrm>
            <a:off x="16780018" y="206363"/>
            <a:ext cx="1242179"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Grace Liu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463395" flipH="1">
            <a:off x="-1200863" y="-4604429"/>
            <a:ext cx="20689726" cy="19495858"/>
          </a:xfrm>
          <a:custGeom>
            <a:avLst/>
            <a:gdLst/>
            <a:ahLst/>
            <a:cxnLst/>
            <a:rect l="l" t="t" r="r" b="b"/>
            <a:pathLst>
              <a:path w="20689726" h="19495858">
                <a:moveTo>
                  <a:pt x="6465919" y="19495858"/>
                </a:moveTo>
                <a:lnTo>
                  <a:pt x="20689726" y="8000892"/>
                </a:lnTo>
                <a:lnTo>
                  <a:pt x="14223807" y="0"/>
                </a:lnTo>
                <a:lnTo>
                  <a:pt x="0" y="11494966"/>
                </a:lnTo>
                <a:lnTo>
                  <a:pt x="6465919" y="19495858"/>
                </a:lnTo>
                <a:close/>
              </a:path>
            </a:pathLst>
          </a:custGeom>
          <a:blipFill>
            <a:blip r:embed="rId3"/>
            <a:stretch>
              <a:fillRect l="-4483" r="-36949"/>
            </a:stretch>
          </a:blipFill>
        </p:spPr>
      </p:sp>
      <p:sp>
        <p:nvSpPr>
          <p:cNvPr id="3" name="Freeform 3"/>
          <p:cNvSpPr/>
          <p:nvPr/>
        </p:nvSpPr>
        <p:spPr>
          <a:xfrm rot="-5400000" flipV="1">
            <a:off x="-1411118" y="3130965"/>
            <a:ext cx="4029852" cy="1207616"/>
          </a:xfrm>
          <a:custGeom>
            <a:avLst/>
            <a:gdLst/>
            <a:ahLst/>
            <a:cxnLst/>
            <a:rect l="l" t="t" r="r" b="b"/>
            <a:pathLst>
              <a:path w="4029852" h="1207616">
                <a:moveTo>
                  <a:pt x="0" y="1207616"/>
                </a:moveTo>
                <a:lnTo>
                  <a:pt x="4029852" y="1207616"/>
                </a:lnTo>
                <a:lnTo>
                  <a:pt x="4029852" y="0"/>
                </a:lnTo>
                <a:lnTo>
                  <a:pt x="0" y="0"/>
                </a:lnTo>
                <a:lnTo>
                  <a:pt x="0" y="1207616"/>
                </a:lnTo>
                <a:close/>
              </a:path>
            </a:pathLst>
          </a:custGeom>
          <a:blipFill>
            <a:blip r:embed="rId4">
              <a:alphaModFix amt="56000"/>
            </a:blip>
            <a:stretch>
              <a:fillRect l="-25604" r="-25604"/>
            </a:stretch>
          </a:blipFill>
        </p:spPr>
      </p:sp>
      <p:grpSp>
        <p:nvGrpSpPr>
          <p:cNvPr id="4" name="Group 4"/>
          <p:cNvGrpSpPr/>
          <p:nvPr/>
        </p:nvGrpSpPr>
        <p:grpSpPr>
          <a:xfrm rot="-9278497">
            <a:off x="10451951" y="3721633"/>
            <a:ext cx="10178180" cy="1017818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id="6" name="TextBox 6"/>
            <p:cNvSpPr txBox="1"/>
            <p:nvPr/>
          </p:nvSpPr>
          <p:spPr>
            <a:xfrm>
              <a:off x="76200" y="819150"/>
              <a:ext cx="660400" cy="660400"/>
            </a:xfrm>
            <a:prstGeom prst="rect">
              <a:avLst/>
            </a:prstGeom>
          </p:spPr>
          <p:txBody>
            <a:bodyPr lIns="50800" tIns="50800" rIns="50800" bIns="50800" rtlCol="0" anchor="ctr"/>
            <a:lstStyle/>
            <a:p>
              <a:pPr marL="0" lvl="0" indent="0" algn="l">
                <a:lnSpc>
                  <a:spcPts val="19673"/>
                </a:lnSpc>
                <a:spcBef>
                  <a:spcPct val="0"/>
                </a:spcBef>
              </a:pPr>
              <a:endParaRPr/>
            </a:p>
          </p:txBody>
        </p:sp>
      </p:grpSp>
      <p:grpSp>
        <p:nvGrpSpPr>
          <p:cNvPr id="7" name="Group 7"/>
          <p:cNvGrpSpPr/>
          <p:nvPr/>
        </p:nvGrpSpPr>
        <p:grpSpPr>
          <a:xfrm rot="-9278497">
            <a:off x="12286055" y="5508827"/>
            <a:ext cx="6657413" cy="665741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id="9" name="TextBox 9"/>
            <p:cNvSpPr txBox="1"/>
            <p:nvPr/>
          </p:nvSpPr>
          <p:spPr>
            <a:xfrm>
              <a:off x="76200" y="161925"/>
              <a:ext cx="660400" cy="57467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10" name="Freeform 10"/>
          <p:cNvSpPr/>
          <p:nvPr/>
        </p:nvSpPr>
        <p:spPr>
          <a:xfrm rot="-10800000" flipV="1">
            <a:off x="10674391" y="4755717"/>
            <a:ext cx="6776142" cy="1342908"/>
          </a:xfrm>
          <a:custGeom>
            <a:avLst/>
            <a:gdLst/>
            <a:ahLst/>
            <a:cxnLst/>
            <a:rect l="l" t="t" r="r" b="b"/>
            <a:pathLst>
              <a:path w="6776142" h="1342908">
                <a:moveTo>
                  <a:pt x="0" y="1342908"/>
                </a:moveTo>
                <a:lnTo>
                  <a:pt x="6776142" y="1342908"/>
                </a:lnTo>
                <a:lnTo>
                  <a:pt x="6776142" y="0"/>
                </a:lnTo>
                <a:lnTo>
                  <a:pt x="0" y="0"/>
                </a:lnTo>
                <a:lnTo>
                  <a:pt x="0" y="1342908"/>
                </a:lnTo>
                <a:close/>
              </a:path>
            </a:pathLst>
          </a:custGeom>
          <a:blipFill>
            <a:blip r:embed="rId4">
              <a:alphaModFix amt="56000"/>
            </a:blip>
            <a:stretch>
              <a:fillRect/>
            </a:stretch>
          </a:blipFill>
        </p:spPr>
      </p:sp>
      <p:sp>
        <p:nvSpPr>
          <p:cNvPr id="11" name="Freeform 11"/>
          <p:cNvSpPr/>
          <p:nvPr/>
        </p:nvSpPr>
        <p:spPr>
          <a:xfrm>
            <a:off x="603808" y="2171061"/>
            <a:ext cx="4427975" cy="6805099"/>
          </a:xfrm>
          <a:custGeom>
            <a:avLst/>
            <a:gdLst/>
            <a:ahLst/>
            <a:cxnLst/>
            <a:rect l="l" t="t" r="r" b="b"/>
            <a:pathLst>
              <a:path w="4427975" h="6805099">
                <a:moveTo>
                  <a:pt x="0" y="0"/>
                </a:moveTo>
                <a:lnTo>
                  <a:pt x="4427975" y="0"/>
                </a:lnTo>
                <a:lnTo>
                  <a:pt x="4427975" y="6805099"/>
                </a:lnTo>
                <a:lnTo>
                  <a:pt x="0" y="6805099"/>
                </a:lnTo>
                <a:lnTo>
                  <a:pt x="0" y="0"/>
                </a:lnTo>
                <a:close/>
              </a:path>
            </a:pathLst>
          </a:custGeom>
          <a:blipFill>
            <a:blip r:embed="rId5"/>
            <a:stretch>
              <a:fillRect/>
            </a:stretch>
          </a:blipFill>
        </p:spPr>
      </p:sp>
      <p:sp>
        <p:nvSpPr>
          <p:cNvPr id="12" name="Freeform 12"/>
          <p:cNvSpPr/>
          <p:nvPr/>
        </p:nvSpPr>
        <p:spPr>
          <a:xfrm>
            <a:off x="5023111" y="5391443"/>
            <a:ext cx="1346354" cy="156066"/>
          </a:xfrm>
          <a:custGeom>
            <a:avLst/>
            <a:gdLst/>
            <a:ahLst/>
            <a:cxnLst/>
            <a:rect l="l" t="t" r="r" b="b"/>
            <a:pathLst>
              <a:path w="1346354" h="156066">
                <a:moveTo>
                  <a:pt x="0" y="0"/>
                </a:moveTo>
                <a:lnTo>
                  <a:pt x="1346354" y="0"/>
                </a:lnTo>
                <a:lnTo>
                  <a:pt x="1346354" y="156066"/>
                </a:lnTo>
                <a:lnTo>
                  <a:pt x="0" y="156066"/>
                </a:lnTo>
                <a:lnTo>
                  <a:pt x="0" y="0"/>
                </a:lnTo>
                <a:close/>
              </a:path>
            </a:pathLst>
          </a:custGeom>
          <a:blipFill>
            <a:blip r:embed="rId6"/>
            <a:stretch>
              <a:fillRect l="-9117" r="-9117"/>
            </a:stretch>
          </a:blipFill>
        </p:spPr>
      </p:sp>
      <p:sp>
        <p:nvSpPr>
          <p:cNvPr id="13" name="Freeform 13"/>
          <p:cNvSpPr/>
          <p:nvPr/>
        </p:nvSpPr>
        <p:spPr>
          <a:xfrm>
            <a:off x="5703442" y="2144959"/>
            <a:ext cx="4649374" cy="6805099"/>
          </a:xfrm>
          <a:custGeom>
            <a:avLst/>
            <a:gdLst/>
            <a:ahLst/>
            <a:cxnLst/>
            <a:rect l="l" t="t" r="r" b="b"/>
            <a:pathLst>
              <a:path w="4649374" h="6805099">
                <a:moveTo>
                  <a:pt x="0" y="0"/>
                </a:moveTo>
                <a:lnTo>
                  <a:pt x="4649375" y="0"/>
                </a:lnTo>
                <a:lnTo>
                  <a:pt x="4649375" y="6805099"/>
                </a:lnTo>
                <a:lnTo>
                  <a:pt x="0" y="6805099"/>
                </a:lnTo>
                <a:lnTo>
                  <a:pt x="0" y="0"/>
                </a:lnTo>
                <a:close/>
              </a:path>
            </a:pathLst>
          </a:custGeom>
          <a:blipFill>
            <a:blip r:embed="rId7"/>
            <a:stretch>
              <a:fillRect/>
            </a:stretch>
          </a:blipFill>
        </p:spPr>
      </p:sp>
      <p:sp>
        <p:nvSpPr>
          <p:cNvPr id="14" name="Freeform 14"/>
          <p:cNvSpPr/>
          <p:nvPr/>
        </p:nvSpPr>
        <p:spPr>
          <a:xfrm>
            <a:off x="12640741" y="2171061"/>
            <a:ext cx="5476706" cy="6805099"/>
          </a:xfrm>
          <a:custGeom>
            <a:avLst/>
            <a:gdLst/>
            <a:ahLst/>
            <a:cxnLst/>
            <a:rect l="l" t="t" r="r" b="b"/>
            <a:pathLst>
              <a:path w="5476706" h="6805099">
                <a:moveTo>
                  <a:pt x="0" y="0"/>
                </a:moveTo>
                <a:lnTo>
                  <a:pt x="5476706" y="0"/>
                </a:lnTo>
                <a:lnTo>
                  <a:pt x="5476706" y="6805099"/>
                </a:lnTo>
                <a:lnTo>
                  <a:pt x="0" y="6805099"/>
                </a:lnTo>
                <a:lnTo>
                  <a:pt x="0" y="0"/>
                </a:lnTo>
                <a:close/>
              </a:path>
            </a:pathLst>
          </a:custGeom>
          <a:blipFill>
            <a:blip r:embed="rId8"/>
            <a:stretch>
              <a:fillRect/>
            </a:stretch>
          </a:blipFill>
        </p:spPr>
      </p:sp>
      <p:sp>
        <p:nvSpPr>
          <p:cNvPr id="15" name="TextBox 15"/>
          <p:cNvSpPr txBox="1"/>
          <p:nvPr/>
        </p:nvSpPr>
        <p:spPr>
          <a:xfrm>
            <a:off x="515218" y="333140"/>
            <a:ext cx="15025822" cy="899410"/>
          </a:xfrm>
          <a:prstGeom prst="rect">
            <a:avLst/>
          </a:prstGeom>
        </p:spPr>
        <p:txBody>
          <a:bodyPr lIns="0" tIns="0" rIns="0" bIns="0" rtlCol="0" anchor="t">
            <a:spAutoFit/>
          </a:bodyPr>
          <a:lstStyle/>
          <a:p>
            <a:pPr algn="l">
              <a:lnSpc>
                <a:spcPts val="7096"/>
              </a:lnSpc>
            </a:pPr>
            <a:r>
              <a:rPr lang="en-US" sz="6065" b="1" spc="-254">
                <a:solidFill>
                  <a:srgbClr val="FFFFFF"/>
                </a:solidFill>
                <a:latin typeface="Open Sauce Bold"/>
                <a:ea typeface="Open Sauce Bold"/>
                <a:cs typeface="Open Sauce Bold"/>
                <a:sym typeface="Open Sauce Bold"/>
              </a:rPr>
              <a:t>Why GPU / cuTile-style Kernels?</a:t>
            </a:r>
          </a:p>
        </p:txBody>
      </p:sp>
      <p:sp>
        <p:nvSpPr>
          <p:cNvPr id="16" name="TextBox 16"/>
          <p:cNvSpPr txBox="1"/>
          <p:nvPr/>
        </p:nvSpPr>
        <p:spPr>
          <a:xfrm>
            <a:off x="16780018" y="206363"/>
            <a:ext cx="1242179"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Grace Liu</a:t>
            </a:r>
          </a:p>
        </p:txBody>
      </p:sp>
      <p:sp>
        <p:nvSpPr>
          <p:cNvPr id="17" name="Freeform 17"/>
          <p:cNvSpPr/>
          <p:nvPr/>
        </p:nvSpPr>
        <p:spPr>
          <a:xfrm>
            <a:off x="8762752" y="6098625"/>
            <a:ext cx="3459212" cy="3594867"/>
          </a:xfrm>
          <a:custGeom>
            <a:avLst/>
            <a:gdLst/>
            <a:ahLst/>
            <a:cxnLst/>
            <a:rect l="l" t="t" r="r" b="b"/>
            <a:pathLst>
              <a:path w="3459212" h="3594867">
                <a:moveTo>
                  <a:pt x="0" y="0"/>
                </a:moveTo>
                <a:lnTo>
                  <a:pt x="3459212" y="0"/>
                </a:lnTo>
                <a:lnTo>
                  <a:pt x="3459212" y="3594867"/>
                </a:lnTo>
                <a:lnTo>
                  <a:pt x="0" y="3594867"/>
                </a:lnTo>
                <a:lnTo>
                  <a:pt x="0" y="0"/>
                </a:lnTo>
                <a:close/>
              </a:path>
            </a:pathLst>
          </a:custGeom>
          <a:blipFill>
            <a:blip r:embed="rId9"/>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768940" flipV="1">
            <a:off x="-1315101" y="-4221648"/>
            <a:ext cx="20918202" cy="18730295"/>
          </a:xfrm>
          <a:custGeom>
            <a:avLst/>
            <a:gdLst/>
            <a:ahLst/>
            <a:cxnLst/>
            <a:rect l="l" t="t" r="r" b="b"/>
            <a:pathLst>
              <a:path w="20918202" h="18730295">
                <a:moveTo>
                  <a:pt x="15187984" y="0"/>
                </a:moveTo>
                <a:lnTo>
                  <a:pt x="0" y="10187054"/>
                </a:lnTo>
                <a:lnTo>
                  <a:pt x="5730218" y="18730296"/>
                </a:lnTo>
                <a:lnTo>
                  <a:pt x="20918202" y="8543242"/>
                </a:lnTo>
                <a:lnTo>
                  <a:pt x="15187984" y="0"/>
                </a:lnTo>
                <a:close/>
              </a:path>
            </a:pathLst>
          </a:custGeom>
          <a:blipFill>
            <a:blip r:embed="rId3"/>
            <a:stretch>
              <a:fillRect l="-2753" r="-31641"/>
            </a:stretch>
          </a:blipFill>
        </p:spPr>
      </p:sp>
      <p:grpSp>
        <p:nvGrpSpPr>
          <p:cNvPr id="3" name="Group 3"/>
          <p:cNvGrpSpPr/>
          <p:nvPr/>
        </p:nvGrpSpPr>
        <p:grpSpPr>
          <a:xfrm rot="-8457765">
            <a:off x="-425717" y="-9272866"/>
            <a:ext cx="19140231" cy="1914023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id="5" name="TextBox 5"/>
            <p:cNvSpPr txBox="1"/>
            <p:nvPr/>
          </p:nvSpPr>
          <p:spPr>
            <a:xfrm>
              <a:off x="76200" y="819150"/>
              <a:ext cx="660400" cy="660400"/>
            </a:xfrm>
            <a:prstGeom prst="rect">
              <a:avLst/>
            </a:prstGeom>
          </p:spPr>
          <p:txBody>
            <a:bodyPr lIns="50800" tIns="50800" rIns="50800" bIns="50800" rtlCol="0" anchor="ctr"/>
            <a:lstStyle/>
            <a:p>
              <a:pPr marL="0" lvl="0" indent="0" algn="l">
                <a:lnSpc>
                  <a:spcPts val="19673"/>
                </a:lnSpc>
                <a:spcBef>
                  <a:spcPct val="0"/>
                </a:spcBef>
              </a:pPr>
              <a:endParaRPr/>
            </a:p>
          </p:txBody>
        </p:sp>
      </p:grpSp>
      <p:grpSp>
        <p:nvGrpSpPr>
          <p:cNvPr id="6" name="Group 6"/>
          <p:cNvGrpSpPr/>
          <p:nvPr/>
        </p:nvGrpSpPr>
        <p:grpSpPr>
          <a:xfrm rot="-8457765">
            <a:off x="2179269" y="-6474057"/>
            <a:ext cx="13929461" cy="1392946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id="8" name="TextBox 8"/>
            <p:cNvSpPr txBox="1"/>
            <p:nvPr/>
          </p:nvSpPr>
          <p:spPr>
            <a:xfrm>
              <a:off x="76200" y="161925"/>
              <a:ext cx="660400" cy="574675"/>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9" name="Group 9"/>
          <p:cNvGrpSpPr/>
          <p:nvPr/>
        </p:nvGrpSpPr>
        <p:grpSpPr>
          <a:xfrm>
            <a:off x="1027276" y="3319910"/>
            <a:ext cx="4871842" cy="6017049"/>
            <a:chOff x="0" y="0"/>
            <a:chExt cx="1833774" cy="2264833"/>
          </a:xfrm>
        </p:grpSpPr>
        <p:sp>
          <p:nvSpPr>
            <p:cNvPr id="10" name="Freeform 10"/>
            <p:cNvSpPr/>
            <p:nvPr/>
          </p:nvSpPr>
          <p:spPr>
            <a:xfrm>
              <a:off x="0" y="0"/>
              <a:ext cx="1833774" cy="2264833"/>
            </a:xfrm>
            <a:custGeom>
              <a:avLst/>
              <a:gdLst/>
              <a:ahLst/>
              <a:cxnLst/>
              <a:rect l="l" t="t" r="r" b="b"/>
              <a:pathLst>
                <a:path w="1833774" h="2264833">
                  <a:moveTo>
                    <a:pt x="81045" y="0"/>
                  </a:moveTo>
                  <a:lnTo>
                    <a:pt x="1752729" y="0"/>
                  </a:lnTo>
                  <a:cubicBezTo>
                    <a:pt x="1797489" y="0"/>
                    <a:pt x="1833774" y="36285"/>
                    <a:pt x="1833774" y="81045"/>
                  </a:cubicBezTo>
                  <a:lnTo>
                    <a:pt x="1833774" y="2183788"/>
                  </a:lnTo>
                  <a:cubicBezTo>
                    <a:pt x="1833774" y="2228548"/>
                    <a:pt x="1797489" y="2264833"/>
                    <a:pt x="1752729" y="2264833"/>
                  </a:cubicBezTo>
                  <a:lnTo>
                    <a:pt x="81045" y="2264833"/>
                  </a:lnTo>
                  <a:cubicBezTo>
                    <a:pt x="36285" y="2264833"/>
                    <a:pt x="0" y="2228548"/>
                    <a:pt x="0" y="2183788"/>
                  </a:cubicBezTo>
                  <a:lnTo>
                    <a:pt x="0" y="81045"/>
                  </a:lnTo>
                  <a:cubicBezTo>
                    <a:pt x="0" y="36285"/>
                    <a:pt x="36285" y="0"/>
                    <a:pt x="81045" y="0"/>
                  </a:cubicBezTo>
                  <a:close/>
                </a:path>
              </a:pathLst>
            </a:custGeom>
            <a:gradFill rotWithShape="1">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id="11" name="TextBox 11"/>
            <p:cNvSpPr txBox="1"/>
            <p:nvPr/>
          </p:nvSpPr>
          <p:spPr>
            <a:xfrm>
              <a:off x="0" y="85725"/>
              <a:ext cx="1833774" cy="2179108"/>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12" name="Group 12"/>
          <p:cNvGrpSpPr/>
          <p:nvPr/>
        </p:nvGrpSpPr>
        <p:grpSpPr>
          <a:xfrm>
            <a:off x="6708743" y="3319910"/>
            <a:ext cx="4871842" cy="6017049"/>
            <a:chOff x="0" y="0"/>
            <a:chExt cx="1833774" cy="2264833"/>
          </a:xfrm>
        </p:grpSpPr>
        <p:sp>
          <p:nvSpPr>
            <p:cNvPr id="13" name="Freeform 13"/>
            <p:cNvSpPr/>
            <p:nvPr/>
          </p:nvSpPr>
          <p:spPr>
            <a:xfrm>
              <a:off x="0" y="0"/>
              <a:ext cx="1833774" cy="2264833"/>
            </a:xfrm>
            <a:custGeom>
              <a:avLst/>
              <a:gdLst/>
              <a:ahLst/>
              <a:cxnLst/>
              <a:rect l="l" t="t" r="r" b="b"/>
              <a:pathLst>
                <a:path w="1833774" h="2264833">
                  <a:moveTo>
                    <a:pt x="81045" y="0"/>
                  </a:moveTo>
                  <a:lnTo>
                    <a:pt x="1752729" y="0"/>
                  </a:lnTo>
                  <a:cubicBezTo>
                    <a:pt x="1797489" y="0"/>
                    <a:pt x="1833774" y="36285"/>
                    <a:pt x="1833774" y="81045"/>
                  </a:cubicBezTo>
                  <a:lnTo>
                    <a:pt x="1833774" y="2183788"/>
                  </a:lnTo>
                  <a:cubicBezTo>
                    <a:pt x="1833774" y="2228548"/>
                    <a:pt x="1797489" y="2264833"/>
                    <a:pt x="1752729" y="2264833"/>
                  </a:cubicBezTo>
                  <a:lnTo>
                    <a:pt x="81045" y="2264833"/>
                  </a:lnTo>
                  <a:cubicBezTo>
                    <a:pt x="36285" y="2264833"/>
                    <a:pt x="0" y="2228548"/>
                    <a:pt x="0" y="2183788"/>
                  </a:cubicBezTo>
                  <a:lnTo>
                    <a:pt x="0" y="81045"/>
                  </a:lnTo>
                  <a:cubicBezTo>
                    <a:pt x="0" y="36285"/>
                    <a:pt x="36285" y="0"/>
                    <a:pt x="81045" y="0"/>
                  </a:cubicBezTo>
                  <a:close/>
                </a:path>
              </a:pathLst>
            </a:custGeom>
            <a:gradFill rotWithShape="1">
              <a:gsLst>
                <a:gs pos="0">
                  <a:srgbClr val="F5B4FF">
                    <a:alpha val="100000"/>
                  </a:srgbClr>
                </a:gs>
                <a:gs pos="100000">
                  <a:srgbClr val="E393EF">
                    <a:alpha val="100000"/>
                  </a:srgbClr>
                </a:gs>
              </a:gsLst>
              <a:lin ang="0"/>
            </a:gradFill>
            <a:ln w="19050" cap="rnd">
              <a:solidFill>
                <a:srgbClr val="FFFFFF"/>
              </a:solidFill>
              <a:prstDash val="solid"/>
              <a:round/>
            </a:ln>
          </p:spPr>
        </p:sp>
        <p:sp>
          <p:nvSpPr>
            <p:cNvPr id="14" name="TextBox 14"/>
            <p:cNvSpPr txBox="1"/>
            <p:nvPr/>
          </p:nvSpPr>
          <p:spPr>
            <a:xfrm>
              <a:off x="0" y="85725"/>
              <a:ext cx="1833774" cy="2179108"/>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15" name="Group 15"/>
          <p:cNvGrpSpPr/>
          <p:nvPr/>
        </p:nvGrpSpPr>
        <p:grpSpPr>
          <a:xfrm>
            <a:off x="12388787" y="3319910"/>
            <a:ext cx="4870513" cy="6017049"/>
            <a:chOff x="0" y="0"/>
            <a:chExt cx="1833274" cy="2264833"/>
          </a:xfrm>
        </p:grpSpPr>
        <p:sp>
          <p:nvSpPr>
            <p:cNvPr id="16" name="Freeform 16"/>
            <p:cNvSpPr/>
            <p:nvPr/>
          </p:nvSpPr>
          <p:spPr>
            <a:xfrm>
              <a:off x="0" y="0"/>
              <a:ext cx="1833274" cy="2264833"/>
            </a:xfrm>
            <a:custGeom>
              <a:avLst/>
              <a:gdLst/>
              <a:ahLst/>
              <a:cxnLst/>
              <a:rect l="l" t="t" r="r" b="b"/>
              <a:pathLst>
                <a:path w="1833274" h="2264833">
                  <a:moveTo>
                    <a:pt x="81067" y="0"/>
                  </a:moveTo>
                  <a:lnTo>
                    <a:pt x="1752207" y="0"/>
                  </a:lnTo>
                  <a:cubicBezTo>
                    <a:pt x="1773707" y="0"/>
                    <a:pt x="1794327" y="8541"/>
                    <a:pt x="1809530" y="23744"/>
                  </a:cubicBezTo>
                  <a:cubicBezTo>
                    <a:pt x="1824733" y="38947"/>
                    <a:pt x="1833274" y="59567"/>
                    <a:pt x="1833274" y="81067"/>
                  </a:cubicBezTo>
                  <a:lnTo>
                    <a:pt x="1833274" y="2183766"/>
                  </a:lnTo>
                  <a:cubicBezTo>
                    <a:pt x="1833274" y="2205266"/>
                    <a:pt x="1824733" y="2225886"/>
                    <a:pt x="1809530" y="2241089"/>
                  </a:cubicBezTo>
                  <a:cubicBezTo>
                    <a:pt x="1794327" y="2256292"/>
                    <a:pt x="1773707" y="2264833"/>
                    <a:pt x="1752207" y="2264833"/>
                  </a:cubicBezTo>
                  <a:lnTo>
                    <a:pt x="81067" y="2264833"/>
                  </a:lnTo>
                  <a:cubicBezTo>
                    <a:pt x="59567" y="2264833"/>
                    <a:pt x="38947" y="2256292"/>
                    <a:pt x="23744" y="2241089"/>
                  </a:cubicBezTo>
                  <a:cubicBezTo>
                    <a:pt x="8541" y="2225886"/>
                    <a:pt x="0" y="2205266"/>
                    <a:pt x="0" y="2183766"/>
                  </a:cubicBezTo>
                  <a:lnTo>
                    <a:pt x="0" y="81067"/>
                  </a:lnTo>
                  <a:cubicBezTo>
                    <a:pt x="0" y="59567"/>
                    <a:pt x="8541" y="38947"/>
                    <a:pt x="23744" y="23744"/>
                  </a:cubicBezTo>
                  <a:cubicBezTo>
                    <a:pt x="38947" y="8541"/>
                    <a:pt x="59567" y="0"/>
                    <a:pt x="81067" y="0"/>
                  </a:cubicBezTo>
                  <a:close/>
                </a:path>
              </a:pathLst>
            </a:custGeom>
            <a:gradFill rotWithShape="1">
              <a:gsLst>
                <a:gs pos="0">
                  <a:srgbClr val="9245C4">
                    <a:alpha val="100000"/>
                  </a:srgbClr>
                </a:gs>
                <a:gs pos="100000">
                  <a:srgbClr val="AD64DD">
                    <a:alpha val="100000"/>
                  </a:srgbClr>
                </a:gs>
              </a:gsLst>
              <a:lin ang="0"/>
            </a:gradFill>
            <a:ln w="19050" cap="rnd">
              <a:solidFill>
                <a:srgbClr val="FFFFFF"/>
              </a:solidFill>
              <a:prstDash val="solid"/>
              <a:round/>
            </a:ln>
          </p:spPr>
        </p:sp>
        <p:sp>
          <p:nvSpPr>
            <p:cNvPr id="17" name="TextBox 17"/>
            <p:cNvSpPr txBox="1"/>
            <p:nvPr/>
          </p:nvSpPr>
          <p:spPr>
            <a:xfrm>
              <a:off x="0" y="85725"/>
              <a:ext cx="1833274" cy="2179108"/>
            </a:xfrm>
            <a:prstGeom prst="rect">
              <a:avLst/>
            </a:prstGeom>
          </p:spPr>
          <p:txBody>
            <a:bodyPr lIns="50800" tIns="50800" rIns="50800" bIns="50800" rtlCol="0" anchor="ctr"/>
            <a:lstStyle/>
            <a:p>
              <a:pPr marL="0" lvl="0" indent="0" algn="ctr">
                <a:lnSpc>
                  <a:spcPts val="2218"/>
                </a:lnSpc>
                <a:spcBef>
                  <a:spcPct val="0"/>
                </a:spcBef>
              </a:pPr>
              <a:endParaRPr/>
            </a:p>
          </p:txBody>
        </p:sp>
      </p:grpSp>
      <p:graphicFrame>
        <p:nvGraphicFramePr>
          <p:cNvPr id="18" name="Table 18"/>
          <p:cNvGraphicFramePr>
            <a:graphicFrameLocks noGrp="1"/>
          </p:cNvGraphicFramePr>
          <p:nvPr/>
        </p:nvGraphicFramePr>
        <p:xfrm>
          <a:off x="1483991" y="4432749"/>
          <a:ext cx="4070822" cy="4446940"/>
        </p:xfrm>
        <a:graphic>
          <a:graphicData uri="http://schemas.openxmlformats.org/drawingml/2006/table">
            <a:tbl>
              <a:tblPr/>
              <a:tblGrid>
                <a:gridCol w="2266568">
                  <a:extLst>
                    <a:ext uri="{9D8B030D-6E8A-4147-A177-3AD203B41FA5}">
                      <a16:colId xmlns:a16="http://schemas.microsoft.com/office/drawing/2014/main" val="20000"/>
                    </a:ext>
                  </a:extLst>
                </a:gridCol>
              </a:tblGrid>
              <a:tr h="889388">
                <a:tc>
                  <a:txBody>
                    <a:bodyPr/>
                    <a:lstStyle/>
                    <a:p>
                      <a:pPr algn="ctr">
                        <a:lnSpc>
                          <a:spcPts val="2252"/>
                        </a:lnSpc>
                        <a:defRPr/>
                      </a:pPr>
                      <a:r>
                        <a:rPr lang="en-US" sz="1608" b="1">
                          <a:solidFill>
                            <a:srgbClr val="0E0637"/>
                          </a:solidFill>
                          <a:latin typeface="Open Sauce Bold"/>
                          <a:ea typeface="Open Sauce Bold"/>
                          <a:cs typeface="Open Sauce Bold"/>
                          <a:sym typeface="Open Sauce Bold"/>
                        </a:rPr>
                        <a:t>scipy.ndimage Gaussian</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89388">
                <a:tc>
                  <a:txBody>
                    <a:bodyPr/>
                    <a:lstStyle/>
                    <a:p>
                      <a:pPr algn="ctr">
                        <a:lnSpc>
                          <a:spcPts val="2252"/>
                        </a:lnSpc>
                        <a:defRPr/>
                      </a:pPr>
                      <a:r>
                        <a:rPr lang="en-US" sz="1608" b="1">
                          <a:solidFill>
                            <a:srgbClr val="0E0637"/>
                          </a:solidFill>
                          <a:latin typeface="Open Sauce Bold"/>
                          <a:ea typeface="Open Sauce Bold"/>
                          <a:cs typeface="Open Sauce Bold"/>
                          <a:sym typeface="Open Sauce Bold"/>
                        </a:rPr>
                        <a:t>NumPy Sobel gradients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89388">
                <a:tc>
                  <a:txBody>
                    <a:bodyPr/>
                    <a:lstStyle/>
                    <a:p>
                      <a:pPr algn="ctr">
                        <a:lnSpc>
                          <a:spcPts val="2252"/>
                        </a:lnSpc>
                        <a:defRPr/>
                      </a:pPr>
                      <a:r>
                        <a:rPr lang="en-US" sz="1608" b="1">
                          <a:solidFill>
                            <a:srgbClr val="0E0637"/>
                          </a:solidFill>
                          <a:latin typeface="Open Sauce Bold"/>
                          <a:ea typeface="Open Sauce Bold"/>
                          <a:cs typeface="Open Sauce Bold"/>
                          <a:sym typeface="Open Sauce Bold"/>
                        </a:rPr>
                        <a:t>Python NMS loop</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89388">
                <a:tc>
                  <a:txBody>
                    <a:bodyPr/>
                    <a:lstStyle/>
                    <a:p>
                      <a:pPr algn="ctr">
                        <a:lnSpc>
                          <a:spcPts val="2252"/>
                        </a:lnSpc>
                        <a:defRPr/>
                      </a:pPr>
                      <a:r>
                        <a:rPr lang="en-US" sz="1608" b="1">
                          <a:solidFill>
                            <a:srgbClr val="0E0637"/>
                          </a:solidFill>
                          <a:latin typeface="Open Sauce Bold"/>
                          <a:ea typeface="Open Sauce Bold"/>
                          <a:cs typeface="Open Sauce Bold"/>
                          <a:sym typeface="Open Sauce Bold"/>
                        </a:rPr>
                        <a:t>CV2 hysteresis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89388">
                <a:tc>
                  <a:txBody>
                    <a:bodyPr/>
                    <a:lstStyle/>
                    <a:p>
                      <a:pPr algn="ctr">
                        <a:lnSpc>
                          <a:spcPts val="2252"/>
                        </a:lnSpc>
                        <a:defRPr/>
                      </a:pPr>
                      <a:r>
                        <a:rPr lang="en-US" sz="1608" b="1">
                          <a:solidFill>
                            <a:srgbClr val="0E0637"/>
                          </a:solidFill>
                          <a:latin typeface="Open Sauce Bold"/>
                          <a:ea typeface="Open Sauce Bold"/>
                          <a:cs typeface="Open Sauce Bold"/>
                          <a:sym typeface="Open Sauce Bold"/>
                        </a:rPr>
                        <a:t>Reference for correctness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9" name="Table 19"/>
          <p:cNvGraphicFramePr>
            <a:graphicFrameLocks noGrp="1"/>
          </p:cNvGraphicFramePr>
          <p:nvPr/>
        </p:nvGraphicFramePr>
        <p:xfrm>
          <a:off x="7109253" y="4511408"/>
          <a:ext cx="4070822" cy="4446940"/>
        </p:xfrm>
        <a:graphic>
          <a:graphicData uri="http://schemas.openxmlformats.org/drawingml/2006/table">
            <a:tbl>
              <a:tblPr/>
              <a:tblGrid>
                <a:gridCol w="2266568">
                  <a:extLst>
                    <a:ext uri="{9D8B030D-6E8A-4147-A177-3AD203B41FA5}">
                      <a16:colId xmlns:a16="http://schemas.microsoft.com/office/drawing/2014/main" val="20000"/>
                    </a:ext>
                  </a:extLst>
                </a:gridCol>
              </a:tblGrid>
              <a:tr h="889388">
                <a:tc>
                  <a:txBody>
                    <a:bodyPr/>
                    <a:lstStyle/>
                    <a:p>
                      <a:pPr algn="ctr">
                        <a:lnSpc>
                          <a:spcPts val="2252"/>
                        </a:lnSpc>
                        <a:defRPr/>
                      </a:pPr>
                      <a:r>
                        <a:rPr lang="en-US" sz="1608" b="1">
                          <a:solidFill>
                            <a:srgbClr val="000000"/>
                          </a:solidFill>
                          <a:latin typeface="Open Sauce Bold"/>
                          <a:ea typeface="Open Sauce Bold"/>
                          <a:cs typeface="Open Sauce Bold"/>
                          <a:sym typeface="Open Sauce Bold"/>
                        </a:rPr>
                        <a:t>cp.convolve Gaussian</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89388">
                <a:tc>
                  <a:txBody>
                    <a:bodyPr/>
                    <a:lstStyle/>
                    <a:p>
                      <a:pPr algn="ctr">
                        <a:lnSpc>
                          <a:spcPts val="2252"/>
                        </a:lnSpc>
                        <a:defRPr/>
                      </a:pPr>
                      <a:r>
                        <a:rPr lang="en-US" sz="1608" b="1">
                          <a:solidFill>
                            <a:srgbClr val="000000"/>
                          </a:solidFill>
                          <a:latin typeface="Open Sauce Bold"/>
                          <a:ea typeface="Open Sauce Bold"/>
                          <a:cs typeface="Open Sauce Bold"/>
                          <a:sym typeface="Open Sauce Bold"/>
                        </a:rPr>
                        <a:t>CuPy Sobel arrays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89388">
                <a:tc>
                  <a:txBody>
                    <a:bodyPr/>
                    <a:lstStyle/>
                    <a:p>
                      <a:pPr algn="ctr">
                        <a:lnSpc>
                          <a:spcPts val="2252"/>
                        </a:lnSpc>
                        <a:defRPr/>
                      </a:pPr>
                      <a:r>
                        <a:rPr lang="en-US" sz="1608" b="1">
                          <a:solidFill>
                            <a:srgbClr val="000000"/>
                          </a:solidFill>
                          <a:latin typeface="Open Sauce Bold"/>
                          <a:ea typeface="Open Sauce Bold"/>
                          <a:cs typeface="Open Sauce Bold"/>
                          <a:sym typeface="Open Sauce Bold"/>
                        </a:rPr>
                        <a:t>CuPy NMS (vectorised)</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89388">
                <a:tc>
                  <a:txBody>
                    <a:bodyPr/>
                    <a:lstStyle/>
                    <a:p>
                      <a:pPr algn="ctr">
                        <a:lnSpc>
                          <a:spcPts val="2252"/>
                        </a:lnSpc>
                        <a:defRPr/>
                      </a:pPr>
                      <a:r>
                        <a:rPr lang="en-US" sz="1608" b="1">
                          <a:solidFill>
                            <a:srgbClr val="000000"/>
                          </a:solidFill>
                          <a:latin typeface="Open Sauce Bold"/>
                          <a:ea typeface="Open Sauce Bold"/>
                          <a:cs typeface="Open Sauce Bold"/>
                          <a:sym typeface="Open Sauce Bold"/>
                        </a:rPr>
                        <a:t>CPU post-processing</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89388">
                <a:tc>
                  <a:txBody>
                    <a:bodyPr/>
                    <a:lstStyle/>
                    <a:p>
                      <a:pPr algn="ctr">
                        <a:lnSpc>
                          <a:spcPts val="2252"/>
                        </a:lnSpc>
                        <a:defRPr/>
                      </a:pPr>
                      <a:r>
                        <a:rPr lang="en-US" sz="1608" b="1">
                          <a:solidFill>
                            <a:srgbClr val="000000"/>
                          </a:solidFill>
                          <a:latin typeface="Open Sauce Bold"/>
                          <a:ea typeface="Open Sauce Bold"/>
                          <a:cs typeface="Open Sauce Bold"/>
                          <a:sym typeface="Open Sauce Bold"/>
                        </a:rPr>
                        <a:t>10.64× faster blur</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20" name="Table 20"/>
          <p:cNvGraphicFramePr>
            <a:graphicFrameLocks noGrp="1"/>
          </p:cNvGraphicFramePr>
          <p:nvPr/>
        </p:nvGraphicFramePr>
        <p:xfrm>
          <a:off x="12790260" y="4432749"/>
          <a:ext cx="4070822" cy="4446940"/>
        </p:xfrm>
        <a:graphic>
          <a:graphicData uri="http://schemas.openxmlformats.org/drawingml/2006/table">
            <a:tbl>
              <a:tblPr/>
              <a:tblGrid>
                <a:gridCol w="2266568">
                  <a:extLst>
                    <a:ext uri="{9D8B030D-6E8A-4147-A177-3AD203B41FA5}">
                      <a16:colId xmlns:a16="http://schemas.microsoft.com/office/drawing/2014/main" val="20000"/>
                    </a:ext>
                  </a:extLst>
                </a:gridCol>
              </a:tblGrid>
              <a:tr h="889388">
                <a:tc>
                  <a:txBody>
                    <a:bodyPr/>
                    <a:lstStyle/>
                    <a:p>
                      <a:pPr algn="ctr">
                        <a:lnSpc>
                          <a:spcPts val="2252"/>
                        </a:lnSpc>
                        <a:defRPr/>
                      </a:pPr>
                      <a:r>
                        <a:rPr lang="en-US" sz="1608" b="1">
                          <a:solidFill>
                            <a:srgbClr val="FFFFFF"/>
                          </a:solidFill>
                          <a:latin typeface="Open Sauce Bold"/>
                          <a:ea typeface="Open Sauce Bold"/>
                          <a:cs typeface="Open Sauce Bold"/>
                          <a:sym typeface="Open Sauce Bold"/>
                        </a:rPr>
                        <a:t>Tile-based Gaussian</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89388">
                <a:tc>
                  <a:txBody>
                    <a:bodyPr/>
                    <a:lstStyle/>
                    <a:p>
                      <a:pPr algn="ctr">
                        <a:lnSpc>
                          <a:spcPts val="2252"/>
                        </a:lnSpc>
                        <a:defRPr/>
                      </a:pPr>
                      <a:r>
                        <a:rPr lang="en-US" sz="1608" b="1">
                          <a:solidFill>
                            <a:srgbClr val="FFFFFF"/>
                          </a:solidFill>
                          <a:latin typeface="Open Sauce Bold"/>
                          <a:ea typeface="Open Sauce Bold"/>
                          <a:cs typeface="Open Sauce Bold"/>
                          <a:sym typeface="Open Sauce Bold"/>
                        </a:rPr>
                        <a:t>cuTile Sobel kernel</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89388">
                <a:tc>
                  <a:txBody>
                    <a:bodyPr/>
                    <a:lstStyle/>
                    <a:p>
                      <a:pPr algn="ctr">
                        <a:lnSpc>
                          <a:spcPts val="2252"/>
                        </a:lnSpc>
                        <a:defRPr/>
                      </a:pPr>
                      <a:r>
                        <a:rPr lang="en-US" sz="1608" b="1">
                          <a:solidFill>
                            <a:srgbClr val="FFFFFF"/>
                          </a:solidFill>
                          <a:latin typeface="Open Sauce Bold"/>
                          <a:ea typeface="Open Sauce Bold"/>
                          <a:cs typeface="Open Sauce Bold"/>
                          <a:sym typeface="Open Sauce Bold"/>
                        </a:rPr>
                        <a:t>cuTile NMS kernel</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89388">
                <a:tc>
                  <a:txBody>
                    <a:bodyPr/>
                    <a:lstStyle/>
                    <a:p>
                      <a:pPr algn="ctr">
                        <a:lnSpc>
                          <a:spcPts val="2252"/>
                        </a:lnSpc>
                        <a:defRPr/>
                      </a:pPr>
                      <a:r>
                        <a:rPr lang="en-US" sz="1608" b="1">
                          <a:solidFill>
                            <a:srgbClr val="FFFFFF"/>
                          </a:solidFill>
                          <a:latin typeface="Open Sauce Bold"/>
                          <a:ea typeface="Open Sauce Bold"/>
                          <a:cs typeface="Open Sauce Bold"/>
                          <a:sym typeface="Open Sauce Bold"/>
                        </a:rPr>
                        <a:t>Full GPU pipeline</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89388">
                <a:tc>
                  <a:txBody>
                    <a:bodyPr/>
                    <a:lstStyle/>
                    <a:p>
                      <a:pPr algn="ctr">
                        <a:lnSpc>
                          <a:spcPts val="2252"/>
                        </a:lnSpc>
                        <a:defRPr/>
                      </a:pPr>
                      <a:r>
                        <a:rPr lang="en-US" sz="1608" b="1">
                          <a:solidFill>
                            <a:srgbClr val="FFFFFF"/>
                          </a:solidFill>
                          <a:latin typeface="Open Sauce Bold"/>
                          <a:ea typeface="Open Sauce Bold"/>
                          <a:cs typeface="Open Sauce Bold"/>
                          <a:sym typeface="Open Sauce Bold"/>
                        </a:rPr>
                        <a:t>Requires sm_80+</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21" name="Group 21"/>
          <p:cNvGrpSpPr/>
          <p:nvPr/>
        </p:nvGrpSpPr>
        <p:grpSpPr>
          <a:xfrm>
            <a:off x="1485414" y="1635652"/>
            <a:ext cx="15375668" cy="1584161"/>
            <a:chOff x="0" y="0"/>
            <a:chExt cx="5787442" cy="596282"/>
          </a:xfrm>
        </p:grpSpPr>
        <p:sp>
          <p:nvSpPr>
            <p:cNvPr id="22" name="Freeform 22"/>
            <p:cNvSpPr/>
            <p:nvPr/>
          </p:nvSpPr>
          <p:spPr>
            <a:xfrm>
              <a:off x="0" y="0"/>
              <a:ext cx="5787442" cy="596282"/>
            </a:xfrm>
            <a:custGeom>
              <a:avLst/>
              <a:gdLst/>
              <a:ahLst/>
              <a:cxnLst/>
              <a:rect l="l" t="t" r="r" b="b"/>
              <a:pathLst>
                <a:path w="5787442" h="596282">
                  <a:moveTo>
                    <a:pt x="25679" y="0"/>
                  </a:moveTo>
                  <a:lnTo>
                    <a:pt x="5761763" y="0"/>
                  </a:lnTo>
                  <a:cubicBezTo>
                    <a:pt x="5775945" y="0"/>
                    <a:pt x="5787442" y="11497"/>
                    <a:pt x="5787442" y="25679"/>
                  </a:cubicBezTo>
                  <a:lnTo>
                    <a:pt x="5787442" y="570603"/>
                  </a:lnTo>
                  <a:cubicBezTo>
                    <a:pt x="5787442" y="584785"/>
                    <a:pt x="5775945" y="596282"/>
                    <a:pt x="5761763" y="596282"/>
                  </a:cubicBezTo>
                  <a:lnTo>
                    <a:pt x="25679" y="596282"/>
                  </a:lnTo>
                  <a:cubicBezTo>
                    <a:pt x="11497" y="596282"/>
                    <a:pt x="0" y="584785"/>
                    <a:pt x="0" y="570603"/>
                  </a:cubicBezTo>
                  <a:lnTo>
                    <a:pt x="0" y="25679"/>
                  </a:lnTo>
                  <a:cubicBezTo>
                    <a:pt x="0" y="11497"/>
                    <a:pt x="11497" y="0"/>
                    <a:pt x="25679" y="0"/>
                  </a:cubicBezTo>
                  <a:close/>
                </a:path>
              </a:pathLst>
            </a:custGeom>
            <a:gradFill rotWithShape="1">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id="23" name="TextBox 23"/>
            <p:cNvSpPr txBox="1"/>
            <p:nvPr/>
          </p:nvSpPr>
          <p:spPr>
            <a:xfrm>
              <a:off x="0" y="-95250"/>
              <a:ext cx="5787442" cy="691532"/>
            </a:xfrm>
            <a:prstGeom prst="rect">
              <a:avLst/>
            </a:prstGeom>
          </p:spPr>
          <p:txBody>
            <a:bodyPr lIns="50800" tIns="50800" rIns="50800" bIns="50800" rtlCol="0" anchor="ctr"/>
            <a:lstStyle/>
            <a:p>
              <a:pPr algn="ctr">
                <a:lnSpc>
                  <a:spcPts val="4018"/>
                </a:lnSpc>
              </a:pPr>
              <a:r>
                <a:rPr lang="en-US" sz="2609" spc="-195">
                  <a:solidFill>
                    <a:srgbClr val="FFFFFF"/>
                  </a:solidFill>
                  <a:latin typeface="Canva Sans"/>
                  <a:ea typeface="Canva Sans"/>
                  <a:cs typeface="Canva Sans"/>
                  <a:sym typeface="Canva Sans"/>
                </a:rPr>
                <a:t>⚠  cuTile requires Ampere/Ada/Blackwell GPU (sm_80+). GTX 1050 Ti (Pascal, sm_61) uses CuPy fallback</a:t>
              </a:r>
            </a:p>
            <a:p>
              <a:pPr marL="0" lvl="0" indent="0" algn="ctr">
                <a:lnSpc>
                  <a:spcPts val="4018"/>
                </a:lnSpc>
              </a:pPr>
              <a:r>
                <a:rPr lang="en-US" sz="2609" spc="-195">
                  <a:solidFill>
                    <a:srgbClr val="FFFFFF"/>
                  </a:solidFill>
                  <a:latin typeface="Canva Sans"/>
                  <a:ea typeface="Canva Sans"/>
                  <a:cs typeface="Canva Sans"/>
                  <a:sym typeface="Canva Sans"/>
                </a:rPr>
                <a:t>Three implementations corresponding to different parallel models</a:t>
              </a:r>
            </a:p>
          </p:txBody>
        </p:sp>
      </p:grpSp>
      <p:sp>
        <p:nvSpPr>
          <p:cNvPr id="24" name="Freeform 24"/>
          <p:cNvSpPr/>
          <p:nvPr/>
        </p:nvSpPr>
        <p:spPr>
          <a:xfrm>
            <a:off x="7475836" y="9098928"/>
            <a:ext cx="3527189" cy="476062"/>
          </a:xfrm>
          <a:custGeom>
            <a:avLst/>
            <a:gdLst/>
            <a:ahLst/>
            <a:cxnLst/>
            <a:rect l="l" t="t" r="r" b="b"/>
            <a:pathLst>
              <a:path w="3527189" h="476062">
                <a:moveTo>
                  <a:pt x="0" y="0"/>
                </a:moveTo>
                <a:lnTo>
                  <a:pt x="3527190" y="0"/>
                </a:lnTo>
                <a:lnTo>
                  <a:pt x="3527190" y="476063"/>
                </a:lnTo>
                <a:lnTo>
                  <a:pt x="0" y="476063"/>
                </a:lnTo>
                <a:lnTo>
                  <a:pt x="0" y="0"/>
                </a:lnTo>
                <a:close/>
              </a:path>
            </a:pathLst>
          </a:custGeom>
          <a:blipFill>
            <a:blip r:embed="rId4"/>
            <a:stretch>
              <a:fillRect/>
            </a:stretch>
          </a:blipFill>
        </p:spPr>
      </p:sp>
      <p:sp>
        <p:nvSpPr>
          <p:cNvPr id="25" name="Freeform 25"/>
          <p:cNvSpPr/>
          <p:nvPr/>
        </p:nvSpPr>
        <p:spPr>
          <a:xfrm>
            <a:off x="12969690" y="9084731"/>
            <a:ext cx="3711962" cy="490259"/>
          </a:xfrm>
          <a:custGeom>
            <a:avLst/>
            <a:gdLst/>
            <a:ahLst/>
            <a:cxnLst/>
            <a:rect l="l" t="t" r="r" b="b"/>
            <a:pathLst>
              <a:path w="3711962" h="490259">
                <a:moveTo>
                  <a:pt x="0" y="0"/>
                </a:moveTo>
                <a:lnTo>
                  <a:pt x="3711962" y="0"/>
                </a:lnTo>
                <a:lnTo>
                  <a:pt x="3711962" y="490260"/>
                </a:lnTo>
                <a:lnTo>
                  <a:pt x="0" y="490260"/>
                </a:lnTo>
                <a:lnTo>
                  <a:pt x="0" y="0"/>
                </a:lnTo>
                <a:close/>
              </a:path>
            </a:pathLst>
          </a:custGeom>
          <a:blipFill>
            <a:blip r:embed="rId5"/>
            <a:stretch>
              <a:fillRect/>
            </a:stretch>
          </a:blipFill>
        </p:spPr>
      </p:sp>
      <p:sp>
        <p:nvSpPr>
          <p:cNvPr id="26" name="Freeform 26"/>
          <p:cNvSpPr/>
          <p:nvPr/>
        </p:nvSpPr>
        <p:spPr>
          <a:xfrm>
            <a:off x="1700363" y="9034560"/>
            <a:ext cx="3525668" cy="540431"/>
          </a:xfrm>
          <a:custGeom>
            <a:avLst/>
            <a:gdLst/>
            <a:ahLst/>
            <a:cxnLst/>
            <a:rect l="l" t="t" r="r" b="b"/>
            <a:pathLst>
              <a:path w="3525668" h="540431">
                <a:moveTo>
                  <a:pt x="0" y="0"/>
                </a:moveTo>
                <a:lnTo>
                  <a:pt x="3525669" y="0"/>
                </a:lnTo>
                <a:lnTo>
                  <a:pt x="3525669" y="540431"/>
                </a:lnTo>
                <a:lnTo>
                  <a:pt x="0" y="540431"/>
                </a:lnTo>
                <a:lnTo>
                  <a:pt x="0" y="0"/>
                </a:lnTo>
                <a:close/>
              </a:path>
            </a:pathLst>
          </a:custGeom>
          <a:blipFill>
            <a:blip r:embed="rId6"/>
            <a:stretch>
              <a:fillRect/>
            </a:stretch>
          </a:blipFill>
        </p:spPr>
      </p:sp>
      <p:sp>
        <p:nvSpPr>
          <p:cNvPr id="27" name="TextBox 27"/>
          <p:cNvSpPr txBox="1"/>
          <p:nvPr/>
        </p:nvSpPr>
        <p:spPr>
          <a:xfrm>
            <a:off x="1485414" y="316299"/>
            <a:ext cx="15317172" cy="1319353"/>
          </a:xfrm>
          <a:prstGeom prst="rect">
            <a:avLst/>
          </a:prstGeom>
        </p:spPr>
        <p:txBody>
          <a:bodyPr lIns="0" tIns="0" rIns="0" bIns="0" rtlCol="0" anchor="t">
            <a:spAutoFit/>
          </a:bodyPr>
          <a:lstStyle/>
          <a:p>
            <a:pPr algn="ctr">
              <a:lnSpc>
                <a:spcPts val="10280"/>
              </a:lnSpc>
            </a:pPr>
            <a:r>
              <a:rPr lang="en-US" sz="8786" b="1" spc="-369">
                <a:solidFill>
                  <a:srgbClr val="FFFFFF"/>
                </a:solidFill>
                <a:latin typeface="Open Sauce Bold"/>
                <a:ea typeface="Open Sauce Bold"/>
                <a:cs typeface="Open Sauce Bold"/>
                <a:sym typeface="Open Sauce Bold"/>
              </a:rPr>
              <a:t>Implementation</a:t>
            </a:r>
          </a:p>
        </p:txBody>
      </p:sp>
      <p:sp>
        <p:nvSpPr>
          <p:cNvPr id="28" name="TextBox 28"/>
          <p:cNvSpPr txBox="1"/>
          <p:nvPr/>
        </p:nvSpPr>
        <p:spPr>
          <a:xfrm>
            <a:off x="1756360" y="3655929"/>
            <a:ext cx="2282418" cy="381381"/>
          </a:xfrm>
          <a:prstGeom prst="rect">
            <a:avLst/>
          </a:prstGeom>
        </p:spPr>
        <p:txBody>
          <a:bodyPr lIns="0" tIns="0" rIns="0" bIns="0" rtlCol="0" anchor="t">
            <a:spAutoFit/>
          </a:bodyPr>
          <a:lstStyle/>
          <a:p>
            <a:pPr algn="l">
              <a:lnSpc>
                <a:spcPts val="3041"/>
              </a:lnSpc>
            </a:pPr>
            <a:r>
              <a:rPr lang="en-US" sz="2599" b="1" spc="-109">
                <a:solidFill>
                  <a:srgbClr val="0E0637"/>
                </a:solidFill>
                <a:latin typeface="Open Sauce Bold"/>
                <a:ea typeface="Open Sauce Bold"/>
                <a:cs typeface="Open Sauce Bold"/>
                <a:sym typeface="Open Sauce Bold"/>
              </a:rPr>
              <a:t>CPU Baseline</a:t>
            </a:r>
          </a:p>
        </p:txBody>
      </p:sp>
      <p:sp>
        <p:nvSpPr>
          <p:cNvPr id="29" name="TextBox 29"/>
          <p:cNvSpPr txBox="1"/>
          <p:nvPr/>
        </p:nvSpPr>
        <p:spPr>
          <a:xfrm>
            <a:off x="13065741" y="3655929"/>
            <a:ext cx="2282418" cy="381381"/>
          </a:xfrm>
          <a:prstGeom prst="rect">
            <a:avLst/>
          </a:prstGeom>
        </p:spPr>
        <p:txBody>
          <a:bodyPr lIns="0" tIns="0" rIns="0" bIns="0" rtlCol="0" anchor="t">
            <a:spAutoFit/>
          </a:bodyPr>
          <a:lstStyle/>
          <a:p>
            <a:pPr algn="l">
              <a:lnSpc>
                <a:spcPts val="3041"/>
              </a:lnSpc>
            </a:pPr>
            <a:r>
              <a:rPr lang="en-US" sz="2599" b="1" spc="-109">
                <a:solidFill>
                  <a:srgbClr val="FFFFFF"/>
                </a:solidFill>
                <a:latin typeface="Open Sauce Bold"/>
                <a:ea typeface="Open Sauce Bold"/>
                <a:cs typeface="Open Sauce Bold"/>
                <a:sym typeface="Open Sauce Bold"/>
              </a:rPr>
              <a:t>cuTile GPU</a:t>
            </a:r>
          </a:p>
        </p:txBody>
      </p:sp>
      <p:sp>
        <p:nvSpPr>
          <p:cNvPr id="30" name="TextBox 30"/>
          <p:cNvSpPr txBox="1"/>
          <p:nvPr/>
        </p:nvSpPr>
        <p:spPr>
          <a:xfrm>
            <a:off x="7137234" y="3734588"/>
            <a:ext cx="2282418" cy="381381"/>
          </a:xfrm>
          <a:prstGeom prst="rect">
            <a:avLst/>
          </a:prstGeom>
        </p:spPr>
        <p:txBody>
          <a:bodyPr lIns="0" tIns="0" rIns="0" bIns="0" rtlCol="0" anchor="t">
            <a:spAutoFit/>
          </a:bodyPr>
          <a:lstStyle/>
          <a:p>
            <a:pPr algn="l">
              <a:lnSpc>
                <a:spcPts val="3041"/>
              </a:lnSpc>
            </a:pPr>
            <a:r>
              <a:rPr lang="en-US" sz="2599" b="1" spc="-109">
                <a:solidFill>
                  <a:srgbClr val="0E0637"/>
                </a:solidFill>
                <a:latin typeface="Open Sauce Bold"/>
                <a:ea typeface="Open Sauce Bold"/>
                <a:cs typeface="Open Sauce Bold"/>
                <a:sym typeface="Open Sauce Bold"/>
              </a:rPr>
              <a:t>CuPy GPU</a:t>
            </a:r>
          </a:p>
        </p:txBody>
      </p:sp>
      <p:sp>
        <p:nvSpPr>
          <p:cNvPr id="31" name="TextBox 31"/>
          <p:cNvSpPr txBox="1"/>
          <p:nvPr/>
        </p:nvSpPr>
        <p:spPr>
          <a:xfrm>
            <a:off x="461647" y="3956779"/>
            <a:ext cx="4871842" cy="398535"/>
          </a:xfrm>
          <a:prstGeom prst="rect">
            <a:avLst/>
          </a:prstGeom>
        </p:spPr>
        <p:txBody>
          <a:bodyPr lIns="0" tIns="0" rIns="0" bIns="0" rtlCol="0" anchor="t">
            <a:spAutoFit/>
          </a:bodyPr>
          <a:lstStyle/>
          <a:p>
            <a:pPr algn="ctr">
              <a:lnSpc>
                <a:spcPts val="3233"/>
              </a:lnSpc>
              <a:spcBef>
                <a:spcPct val="0"/>
              </a:spcBef>
            </a:pPr>
            <a:r>
              <a:rPr lang="en-US" sz="2309" spc="-173">
                <a:solidFill>
                  <a:srgbClr val="0E0637"/>
                </a:solidFill>
                <a:latin typeface="Aileron"/>
                <a:ea typeface="Aileron"/>
                <a:cs typeface="Aileron"/>
                <a:sym typeface="Aileron"/>
              </a:rPr>
              <a:t>Pure NumPy/Python</a:t>
            </a:r>
          </a:p>
        </p:txBody>
      </p:sp>
      <p:sp>
        <p:nvSpPr>
          <p:cNvPr id="32" name="TextBox 32"/>
          <p:cNvSpPr txBox="1"/>
          <p:nvPr/>
        </p:nvSpPr>
        <p:spPr>
          <a:xfrm>
            <a:off x="7206811" y="3984684"/>
            <a:ext cx="2338908" cy="448065"/>
          </a:xfrm>
          <a:prstGeom prst="rect">
            <a:avLst/>
          </a:prstGeom>
        </p:spPr>
        <p:txBody>
          <a:bodyPr lIns="0" tIns="0" rIns="0" bIns="0" rtlCol="0" anchor="t">
            <a:spAutoFit/>
          </a:bodyPr>
          <a:lstStyle/>
          <a:p>
            <a:pPr algn="ctr">
              <a:lnSpc>
                <a:spcPts val="3653"/>
              </a:lnSpc>
              <a:spcBef>
                <a:spcPct val="0"/>
              </a:spcBef>
            </a:pPr>
            <a:r>
              <a:rPr lang="en-US" sz="2609" spc="-195">
                <a:solidFill>
                  <a:srgbClr val="000000"/>
                </a:solidFill>
                <a:latin typeface="Canva Sans"/>
                <a:ea typeface="Canva Sans"/>
                <a:cs typeface="Canva Sans"/>
                <a:sym typeface="Canva Sans"/>
              </a:rPr>
              <a:t>GPU-accelerated</a:t>
            </a:r>
          </a:p>
        </p:txBody>
      </p:sp>
      <p:sp>
        <p:nvSpPr>
          <p:cNvPr id="33" name="TextBox 33"/>
          <p:cNvSpPr txBox="1"/>
          <p:nvPr/>
        </p:nvSpPr>
        <p:spPr>
          <a:xfrm>
            <a:off x="13065741" y="3907249"/>
            <a:ext cx="2882503" cy="448065"/>
          </a:xfrm>
          <a:prstGeom prst="rect">
            <a:avLst/>
          </a:prstGeom>
        </p:spPr>
        <p:txBody>
          <a:bodyPr lIns="0" tIns="0" rIns="0" bIns="0" rtlCol="0" anchor="t">
            <a:spAutoFit/>
          </a:bodyPr>
          <a:lstStyle/>
          <a:p>
            <a:pPr algn="ctr">
              <a:lnSpc>
                <a:spcPts val="3653"/>
              </a:lnSpc>
              <a:spcBef>
                <a:spcPct val="0"/>
              </a:spcBef>
            </a:pPr>
            <a:r>
              <a:rPr lang="en-US" sz="2609" spc="-195">
                <a:solidFill>
                  <a:srgbClr val="FFFFFF"/>
                </a:solidFill>
                <a:latin typeface="Canva Sans"/>
                <a:ea typeface="Canva Sans"/>
                <a:cs typeface="Canva Sans"/>
                <a:sym typeface="Canva Sans"/>
              </a:rPr>
              <a:t>Tile-based (Ampere+)</a:t>
            </a:r>
          </a:p>
        </p:txBody>
      </p:sp>
      <p:sp>
        <p:nvSpPr>
          <p:cNvPr id="34" name="TextBox 34"/>
          <p:cNvSpPr txBox="1"/>
          <p:nvPr/>
        </p:nvSpPr>
        <p:spPr>
          <a:xfrm>
            <a:off x="1966321" y="9527366"/>
            <a:ext cx="2993752" cy="438540"/>
          </a:xfrm>
          <a:prstGeom prst="rect">
            <a:avLst/>
          </a:prstGeom>
        </p:spPr>
        <p:txBody>
          <a:bodyPr lIns="0" tIns="0" rIns="0" bIns="0" rtlCol="0" anchor="t">
            <a:spAutoFit/>
          </a:bodyPr>
          <a:lstStyle/>
          <a:p>
            <a:pPr algn="ctr">
              <a:lnSpc>
                <a:spcPts val="3653"/>
              </a:lnSpc>
              <a:spcBef>
                <a:spcPct val="0"/>
              </a:spcBef>
            </a:pPr>
            <a:r>
              <a:rPr lang="en-US" sz="2609" spc="-195">
                <a:solidFill>
                  <a:srgbClr val="F1D4E4"/>
                </a:solidFill>
                <a:latin typeface="Aileron"/>
                <a:ea typeface="Aileron"/>
                <a:cs typeface="Aileron"/>
                <a:sym typeface="Aileron"/>
              </a:rPr>
              <a:t>Sequential / SISD model</a:t>
            </a:r>
          </a:p>
        </p:txBody>
      </p:sp>
      <p:sp>
        <p:nvSpPr>
          <p:cNvPr id="35" name="TextBox 35"/>
          <p:cNvSpPr txBox="1"/>
          <p:nvPr/>
        </p:nvSpPr>
        <p:spPr>
          <a:xfrm>
            <a:off x="7746685" y="9527366"/>
            <a:ext cx="2985492" cy="438540"/>
          </a:xfrm>
          <a:prstGeom prst="rect">
            <a:avLst/>
          </a:prstGeom>
        </p:spPr>
        <p:txBody>
          <a:bodyPr lIns="0" tIns="0" rIns="0" bIns="0" rtlCol="0" anchor="t">
            <a:spAutoFit/>
          </a:bodyPr>
          <a:lstStyle/>
          <a:p>
            <a:pPr algn="ctr">
              <a:lnSpc>
                <a:spcPts val="3653"/>
              </a:lnSpc>
              <a:spcBef>
                <a:spcPct val="0"/>
              </a:spcBef>
            </a:pPr>
            <a:r>
              <a:rPr lang="en-US" sz="2609" spc="-195">
                <a:solidFill>
                  <a:srgbClr val="F1D4E4"/>
                </a:solidFill>
                <a:latin typeface="Aileron"/>
                <a:ea typeface="Aileron"/>
                <a:cs typeface="Aileron"/>
                <a:sym typeface="Aileron"/>
              </a:rPr>
              <a:t>Data Parallelism on GPU</a:t>
            </a:r>
          </a:p>
        </p:txBody>
      </p:sp>
      <p:sp>
        <p:nvSpPr>
          <p:cNvPr id="36" name="TextBox 36"/>
          <p:cNvSpPr txBox="1"/>
          <p:nvPr/>
        </p:nvSpPr>
        <p:spPr>
          <a:xfrm>
            <a:off x="13313374" y="9527366"/>
            <a:ext cx="3368278" cy="438540"/>
          </a:xfrm>
          <a:prstGeom prst="rect">
            <a:avLst/>
          </a:prstGeom>
        </p:spPr>
        <p:txBody>
          <a:bodyPr lIns="0" tIns="0" rIns="0" bIns="0" rtlCol="0" anchor="t">
            <a:spAutoFit/>
          </a:bodyPr>
          <a:lstStyle/>
          <a:p>
            <a:pPr algn="ctr">
              <a:lnSpc>
                <a:spcPts val="3653"/>
              </a:lnSpc>
              <a:spcBef>
                <a:spcPct val="0"/>
              </a:spcBef>
            </a:pPr>
            <a:r>
              <a:rPr lang="en-US" sz="2609" spc="-195">
                <a:solidFill>
                  <a:srgbClr val="F1D4E4"/>
                </a:solidFill>
                <a:latin typeface="Aileron"/>
                <a:ea typeface="Aileron"/>
                <a:cs typeface="Aileron"/>
                <a:sym typeface="Aileron"/>
              </a:rPr>
              <a:t>Tile-Parallel + CuPy fallback</a:t>
            </a:r>
          </a:p>
        </p:txBody>
      </p:sp>
      <p:sp>
        <p:nvSpPr>
          <p:cNvPr id="37" name="TextBox 37"/>
          <p:cNvSpPr txBox="1"/>
          <p:nvPr/>
        </p:nvSpPr>
        <p:spPr>
          <a:xfrm>
            <a:off x="16650716" y="206363"/>
            <a:ext cx="1500783"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Xudong Ma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768940" flipV="1">
            <a:off x="-1315101" y="-4221648"/>
            <a:ext cx="20918202" cy="18730295"/>
          </a:xfrm>
          <a:custGeom>
            <a:avLst/>
            <a:gdLst/>
            <a:ahLst/>
            <a:cxnLst/>
            <a:rect l="l" t="t" r="r" b="b"/>
            <a:pathLst>
              <a:path w="20918202" h="18730295">
                <a:moveTo>
                  <a:pt x="15187984" y="0"/>
                </a:moveTo>
                <a:lnTo>
                  <a:pt x="0" y="10187054"/>
                </a:lnTo>
                <a:lnTo>
                  <a:pt x="5730218" y="18730296"/>
                </a:lnTo>
                <a:lnTo>
                  <a:pt x="20918202" y="8543242"/>
                </a:lnTo>
                <a:lnTo>
                  <a:pt x="15187984" y="0"/>
                </a:lnTo>
                <a:close/>
              </a:path>
            </a:pathLst>
          </a:custGeom>
          <a:blipFill>
            <a:blip r:embed="rId3"/>
            <a:stretch>
              <a:fillRect l="-2753" r="-31641"/>
            </a:stretch>
          </a:blipFill>
        </p:spPr>
      </p:sp>
      <p:grpSp>
        <p:nvGrpSpPr>
          <p:cNvPr id="3" name="Group 3"/>
          <p:cNvGrpSpPr/>
          <p:nvPr/>
        </p:nvGrpSpPr>
        <p:grpSpPr>
          <a:xfrm rot="-8073719">
            <a:off x="-570592" y="-4539507"/>
            <a:ext cx="19366015" cy="1936601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945"/>
                  </a:srgbClr>
                </a:gs>
                <a:gs pos="25000">
                  <a:srgbClr val="FFFFFF">
                    <a:alpha val="1350"/>
                  </a:srgbClr>
                </a:gs>
                <a:gs pos="50000">
                  <a:srgbClr val="FFFFFF">
                    <a:alpha val="900"/>
                  </a:srgbClr>
                </a:gs>
                <a:gs pos="75000">
                  <a:srgbClr val="FFFFFF">
                    <a:alpha val="1350"/>
                  </a:srgbClr>
                </a:gs>
                <a:gs pos="100000">
                  <a:srgbClr val="FFFFFF">
                    <a:alpha val="900"/>
                  </a:srgbClr>
                </a:gs>
              </a:gsLst>
              <a:lin ang="2700000"/>
            </a:gradFill>
            <a:ln w="19050" cap="rnd">
              <a:solidFill>
                <a:srgbClr val="FFFFFF">
                  <a:alpha val="8627"/>
                </a:srgbClr>
              </a:solidFill>
              <a:prstDash val="solid"/>
              <a:round/>
            </a:ln>
          </p:spPr>
        </p:sp>
        <p:sp>
          <p:nvSpPr>
            <p:cNvPr id="5" name="TextBox 5"/>
            <p:cNvSpPr txBox="1"/>
            <p:nvPr/>
          </p:nvSpPr>
          <p:spPr>
            <a:xfrm>
              <a:off x="76200" y="819150"/>
              <a:ext cx="660400" cy="660400"/>
            </a:xfrm>
            <a:prstGeom prst="rect">
              <a:avLst/>
            </a:prstGeom>
          </p:spPr>
          <p:txBody>
            <a:bodyPr lIns="50800" tIns="50800" rIns="50800" bIns="50800" rtlCol="0" anchor="ctr"/>
            <a:lstStyle/>
            <a:p>
              <a:pPr marL="0" lvl="0" indent="0" algn="l">
                <a:lnSpc>
                  <a:spcPts val="19673"/>
                </a:lnSpc>
                <a:spcBef>
                  <a:spcPct val="0"/>
                </a:spcBef>
              </a:pPr>
              <a:endParaRPr/>
            </a:p>
          </p:txBody>
        </p:sp>
      </p:grpSp>
      <p:grpSp>
        <p:nvGrpSpPr>
          <p:cNvPr id="6" name="Group 6"/>
          <p:cNvGrpSpPr/>
          <p:nvPr/>
        </p:nvGrpSpPr>
        <p:grpSpPr>
          <a:xfrm rot="-8073719">
            <a:off x="2774663" y="-1149785"/>
            <a:ext cx="12586569" cy="1258656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945"/>
                  </a:srgbClr>
                </a:gs>
                <a:gs pos="25000">
                  <a:srgbClr val="FFFFFF">
                    <a:alpha val="1350"/>
                  </a:srgbClr>
                </a:gs>
                <a:gs pos="50000">
                  <a:srgbClr val="FFFFFF">
                    <a:alpha val="900"/>
                  </a:srgbClr>
                </a:gs>
                <a:gs pos="75000">
                  <a:srgbClr val="FFFFFF">
                    <a:alpha val="1350"/>
                  </a:srgbClr>
                </a:gs>
                <a:gs pos="100000">
                  <a:srgbClr val="FFFFFF">
                    <a:alpha val="900"/>
                  </a:srgbClr>
                </a:gs>
              </a:gsLst>
              <a:lin ang="2700000"/>
            </a:gradFill>
            <a:ln w="19050" cap="rnd">
              <a:solidFill>
                <a:srgbClr val="FFFFFF">
                  <a:alpha val="8627"/>
                </a:srgbClr>
              </a:solidFill>
              <a:prstDash val="solid"/>
              <a:round/>
            </a:ln>
          </p:spPr>
        </p:sp>
        <p:sp>
          <p:nvSpPr>
            <p:cNvPr id="8" name="TextBox 8"/>
            <p:cNvSpPr txBox="1"/>
            <p:nvPr/>
          </p:nvSpPr>
          <p:spPr>
            <a:xfrm>
              <a:off x="76200" y="161925"/>
              <a:ext cx="660400" cy="574675"/>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9" name="Group 9"/>
          <p:cNvGrpSpPr/>
          <p:nvPr/>
        </p:nvGrpSpPr>
        <p:grpSpPr>
          <a:xfrm>
            <a:off x="10039376" y="1886883"/>
            <a:ext cx="6611340" cy="7371417"/>
            <a:chOff x="0" y="0"/>
            <a:chExt cx="2488526" cy="2774621"/>
          </a:xfrm>
        </p:grpSpPr>
        <p:sp>
          <p:nvSpPr>
            <p:cNvPr id="10" name="Freeform 10"/>
            <p:cNvSpPr/>
            <p:nvPr/>
          </p:nvSpPr>
          <p:spPr>
            <a:xfrm>
              <a:off x="0" y="0"/>
              <a:ext cx="2488526" cy="2774621"/>
            </a:xfrm>
            <a:custGeom>
              <a:avLst/>
              <a:gdLst/>
              <a:ahLst/>
              <a:cxnLst/>
              <a:rect l="l" t="t" r="r" b="b"/>
              <a:pathLst>
                <a:path w="2488526" h="2774621">
                  <a:moveTo>
                    <a:pt x="59721" y="0"/>
                  </a:moveTo>
                  <a:lnTo>
                    <a:pt x="2428805" y="0"/>
                  </a:lnTo>
                  <a:cubicBezTo>
                    <a:pt x="2461788" y="0"/>
                    <a:pt x="2488526" y="26738"/>
                    <a:pt x="2488526" y="59721"/>
                  </a:cubicBezTo>
                  <a:lnTo>
                    <a:pt x="2488526" y="2714900"/>
                  </a:lnTo>
                  <a:cubicBezTo>
                    <a:pt x="2488526" y="2730739"/>
                    <a:pt x="2482234" y="2745929"/>
                    <a:pt x="2471034" y="2757129"/>
                  </a:cubicBezTo>
                  <a:cubicBezTo>
                    <a:pt x="2459834" y="2768329"/>
                    <a:pt x="2444644" y="2774621"/>
                    <a:pt x="2428805" y="2774621"/>
                  </a:cubicBezTo>
                  <a:lnTo>
                    <a:pt x="59721" y="2774621"/>
                  </a:lnTo>
                  <a:cubicBezTo>
                    <a:pt x="26738" y="2774621"/>
                    <a:pt x="0" y="2747883"/>
                    <a:pt x="0" y="2714900"/>
                  </a:cubicBezTo>
                  <a:lnTo>
                    <a:pt x="0" y="59721"/>
                  </a:lnTo>
                  <a:cubicBezTo>
                    <a:pt x="0" y="26738"/>
                    <a:pt x="26738" y="0"/>
                    <a:pt x="59721" y="0"/>
                  </a:cubicBezTo>
                  <a:close/>
                </a:path>
              </a:pathLst>
            </a:custGeom>
            <a:gradFill rotWithShape="1">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id="11" name="TextBox 11"/>
            <p:cNvSpPr txBox="1"/>
            <p:nvPr/>
          </p:nvSpPr>
          <p:spPr>
            <a:xfrm>
              <a:off x="0" y="85725"/>
              <a:ext cx="2488526" cy="2688896"/>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12" name="Group 12"/>
          <p:cNvGrpSpPr/>
          <p:nvPr/>
        </p:nvGrpSpPr>
        <p:grpSpPr>
          <a:xfrm>
            <a:off x="1028700" y="1886883"/>
            <a:ext cx="8394267" cy="7371417"/>
            <a:chOff x="0" y="0"/>
            <a:chExt cx="3159624" cy="2774621"/>
          </a:xfrm>
        </p:grpSpPr>
        <p:sp>
          <p:nvSpPr>
            <p:cNvPr id="13" name="Freeform 13"/>
            <p:cNvSpPr/>
            <p:nvPr/>
          </p:nvSpPr>
          <p:spPr>
            <a:xfrm>
              <a:off x="0" y="0"/>
              <a:ext cx="3159624" cy="2774621"/>
            </a:xfrm>
            <a:custGeom>
              <a:avLst/>
              <a:gdLst/>
              <a:ahLst/>
              <a:cxnLst/>
              <a:rect l="l" t="t" r="r" b="b"/>
              <a:pathLst>
                <a:path w="3159624" h="2774621">
                  <a:moveTo>
                    <a:pt x="47037" y="0"/>
                  </a:moveTo>
                  <a:lnTo>
                    <a:pt x="3112588" y="0"/>
                  </a:lnTo>
                  <a:cubicBezTo>
                    <a:pt x="3138565" y="0"/>
                    <a:pt x="3159624" y="21059"/>
                    <a:pt x="3159624" y="47037"/>
                  </a:cubicBezTo>
                  <a:lnTo>
                    <a:pt x="3159624" y="2727584"/>
                  </a:lnTo>
                  <a:cubicBezTo>
                    <a:pt x="3159624" y="2753562"/>
                    <a:pt x="3138565" y="2774621"/>
                    <a:pt x="3112588" y="2774621"/>
                  </a:cubicBezTo>
                  <a:lnTo>
                    <a:pt x="47037" y="2774621"/>
                  </a:lnTo>
                  <a:cubicBezTo>
                    <a:pt x="21059" y="2774621"/>
                    <a:pt x="0" y="2753562"/>
                    <a:pt x="0" y="2727584"/>
                  </a:cubicBezTo>
                  <a:lnTo>
                    <a:pt x="0" y="47037"/>
                  </a:lnTo>
                  <a:cubicBezTo>
                    <a:pt x="0" y="21059"/>
                    <a:pt x="21059" y="0"/>
                    <a:pt x="47037" y="0"/>
                  </a:cubicBezTo>
                  <a:close/>
                </a:path>
              </a:pathLst>
            </a:custGeom>
            <a:gradFill rotWithShape="1">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id="14" name="TextBox 14"/>
            <p:cNvSpPr txBox="1"/>
            <p:nvPr/>
          </p:nvSpPr>
          <p:spPr>
            <a:xfrm>
              <a:off x="0" y="85725"/>
              <a:ext cx="3159624" cy="2688896"/>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15" name="Freeform 15"/>
          <p:cNvSpPr/>
          <p:nvPr/>
        </p:nvSpPr>
        <p:spPr>
          <a:xfrm>
            <a:off x="1470536" y="2554049"/>
            <a:ext cx="7641879" cy="6037084"/>
          </a:xfrm>
          <a:custGeom>
            <a:avLst/>
            <a:gdLst/>
            <a:ahLst/>
            <a:cxnLst/>
            <a:rect l="l" t="t" r="r" b="b"/>
            <a:pathLst>
              <a:path w="7641879" h="6037084">
                <a:moveTo>
                  <a:pt x="0" y="0"/>
                </a:moveTo>
                <a:lnTo>
                  <a:pt x="7641879" y="0"/>
                </a:lnTo>
                <a:lnTo>
                  <a:pt x="7641879" y="6037085"/>
                </a:lnTo>
                <a:lnTo>
                  <a:pt x="0" y="6037085"/>
                </a:lnTo>
                <a:lnTo>
                  <a:pt x="0" y="0"/>
                </a:lnTo>
                <a:close/>
              </a:path>
            </a:pathLst>
          </a:custGeom>
          <a:blipFill>
            <a:blip r:embed="rId4"/>
            <a:stretch>
              <a:fillRect/>
            </a:stretch>
          </a:blipFill>
        </p:spPr>
      </p:sp>
      <p:sp>
        <p:nvSpPr>
          <p:cNvPr id="16" name="TextBox 16"/>
          <p:cNvSpPr txBox="1"/>
          <p:nvPr/>
        </p:nvSpPr>
        <p:spPr>
          <a:xfrm>
            <a:off x="1485414" y="476416"/>
            <a:ext cx="15317172" cy="947879"/>
          </a:xfrm>
          <a:prstGeom prst="rect">
            <a:avLst/>
          </a:prstGeom>
        </p:spPr>
        <p:txBody>
          <a:bodyPr lIns="0" tIns="0" rIns="0" bIns="0" rtlCol="0" anchor="t">
            <a:spAutoFit/>
          </a:bodyPr>
          <a:lstStyle/>
          <a:p>
            <a:pPr algn="ctr">
              <a:lnSpc>
                <a:spcPts val="7356"/>
              </a:lnSpc>
            </a:pPr>
            <a:r>
              <a:rPr lang="en-US" sz="6287" b="1" spc="-264">
                <a:solidFill>
                  <a:srgbClr val="FFFFFF"/>
                </a:solidFill>
                <a:latin typeface="Open Sauce Bold"/>
                <a:ea typeface="Open Sauce Bold"/>
                <a:cs typeface="Open Sauce Bold"/>
                <a:sym typeface="Open Sauce Bold"/>
              </a:rPr>
              <a:t>cuTile Kernel Design — Sobel Magnitude</a:t>
            </a:r>
          </a:p>
        </p:txBody>
      </p:sp>
      <p:sp>
        <p:nvSpPr>
          <p:cNvPr id="17" name="TextBox 17"/>
          <p:cNvSpPr txBox="1"/>
          <p:nvPr/>
        </p:nvSpPr>
        <p:spPr>
          <a:xfrm>
            <a:off x="10708691" y="2554049"/>
            <a:ext cx="5272709" cy="6583680"/>
          </a:xfrm>
          <a:prstGeom prst="rect">
            <a:avLst/>
          </a:prstGeom>
        </p:spPr>
        <p:txBody>
          <a:bodyPr lIns="0" tIns="0" rIns="0" bIns="0" rtlCol="0" anchor="t">
            <a:spAutoFit/>
          </a:bodyPr>
          <a:lstStyle/>
          <a:p>
            <a:pPr algn="l">
              <a:lnSpc>
                <a:spcPts val="3510"/>
              </a:lnSpc>
            </a:pPr>
            <a:r>
              <a:rPr lang="en-US" sz="3000" b="1" spc="-126">
                <a:solidFill>
                  <a:srgbClr val="6A367A"/>
                </a:solidFill>
                <a:latin typeface="Open Sauce Bold"/>
                <a:ea typeface="Open Sauce Bold"/>
                <a:cs typeface="Open Sauce Bold"/>
                <a:sym typeface="Open Sauce Bold"/>
              </a:rPr>
              <a:t>Pre-extracted neighbours 8 shifted arrays passed in — zero inter-tile dependency</a:t>
            </a:r>
          </a:p>
          <a:p>
            <a:pPr algn="l">
              <a:lnSpc>
                <a:spcPts val="3510"/>
              </a:lnSpc>
            </a:pPr>
            <a:endParaRPr lang="en-US" sz="3000" b="1" spc="-126">
              <a:solidFill>
                <a:srgbClr val="6A367A"/>
              </a:solidFill>
              <a:latin typeface="Open Sauce Bold"/>
              <a:ea typeface="Open Sauce Bold"/>
              <a:cs typeface="Open Sauce Bold"/>
              <a:sym typeface="Open Sauce Bold"/>
            </a:endParaRPr>
          </a:p>
          <a:p>
            <a:pPr algn="l">
              <a:lnSpc>
                <a:spcPts val="3510"/>
              </a:lnSpc>
            </a:pPr>
            <a:endParaRPr lang="en-US" sz="3000" b="1" spc="-126">
              <a:solidFill>
                <a:srgbClr val="6A367A"/>
              </a:solidFill>
              <a:latin typeface="Open Sauce Bold"/>
              <a:ea typeface="Open Sauce Bold"/>
              <a:cs typeface="Open Sauce Bold"/>
              <a:sym typeface="Open Sauce Bold"/>
            </a:endParaRPr>
          </a:p>
          <a:p>
            <a:pPr algn="l">
              <a:lnSpc>
                <a:spcPts val="3510"/>
              </a:lnSpc>
            </a:pPr>
            <a:r>
              <a:rPr lang="en-US" sz="3000" b="1" spc="-126">
                <a:solidFill>
                  <a:srgbClr val="6A367A"/>
                </a:solidFill>
                <a:latin typeface="Open Sauce Bold"/>
                <a:ea typeface="Open Sauce Bold"/>
                <a:cs typeface="Open Sauce Bold"/>
                <a:sym typeface="Open Sauce Bold"/>
              </a:rPr>
              <a:t>Tile-level operations ct.load / ct.store process tile_size pixels per block</a:t>
            </a:r>
          </a:p>
          <a:p>
            <a:pPr algn="l">
              <a:lnSpc>
                <a:spcPts val="3510"/>
              </a:lnSpc>
            </a:pPr>
            <a:endParaRPr lang="en-US" sz="3000" b="1" spc="-126">
              <a:solidFill>
                <a:srgbClr val="6A367A"/>
              </a:solidFill>
              <a:latin typeface="Open Sauce Bold"/>
              <a:ea typeface="Open Sauce Bold"/>
              <a:cs typeface="Open Sauce Bold"/>
              <a:sym typeface="Open Sauce Bold"/>
            </a:endParaRPr>
          </a:p>
          <a:p>
            <a:pPr algn="l">
              <a:lnSpc>
                <a:spcPts val="3510"/>
              </a:lnSpc>
            </a:pPr>
            <a:endParaRPr lang="en-US" sz="3000" b="1" spc="-126">
              <a:solidFill>
                <a:srgbClr val="6A367A"/>
              </a:solidFill>
              <a:latin typeface="Open Sauce Bold"/>
              <a:ea typeface="Open Sauce Bold"/>
              <a:cs typeface="Open Sauce Bold"/>
              <a:sym typeface="Open Sauce Bold"/>
            </a:endParaRPr>
          </a:p>
          <a:p>
            <a:pPr algn="l">
              <a:lnSpc>
                <a:spcPts val="3510"/>
              </a:lnSpc>
            </a:pPr>
            <a:r>
              <a:rPr lang="en-US" sz="3000" b="1" spc="-126">
                <a:solidFill>
                  <a:srgbClr val="6A367A"/>
                </a:solidFill>
                <a:latin typeface="Open Sauce Bold"/>
                <a:ea typeface="Open Sauce Bold"/>
                <a:cs typeface="Open Sauce Bold"/>
                <a:sym typeface="Open Sauce Bold"/>
              </a:rPr>
              <a:t>No manual thread management cuTile handles parallel dispatch — simpler than raw CUDA</a:t>
            </a:r>
          </a:p>
          <a:p>
            <a:pPr algn="l">
              <a:lnSpc>
                <a:spcPts val="3510"/>
              </a:lnSpc>
            </a:pPr>
            <a:endParaRPr lang="en-US" sz="3000" b="1" spc="-126">
              <a:solidFill>
                <a:srgbClr val="6A367A"/>
              </a:solidFill>
              <a:latin typeface="Open Sauce Bold"/>
              <a:ea typeface="Open Sauce Bold"/>
              <a:cs typeface="Open Sauce Bold"/>
              <a:sym typeface="Open Sauce Bold"/>
            </a:endParaRPr>
          </a:p>
        </p:txBody>
      </p:sp>
      <p:sp>
        <p:nvSpPr>
          <p:cNvPr id="18" name="TextBox 18"/>
          <p:cNvSpPr txBox="1"/>
          <p:nvPr/>
        </p:nvSpPr>
        <p:spPr>
          <a:xfrm>
            <a:off x="16650716" y="206363"/>
            <a:ext cx="1500783"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Xudong Ma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768940" flipV="1">
            <a:off x="-1315101" y="-4221648"/>
            <a:ext cx="20918202" cy="18730295"/>
          </a:xfrm>
          <a:custGeom>
            <a:avLst/>
            <a:gdLst/>
            <a:ahLst/>
            <a:cxnLst/>
            <a:rect l="l" t="t" r="r" b="b"/>
            <a:pathLst>
              <a:path w="20918202" h="18730295">
                <a:moveTo>
                  <a:pt x="15187984" y="0"/>
                </a:moveTo>
                <a:lnTo>
                  <a:pt x="0" y="10187054"/>
                </a:lnTo>
                <a:lnTo>
                  <a:pt x="5730218" y="18730296"/>
                </a:lnTo>
                <a:lnTo>
                  <a:pt x="20918202" y="8543242"/>
                </a:lnTo>
                <a:lnTo>
                  <a:pt x="15187984" y="0"/>
                </a:lnTo>
                <a:close/>
              </a:path>
            </a:pathLst>
          </a:custGeom>
          <a:blipFill>
            <a:blip r:embed="rId3"/>
            <a:stretch>
              <a:fillRect l="-2753" r="-31641"/>
            </a:stretch>
          </a:blipFill>
        </p:spPr>
      </p:sp>
      <p:grpSp>
        <p:nvGrpSpPr>
          <p:cNvPr id="3" name="Group 3"/>
          <p:cNvGrpSpPr/>
          <p:nvPr/>
        </p:nvGrpSpPr>
        <p:grpSpPr>
          <a:xfrm rot="-8073719">
            <a:off x="-570592" y="-4539507"/>
            <a:ext cx="19366015" cy="1936601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945"/>
                  </a:srgbClr>
                </a:gs>
                <a:gs pos="25000">
                  <a:srgbClr val="FFFFFF">
                    <a:alpha val="1350"/>
                  </a:srgbClr>
                </a:gs>
                <a:gs pos="50000">
                  <a:srgbClr val="FFFFFF">
                    <a:alpha val="900"/>
                  </a:srgbClr>
                </a:gs>
                <a:gs pos="75000">
                  <a:srgbClr val="FFFFFF">
                    <a:alpha val="1350"/>
                  </a:srgbClr>
                </a:gs>
                <a:gs pos="100000">
                  <a:srgbClr val="FFFFFF">
                    <a:alpha val="900"/>
                  </a:srgbClr>
                </a:gs>
              </a:gsLst>
              <a:lin ang="2700000"/>
            </a:gradFill>
            <a:ln w="19050" cap="rnd">
              <a:solidFill>
                <a:srgbClr val="FFFFFF">
                  <a:alpha val="8627"/>
                </a:srgbClr>
              </a:solidFill>
              <a:prstDash val="solid"/>
              <a:round/>
            </a:ln>
          </p:spPr>
        </p:sp>
        <p:sp>
          <p:nvSpPr>
            <p:cNvPr id="5" name="TextBox 5"/>
            <p:cNvSpPr txBox="1"/>
            <p:nvPr/>
          </p:nvSpPr>
          <p:spPr>
            <a:xfrm>
              <a:off x="76200" y="819150"/>
              <a:ext cx="660400" cy="660400"/>
            </a:xfrm>
            <a:prstGeom prst="rect">
              <a:avLst/>
            </a:prstGeom>
          </p:spPr>
          <p:txBody>
            <a:bodyPr lIns="50800" tIns="50800" rIns="50800" bIns="50800" rtlCol="0" anchor="ctr"/>
            <a:lstStyle/>
            <a:p>
              <a:pPr marL="0" lvl="0" indent="0" algn="l">
                <a:lnSpc>
                  <a:spcPts val="19673"/>
                </a:lnSpc>
                <a:spcBef>
                  <a:spcPct val="0"/>
                </a:spcBef>
              </a:pPr>
              <a:endParaRPr/>
            </a:p>
          </p:txBody>
        </p:sp>
      </p:grpSp>
      <p:grpSp>
        <p:nvGrpSpPr>
          <p:cNvPr id="6" name="Group 6"/>
          <p:cNvGrpSpPr/>
          <p:nvPr/>
        </p:nvGrpSpPr>
        <p:grpSpPr>
          <a:xfrm rot="-8073719">
            <a:off x="2774663" y="-1149785"/>
            <a:ext cx="12586569" cy="1258656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945"/>
                  </a:srgbClr>
                </a:gs>
                <a:gs pos="25000">
                  <a:srgbClr val="FFFFFF">
                    <a:alpha val="1350"/>
                  </a:srgbClr>
                </a:gs>
                <a:gs pos="50000">
                  <a:srgbClr val="FFFFFF">
                    <a:alpha val="900"/>
                  </a:srgbClr>
                </a:gs>
                <a:gs pos="75000">
                  <a:srgbClr val="FFFFFF">
                    <a:alpha val="1350"/>
                  </a:srgbClr>
                </a:gs>
                <a:gs pos="100000">
                  <a:srgbClr val="FFFFFF">
                    <a:alpha val="900"/>
                  </a:srgbClr>
                </a:gs>
              </a:gsLst>
              <a:lin ang="2700000"/>
            </a:gradFill>
            <a:ln w="19050" cap="rnd">
              <a:solidFill>
                <a:srgbClr val="FFFFFF">
                  <a:alpha val="8627"/>
                </a:srgbClr>
              </a:solidFill>
              <a:prstDash val="solid"/>
              <a:round/>
            </a:ln>
          </p:spPr>
        </p:sp>
        <p:sp>
          <p:nvSpPr>
            <p:cNvPr id="8" name="TextBox 8"/>
            <p:cNvSpPr txBox="1"/>
            <p:nvPr/>
          </p:nvSpPr>
          <p:spPr>
            <a:xfrm>
              <a:off x="76200" y="161925"/>
              <a:ext cx="660400" cy="574675"/>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9" name="Group 9"/>
          <p:cNvGrpSpPr/>
          <p:nvPr/>
        </p:nvGrpSpPr>
        <p:grpSpPr>
          <a:xfrm>
            <a:off x="1934343" y="2299733"/>
            <a:ext cx="6611340" cy="2528429"/>
            <a:chOff x="0" y="0"/>
            <a:chExt cx="2488526" cy="951707"/>
          </a:xfrm>
        </p:grpSpPr>
        <p:sp>
          <p:nvSpPr>
            <p:cNvPr id="10" name="Freeform 10"/>
            <p:cNvSpPr/>
            <p:nvPr/>
          </p:nvSpPr>
          <p:spPr>
            <a:xfrm>
              <a:off x="0" y="0"/>
              <a:ext cx="2488526" cy="951707"/>
            </a:xfrm>
            <a:custGeom>
              <a:avLst/>
              <a:gdLst/>
              <a:ahLst/>
              <a:cxnLst/>
              <a:rect l="l" t="t" r="r" b="b"/>
              <a:pathLst>
                <a:path w="2488526" h="951707">
                  <a:moveTo>
                    <a:pt x="59721" y="0"/>
                  </a:moveTo>
                  <a:lnTo>
                    <a:pt x="2428805" y="0"/>
                  </a:lnTo>
                  <a:cubicBezTo>
                    <a:pt x="2461788" y="0"/>
                    <a:pt x="2488526" y="26738"/>
                    <a:pt x="2488526" y="59721"/>
                  </a:cubicBezTo>
                  <a:lnTo>
                    <a:pt x="2488526" y="891986"/>
                  </a:lnTo>
                  <a:cubicBezTo>
                    <a:pt x="2488526" y="924969"/>
                    <a:pt x="2461788" y="951707"/>
                    <a:pt x="2428805" y="951707"/>
                  </a:cubicBezTo>
                  <a:lnTo>
                    <a:pt x="59721" y="951707"/>
                  </a:lnTo>
                  <a:cubicBezTo>
                    <a:pt x="26738" y="951707"/>
                    <a:pt x="0" y="924969"/>
                    <a:pt x="0" y="891986"/>
                  </a:cubicBezTo>
                  <a:lnTo>
                    <a:pt x="0" y="59721"/>
                  </a:lnTo>
                  <a:cubicBezTo>
                    <a:pt x="0" y="26738"/>
                    <a:pt x="26738" y="0"/>
                    <a:pt x="59721" y="0"/>
                  </a:cubicBezTo>
                  <a:close/>
                </a:path>
              </a:pathLst>
            </a:custGeom>
            <a:gradFill rotWithShape="1">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id="11" name="TextBox 11"/>
            <p:cNvSpPr txBox="1"/>
            <p:nvPr/>
          </p:nvSpPr>
          <p:spPr>
            <a:xfrm>
              <a:off x="0" y="85725"/>
              <a:ext cx="2488526" cy="865982"/>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12" name="Group 12"/>
          <p:cNvGrpSpPr/>
          <p:nvPr/>
        </p:nvGrpSpPr>
        <p:grpSpPr>
          <a:xfrm>
            <a:off x="11001723" y="6259077"/>
            <a:ext cx="6611340" cy="2528429"/>
            <a:chOff x="0" y="0"/>
            <a:chExt cx="2488526" cy="951707"/>
          </a:xfrm>
        </p:grpSpPr>
        <p:sp>
          <p:nvSpPr>
            <p:cNvPr id="13" name="Freeform 13"/>
            <p:cNvSpPr/>
            <p:nvPr/>
          </p:nvSpPr>
          <p:spPr>
            <a:xfrm>
              <a:off x="0" y="0"/>
              <a:ext cx="2488526" cy="951707"/>
            </a:xfrm>
            <a:custGeom>
              <a:avLst/>
              <a:gdLst/>
              <a:ahLst/>
              <a:cxnLst/>
              <a:rect l="l" t="t" r="r" b="b"/>
              <a:pathLst>
                <a:path w="2488526" h="951707">
                  <a:moveTo>
                    <a:pt x="59721" y="0"/>
                  </a:moveTo>
                  <a:lnTo>
                    <a:pt x="2428805" y="0"/>
                  </a:lnTo>
                  <a:cubicBezTo>
                    <a:pt x="2461788" y="0"/>
                    <a:pt x="2488526" y="26738"/>
                    <a:pt x="2488526" y="59721"/>
                  </a:cubicBezTo>
                  <a:lnTo>
                    <a:pt x="2488526" y="891986"/>
                  </a:lnTo>
                  <a:cubicBezTo>
                    <a:pt x="2488526" y="924969"/>
                    <a:pt x="2461788" y="951707"/>
                    <a:pt x="2428805" y="951707"/>
                  </a:cubicBezTo>
                  <a:lnTo>
                    <a:pt x="59721" y="951707"/>
                  </a:lnTo>
                  <a:cubicBezTo>
                    <a:pt x="26738" y="951707"/>
                    <a:pt x="0" y="924969"/>
                    <a:pt x="0" y="891986"/>
                  </a:cubicBezTo>
                  <a:lnTo>
                    <a:pt x="0" y="59721"/>
                  </a:lnTo>
                  <a:cubicBezTo>
                    <a:pt x="0" y="26738"/>
                    <a:pt x="26738" y="0"/>
                    <a:pt x="59721" y="0"/>
                  </a:cubicBezTo>
                  <a:close/>
                </a:path>
              </a:pathLst>
            </a:custGeom>
            <a:gradFill rotWithShape="1">
              <a:gsLst>
                <a:gs pos="0">
                  <a:srgbClr val="F5B4FF">
                    <a:alpha val="100000"/>
                  </a:srgbClr>
                </a:gs>
                <a:gs pos="100000">
                  <a:srgbClr val="E393EF">
                    <a:alpha val="100000"/>
                  </a:srgbClr>
                </a:gs>
              </a:gsLst>
              <a:lin ang="0"/>
            </a:gradFill>
            <a:ln w="19050" cap="rnd">
              <a:solidFill>
                <a:srgbClr val="FFFFFF"/>
              </a:solidFill>
              <a:prstDash val="solid"/>
              <a:round/>
            </a:ln>
          </p:spPr>
        </p:sp>
        <p:sp>
          <p:nvSpPr>
            <p:cNvPr id="14" name="TextBox 14"/>
            <p:cNvSpPr txBox="1"/>
            <p:nvPr/>
          </p:nvSpPr>
          <p:spPr>
            <a:xfrm>
              <a:off x="0" y="85725"/>
              <a:ext cx="2488526" cy="865982"/>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15" name="Group 15"/>
          <p:cNvGrpSpPr/>
          <p:nvPr/>
        </p:nvGrpSpPr>
        <p:grpSpPr>
          <a:xfrm>
            <a:off x="10986290" y="2398421"/>
            <a:ext cx="6179916" cy="2528429"/>
            <a:chOff x="0" y="0"/>
            <a:chExt cx="2326137" cy="951707"/>
          </a:xfrm>
        </p:grpSpPr>
        <p:sp>
          <p:nvSpPr>
            <p:cNvPr id="16" name="Freeform 16"/>
            <p:cNvSpPr/>
            <p:nvPr/>
          </p:nvSpPr>
          <p:spPr>
            <a:xfrm>
              <a:off x="0" y="0"/>
              <a:ext cx="2326137" cy="951707"/>
            </a:xfrm>
            <a:custGeom>
              <a:avLst/>
              <a:gdLst/>
              <a:ahLst/>
              <a:cxnLst/>
              <a:rect l="l" t="t" r="r" b="b"/>
              <a:pathLst>
                <a:path w="2326137" h="951707">
                  <a:moveTo>
                    <a:pt x="63890" y="0"/>
                  </a:moveTo>
                  <a:lnTo>
                    <a:pt x="2262246" y="0"/>
                  </a:lnTo>
                  <a:cubicBezTo>
                    <a:pt x="2297532" y="0"/>
                    <a:pt x="2326137" y="28605"/>
                    <a:pt x="2326137" y="63890"/>
                  </a:cubicBezTo>
                  <a:lnTo>
                    <a:pt x="2326137" y="887817"/>
                  </a:lnTo>
                  <a:cubicBezTo>
                    <a:pt x="2326137" y="923103"/>
                    <a:pt x="2297532" y="951707"/>
                    <a:pt x="2262246" y="951707"/>
                  </a:cubicBezTo>
                  <a:lnTo>
                    <a:pt x="63890" y="951707"/>
                  </a:lnTo>
                  <a:cubicBezTo>
                    <a:pt x="46946" y="951707"/>
                    <a:pt x="30695" y="944976"/>
                    <a:pt x="18713" y="932994"/>
                  </a:cubicBezTo>
                  <a:cubicBezTo>
                    <a:pt x="6731" y="921012"/>
                    <a:pt x="0" y="904762"/>
                    <a:pt x="0" y="887817"/>
                  </a:cubicBezTo>
                  <a:lnTo>
                    <a:pt x="0" y="63890"/>
                  </a:lnTo>
                  <a:cubicBezTo>
                    <a:pt x="0" y="28605"/>
                    <a:pt x="28605" y="0"/>
                    <a:pt x="63890" y="0"/>
                  </a:cubicBezTo>
                  <a:close/>
                </a:path>
              </a:pathLst>
            </a:custGeom>
            <a:gradFill rotWithShape="1">
              <a:gsLst>
                <a:gs pos="0">
                  <a:srgbClr val="9245C4">
                    <a:alpha val="100000"/>
                  </a:srgbClr>
                </a:gs>
                <a:gs pos="100000">
                  <a:srgbClr val="AD64DD">
                    <a:alpha val="100000"/>
                  </a:srgbClr>
                </a:gs>
              </a:gsLst>
              <a:lin ang="0"/>
            </a:gradFill>
            <a:ln w="19050" cap="rnd">
              <a:solidFill>
                <a:srgbClr val="FFFFFF"/>
              </a:solidFill>
              <a:prstDash val="solid"/>
              <a:round/>
            </a:ln>
          </p:spPr>
        </p:sp>
        <p:sp>
          <p:nvSpPr>
            <p:cNvPr id="17" name="TextBox 17"/>
            <p:cNvSpPr txBox="1"/>
            <p:nvPr/>
          </p:nvSpPr>
          <p:spPr>
            <a:xfrm>
              <a:off x="0" y="85725"/>
              <a:ext cx="2326137" cy="865982"/>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18" name="Group 18"/>
          <p:cNvGrpSpPr/>
          <p:nvPr/>
        </p:nvGrpSpPr>
        <p:grpSpPr>
          <a:xfrm>
            <a:off x="1922035" y="6259077"/>
            <a:ext cx="6611340" cy="2528429"/>
            <a:chOff x="0" y="0"/>
            <a:chExt cx="2488526" cy="951707"/>
          </a:xfrm>
        </p:grpSpPr>
        <p:sp>
          <p:nvSpPr>
            <p:cNvPr id="19" name="Freeform 19"/>
            <p:cNvSpPr/>
            <p:nvPr/>
          </p:nvSpPr>
          <p:spPr>
            <a:xfrm>
              <a:off x="0" y="0"/>
              <a:ext cx="2488526" cy="951707"/>
            </a:xfrm>
            <a:custGeom>
              <a:avLst/>
              <a:gdLst/>
              <a:ahLst/>
              <a:cxnLst/>
              <a:rect l="l" t="t" r="r" b="b"/>
              <a:pathLst>
                <a:path w="2488526" h="951707">
                  <a:moveTo>
                    <a:pt x="59721" y="0"/>
                  </a:moveTo>
                  <a:lnTo>
                    <a:pt x="2428805" y="0"/>
                  </a:lnTo>
                  <a:cubicBezTo>
                    <a:pt x="2461788" y="0"/>
                    <a:pt x="2488526" y="26738"/>
                    <a:pt x="2488526" y="59721"/>
                  </a:cubicBezTo>
                  <a:lnTo>
                    <a:pt x="2488526" y="891986"/>
                  </a:lnTo>
                  <a:cubicBezTo>
                    <a:pt x="2488526" y="924969"/>
                    <a:pt x="2461788" y="951707"/>
                    <a:pt x="2428805" y="951707"/>
                  </a:cubicBezTo>
                  <a:lnTo>
                    <a:pt x="59721" y="951707"/>
                  </a:lnTo>
                  <a:cubicBezTo>
                    <a:pt x="26738" y="951707"/>
                    <a:pt x="0" y="924969"/>
                    <a:pt x="0" y="891986"/>
                  </a:cubicBezTo>
                  <a:lnTo>
                    <a:pt x="0" y="59721"/>
                  </a:lnTo>
                  <a:cubicBezTo>
                    <a:pt x="0" y="26738"/>
                    <a:pt x="26738" y="0"/>
                    <a:pt x="59721" y="0"/>
                  </a:cubicBezTo>
                  <a:close/>
                </a:path>
              </a:pathLst>
            </a:custGeom>
            <a:gradFill rotWithShape="1">
              <a:gsLst>
                <a:gs pos="0">
                  <a:srgbClr val="FFFFFF">
                    <a:alpha val="10500"/>
                  </a:srgbClr>
                </a:gs>
                <a:gs pos="25000">
                  <a:srgbClr val="FFFFFF">
                    <a:alpha val="15000"/>
                  </a:srgbClr>
                </a:gs>
                <a:gs pos="50000">
                  <a:srgbClr val="FFFFFF">
                    <a:alpha val="10000"/>
                  </a:srgbClr>
                </a:gs>
                <a:gs pos="75000">
                  <a:srgbClr val="FFFFFF">
                    <a:alpha val="15000"/>
                  </a:srgbClr>
                </a:gs>
                <a:gs pos="100000">
                  <a:srgbClr val="FFFFFF">
                    <a:alpha val="10000"/>
                  </a:srgbClr>
                </a:gs>
              </a:gsLst>
              <a:lin ang="2700000"/>
            </a:gradFill>
            <a:ln w="19050" cap="rnd">
              <a:solidFill>
                <a:srgbClr val="FFFFFF"/>
              </a:solidFill>
              <a:prstDash val="solid"/>
              <a:round/>
            </a:ln>
          </p:spPr>
        </p:sp>
        <p:sp>
          <p:nvSpPr>
            <p:cNvPr id="20" name="TextBox 20"/>
            <p:cNvSpPr txBox="1"/>
            <p:nvPr/>
          </p:nvSpPr>
          <p:spPr>
            <a:xfrm>
              <a:off x="0" y="85725"/>
              <a:ext cx="2488526" cy="865982"/>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21" name="Group 21"/>
          <p:cNvGrpSpPr/>
          <p:nvPr/>
        </p:nvGrpSpPr>
        <p:grpSpPr>
          <a:xfrm>
            <a:off x="1100763" y="2398421"/>
            <a:ext cx="675152" cy="2319102"/>
            <a:chOff x="0" y="0"/>
            <a:chExt cx="104599" cy="359290"/>
          </a:xfrm>
        </p:grpSpPr>
        <p:sp>
          <p:nvSpPr>
            <p:cNvPr id="22" name="Freeform 22"/>
            <p:cNvSpPr/>
            <p:nvPr/>
          </p:nvSpPr>
          <p:spPr>
            <a:xfrm>
              <a:off x="0" y="0"/>
              <a:ext cx="104599" cy="359290"/>
            </a:xfrm>
            <a:custGeom>
              <a:avLst/>
              <a:gdLst/>
              <a:ahLst/>
              <a:cxnLst/>
              <a:rect l="l" t="t" r="r" b="b"/>
              <a:pathLst>
                <a:path w="104599" h="359290">
                  <a:moveTo>
                    <a:pt x="0" y="0"/>
                  </a:moveTo>
                  <a:lnTo>
                    <a:pt x="104599" y="0"/>
                  </a:lnTo>
                  <a:lnTo>
                    <a:pt x="104599" y="359290"/>
                  </a:lnTo>
                  <a:lnTo>
                    <a:pt x="0" y="359290"/>
                  </a:lnTo>
                  <a:close/>
                </a:path>
              </a:pathLst>
            </a:custGeom>
            <a:gradFill rotWithShape="1">
              <a:gsLst>
                <a:gs pos="0">
                  <a:srgbClr val="5170FF">
                    <a:alpha val="100000"/>
                  </a:srgbClr>
                </a:gs>
                <a:gs pos="100000">
                  <a:srgbClr val="FF66C4">
                    <a:alpha val="100000"/>
                  </a:srgbClr>
                </a:gs>
              </a:gsLst>
              <a:lin ang="0"/>
            </a:gradFill>
            <a:ln cap="sq">
              <a:noFill/>
              <a:prstDash val="solid"/>
              <a:miter/>
            </a:ln>
          </p:spPr>
        </p:sp>
      </p:grpSp>
      <p:grpSp>
        <p:nvGrpSpPr>
          <p:cNvPr id="23" name="Group 23"/>
          <p:cNvGrpSpPr/>
          <p:nvPr/>
        </p:nvGrpSpPr>
        <p:grpSpPr>
          <a:xfrm>
            <a:off x="10280993" y="2497108"/>
            <a:ext cx="543372" cy="2319102"/>
            <a:chOff x="0" y="0"/>
            <a:chExt cx="84183" cy="359290"/>
          </a:xfrm>
        </p:grpSpPr>
        <p:sp>
          <p:nvSpPr>
            <p:cNvPr id="24" name="Freeform 24"/>
            <p:cNvSpPr/>
            <p:nvPr/>
          </p:nvSpPr>
          <p:spPr>
            <a:xfrm>
              <a:off x="0" y="0"/>
              <a:ext cx="84183" cy="359290"/>
            </a:xfrm>
            <a:custGeom>
              <a:avLst/>
              <a:gdLst/>
              <a:ahLst/>
              <a:cxnLst/>
              <a:rect l="l" t="t" r="r" b="b"/>
              <a:pathLst>
                <a:path w="84183" h="359290">
                  <a:moveTo>
                    <a:pt x="0" y="0"/>
                  </a:moveTo>
                  <a:lnTo>
                    <a:pt x="84183" y="0"/>
                  </a:lnTo>
                  <a:lnTo>
                    <a:pt x="84183" y="359290"/>
                  </a:lnTo>
                  <a:lnTo>
                    <a:pt x="0" y="359290"/>
                  </a:lnTo>
                  <a:close/>
                </a:path>
              </a:pathLst>
            </a:custGeom>
            <a:gradFill rotWithShape="1">
              <a:gsLst>
                <a:gs pos="0">
                  <a:srgbClr val="FF3131">
                    <a:alpha val="100000"/>
                  </a:srgbClr>
                </a:gs>
                <a:gs pos="100000">
                  <a:srgbClr val="FF914D">
                    <a:alpha val="100000"/>
                  </a:srgbClr>
                </a:gs>
              </a:gsLst>
              <a:lin ang="0"/>
            </a:gradFill>
            <a:ln cap="sq">
              <a:noFill/>
              <a:prstDash val="solid"/>
              <a:miter/>
            </a:ln>
          </p:spPr>
        </p:sp>
      </p:grpSp>
      <p:grpSp>
        <p:nvGrpSpPr>
          <p:cNvPr id="25" name="Group 25"/>
          <p:cNvGrpSpPr/>
          <p:nvPr/>
        </p:nvGrpSpPr>
        <p:grpSpPr>
          <a:xfrm>
            <a:off x="10280993" y="6363740"/>
            <a:ext cx="562302" cy="2319102"/>
            <a:chOff x="0" y="0"/>
            <a:chExt cx="87115" cy="359290"/>
          </a:xfrm>
        </p:grpSpPr>
        <p:sp>
          <p:nvSpPr>
            <p:cNvPr id="26" name="Freeform 26"/>
            <p:cNvSpPr/>
            <p:nvPr/>
          </p:nvSpPr>
          <p:spPr>
            <a:xfrm>
              <a:off x="0" y="0"/>
              <a:ext cx="87115" cy="359290"/>
            </a:xfrm>
            <a:custGeom>
              <a:avLst/>
              <a:gdLst/>
              <a:ahLst/>
              <a:cxnLst/>
              <a:rect l="l" t="t" r="r" b="b"/>
              <a:pathLst>
                <a:path w="87115" h="359290">
                  <a:moveTo>
                    <a:pt x="0" y="0"/>
                  </a:moveTo>
                  <a:lnTo>
                    <a:pt x="87115" y="0"/>
                  </a:lnTo>
                  <a:lnTo>
                    <a:pt x="87115" y="359290"/>
                  </a:lnTo>
                  <a:lnTo>
                    <a:pt x="0" y="359290"/>
                  </a:lnTo>
                  <a:close/>
                </a:path>
              </a:pathLst>
            </a:custGeom>
            <a:gradFill rotWithShape="1">
              <a:gsLst>
                <a:gs pos="0">
                  <a:srgbClr val="8C52FF">
                    <a:alpha val="100000"/>
                  </a:srgbClr>
                </a:gs>
                <a:gs pos="100000">
                  <a:srgbClr val="00BF63">
                    <a:alpha val="100000"/>
                  </a:srgbClr>
                </a:gs>
              </a:gsLst>
              <a:lin ang="0"/>
            </a:gradFill>
            <a:ln cap="sq">
              <a:noFill/>
              <a:prstDash val="solid"/>
              <a:miter/>
            </a:ln>
          </p:spPr>
        </p:sp>
      </p:grpSp>
      <p:grpSp>
        <p:nvGrpSpPr>
          <p:cNvPr id="27" name="Group 27"/>
          <p:cNvGrpSpPr/>
          <p:nvPr/>
        </p:nvGrpSpPr>
        <p:grpSpPr>
          <a:xfrm>
            <a:off x="1100763" y="6357764"/>
            <a:ext cx="662844" cy="2319102"/>
            <a:chOff x="0" y="0"/>
            <a:chExt cx="102692" cy="359290"/>
          </a:xfrm>
        </p:grpSpPr>
        <p:sp>
          <p:nvSpPr>
            <p:cNvPr id="28" name="Freeform 28"/>
            <p:cNvSpPr/>
            <p:nvPr/>
          </p:nvSpPr>
          <p:spPr>
            <a:xfrm>
              <a:off x="0" y="0"/>
              <a:ext cx="102692" cy="359290"/>
            </a:xfrm>
            <a:custGeom>
              <a:avLst/>
              <a:gdLst/>
              <a:ahLst/>
              <a:cxnLst/>
              <a:rect l="l" t="t" r="r" b="b"/>
              <a:pathLst>
                <a:path w="102692" h="359290">
                  <a:moveTo>
                    <a:pt x="0" y="0"/>
                  </a:moveTo>
                  <a:lnTo>
                    <a:pt x="102692" y="0"/>
                  </a:lnTo>
                  <a:lnTo>
                    <a:pt x="102692" y="359290"/>
                  </a:lnTo>
                  <a:lnTo>
                    <a:pt x="0" y="359290"/>
                  </a:lnTo>
                  <a:close/>
                </a:path>
              </a:pathLst>
            </a:custGeom>
            <a:gradFill rotWithShape="1">
              <a:gsLst>
                <a:gs pos="0">
                  <a:srgbClr val="0097B2">
                    <a:alpha val="100000"/>
                  </a:srgbClr>
                </a:gs>
                <a:gs pos="100000">
                  <a:srgbClr val="7ED957">
                    <a:alpha val="100000"/>
                  </a:srgbClr>
                </a:gs>
              </a:gsLst>
              <a:lin ang="0"/>
            </a:gradFill>
            <a:ln cap="sq">
              <a:noFill/>
              <a:prstDash val="solid"/>
              <a:miter/>
            </a:ln>
          </p:spPr>
        </p:sp>
      </p:grpSp>
      <p:grpSp>
        <p:nvGrpSpPr>
          <p:cNvPr id="29" name="Group 29"/>
          <p:cNvGrpSpPr/>
          <p:nvPr/>
        </p:nvGrpSpPr>
        <p:grpSpPr>
          <a:xfrm>
            <a:off x="6475753" y="4145257"/>
            <a:ext cx="1905212" cy="610909"/>
            <a:chOff x="0" y="0"/>
            <a:chExt cx="501784" cy="160898"/>
          </a:xfrm>
        </p:grpSpPr>
        <p:sp>
          <p:nvSpPr>
            <p:cNvPr id="30" name="Freeform 30"/>
            <p:cNvSpPr/>
            <p:nvPr/>
          </p:nvSpPr>
          <p:spPr>
            <a:xfrm>
              <a:off x="0" y="0"/>
              <a:ext cx="501784" cy="160898"/>
            </a:xfrm>
            <a:custGeom>
              <a:avLst/>
              <a:gdLst/>
              <a:ahLst/>
              <a:cxnLst/>
              <a:rect l="l" t="t" r="r" b="b"/>
              <a:pathLst>
                <a:path w="501784" h="160898">
                  <a:moveTo>
                    <a:pt x="80449" y="0"/>
                  </a:moveTo>
                  <a:lnTo>
                    <a:pt x="421335" y="0"/>
                  </a:lnTo>
                  <a:cubicBezTo>
                    <a:pt x="442672" y="0"/>
                    <a:pt x="463134" y="8476"/>
                    <a:pt x="478221" y="23563"/>
                  </a:cubicBezTo>
                  <a:cubicBezTo>
                    <a:pt x="493308" y="38650"/>
                    <a:pt x="501784" y="59113"/>
                    <a:pt x="501784" y="80449"/>
                  </a:cubicBezTo>
                  <a:lnTo>
                    <a:pt x="501784" y="80449"/>
                  </a:lnTo>
                  <a:cubicBezTo>
                    <a:pt x="501784" y="124880"/>
                    <a:pt x="465766" y="160898"/>
                    <a:pt x="421335" y="160898"/>
                  </a:cubicBezTo>
                  <a:lnTo>
                    <a:pt x="80449" y="160898"/>
                  </a:lnTo>
                  <a:cubicBezTo>
                    <a:pt x="59113" y="160898"/>
                    <a:pt x="38650" y="152422"/>
                    <a:pt x="23563" y="137335"/>
                  </a:cubicBezTo>
                  <a:cubicBezTo>
                    <a:pt x="8476" y="122248"/>
                    <a:pt x="0" y="101785"/>
                    <a:pt x="0" y="80449"/>
                  </a:cubicBezTo>
                  <a:lnTo>
                    <a:pt x="0" y="80449"/>
                  </a:lnTo>
                  <a:cubicBezTo>
                    <a:pt x="0" y="59113"/>
                    <a:pt x="8476" y="38650"/>
                    <a:pt x="23563" y="23563"/>
                  </a:cubicBezTo>
                  <a:cubicBezTo>
                    <a:pt x="38650" y="8476"/>
                    <a:pt x="59113" y="0"/>
                    <a:pt x="80449" y="0"/>
                  </a:cubicBezTo>
                  <a:close/>
                </a:path>
              </a:pathLst>
            </a:custGeom>
            <a:solidFill>
              <a:srgbClr val="000000">
                <a:alpha val="80000"/>
              </a:srgbClr>
            </a:solidFill>
            <a:ln w="38100" cap="rnd">
              <a:gradFill>
                <a:gsLst>
                  <a:gs pos="0">
                    <a:srgbClr val="F5B4FF">
                      <a:alpha val="80000"/>
                    </a:srgbClr>
                  </a:gs>
                  <a:gs pos="100000">
                    <a:srgbClr val="E393EF">
                      <a:alpha val="80000"/>
                    </a:srgbClr>
                  </a:gs>
                </a:gsLst>
                <a:lin ang="0"/>
              </a:gradFill>
              <a:prstDash val="solid"/>
              <a:round/>
            </a:ln>
          </p:spPr>
        </p:sp>
        <p:sp>
          <p:nvSpPr>
            <p:cNvPr id="31" name="TextBox 31"/>
            <p:cNvSpPr txBox="1"/>
            <p:nvPr/>
          </p:nvSpPr>
          <p:spPr>
            <a:xfrm>
              <a:off x="0" y="85725"/>
              <a:ext cx="501784" cy="75173"/>
            </a:xfrm>
            <a:prstGeom prst="rect">
              <a:avLst/>
            </a:prstGeom>
          </p:spPr>
          <p:txBody>
            <a:bodyPr lIns="50800" tIns="50800" rIns="50800" bIns="50800" rtlCol="0" anchor="ctr"/>
            <a:lstStyle/>
            <a:p>
              <a:pPr algn="ctr">
                <a:lnSpc>
                  <a:spcPts val="2218"/>
                </a:lnSpc>
              </a:pPr>
              <a:r>
                <a:rPr lang="en-US" sz="2609" spc="-195">
                  <a:solidFill>
                    <a:srgbClr val="F1D4E4">
                      <a:alpha val="80000"/>
                    </a:srgbClr>
                  </a:solidFill>
                  <a:latin typeface="Aileron"/>
                  <a:ea typeface="Aileron"/>
                  <a:cs typeface="Aileron"/>
                  <a:sym typeface="Aileron"/>
                </a:rPr>
                <a:t>PARAMETER</a:t>
              </a:r>
            </a:p>
          </p:txBody>
        </p:sp>
      </p:grpSp>
      <p:sp>
        <p:nvSpPr>
          <p:cNvPr id="32" name="TextBox 32"/>
          <p:cNvSpPr txBox="1"/>
          <p:nvPr/>
        </p:nvSpPr>
        <p:spPr>
          <a:xfrm>
            <a:off x="1485414" y="476416"/>
            <a:ext cx="15317172" cy="947879"/>
          </a:xfrm>
          <a:prstGeom prst="rect">
            <a:avLst/>
          </a:prstGeom>
        </p:spPr>
        <p:txBody>
          <a:bodyPr lIns="0" tIns="0" rIns="0" bIns="0" rtlCol="0" anchor="t">
            <a:spAutoFit/>
          </a:bodyPr>
          <a:lstStyle/>
          <a:p>
            <a:pPr algn="ctr">
              <a:lnSpc>
                <a:spcPts val="7356"/>
              </a:lnSpc>
            </a:pPr>
            <a:r>
              <a:rPr lang="en-US" sz="6287" b="1" spc="-264">
                <a:solidFill>
                  <a:srgbClr val="FFFFFF"/>
                </a:solidFill>
                <a:latin typeface="Open Sauce Bold"/>
                <a:ea typeface="Open Sauce Bold"/>
                <a:cs typeface="Open Sauce Bold"/>
                <a:sym typeface="Open Sauce Bold"/>
              </a:rPr>
              <a:t>Scheduling &amp; Optimisation Decisions</a:t>
            </a:r>
          </a:p>
        </p:txBody>
      </p:sp>
      <p:sp>
        <p:nvSpPr>
          <p:cNvPr id="33" name="TextBox 33"/>
          <p:cNvSpPr txBox="1"/>
          <p:nvPr/>
        </p:nvSpPr>
        <p:spPr>
          <a:xfrm>
            <a:off x="2218584" y="2453401"/>
            <a:ext cx="5272709" cy="887730"/>
          </a:xfrm>
          <a:prstGeom prst="rect">
            <a:avLst/>
          </a:prstGeom>
        </p:spPr>
        <p:txBody>
          <a:bodyPr lIns="0" tIns="0" rIns="0" bIns="0" rtlCol="0" anchor="t">
            <a:spAutoFit/>
          </a:bodyPr>
          <a:lstStyle/>
          <a:p>
            <a:pPr algn="l">
              <a:lnSpc>
                <a:spcPts val="3510"/>
              </a:lnSpc>
            </a:pPr>
            <a:r>
              <a:rPr lang="en-US" sz="3000" b="1" spc="-126">
                <a:solidFill>
                  <a:srgbClr val="0E0637"/>
                </a:solidFill>
                <a:latin typeface="Open Sauce Bold"/>
                <a:ea typeface="Open Sauce Bold"/>
                <a:cs typeface="Open Sauce Bold"/>
                <a:sym typeface="Open Sauce Bold"/>
              </a:rPr>
              <a:t>Tile Size Sweep</a:t>
            </a:r>
          </a:p>
          <a:p>
            <a:pPr algn="l">
              <a:lnSpc>
                <a:spcPts val="3510"/>
              </a:lnSpc>
            </a:pPr>
            <a:endParaRPr lang="en-US" sz="3000" b="1" spc="-126">
              <a:solidFill>
                <a:srgbClr val="0E0637"/>
              </a:solidFill>
              <a:latin typeface="Open Sauce Bold"/>
              <a:ea typeface="Open Sauce Bold"/>
              <a:cs typeface="Open Sauce Bold"/>
              <a:sym typeface="Open Sauce Bold"/>
            </a:endParaRPr>
          </a:p>
        </p:txBody>
      </p:sp>
      <p:sp>
        <p:nvSpPr>
          <p:cNvPr id="34" name="TextBox 34"/>
          <p:cNvSpPr txBox="1"/>
          <p:nvPr/>
        </p:nvSpPr>
        <p:spPr>
          <a:xfrm>
            <a:off x="11285965" y="6427477"/>
            <a:ext cx="7437997" cy="887730"/>
          </a:xfrm>
          <a:prstGeom prst="rect">
            <a:avLst/>
          </a:prstGeom>
        </p:spPr>
        <p:txBody>
          <a:bodyPr lIns="0" tIns="0" rIns="0" bIns="0" rtlCol="0" anchor="t">
            <a:spAutoFit/>
          </a:bodyPr>
          <a:lstStyle/>
          <a:p>
            <a:pPr algn="l">
              <a:lnSpc>
                <a:spcPts val="3510"/>
              </a:lnSpc>
            </a:pPr>
            <a:r>
              <a:rPr lang="en-US" sz="3000" b="1" spc="-126">
                <a:solidFill>
                  <a:srgbClr val="0E0637"/>
                </a:solidFill>
                <a:latin typeface="Open Sauce Bold"/>
                <a:ea typeface="Open Sauce Bold"/>
                <a:cs typeface="Open Sauce Bold"/>
                <a:sym typeface="Open Sauce Bold"/>
              </a:rPr>
              <a:t>Percentile-Based Thresholds</a:t>
            </a:r>
          </a:p>
          <a:p>
            <a:pPr algn="l">
              <a:lnSpc>
                <a:spcPts val="3510"/>
              </a:lnSpc>
            </a:pPr>
            <a:endParaRPr lang="en-US" sz="3000" b="1" spc="-126">
              <a:solidFill>
                <a:srgbClr val="0E0637"/>
              </a:solidFill>
              <a:latin typeface="Open Sauce Bold"/>
              <a:ea typeface="Open Sauce Bold"/>
              <a:cs typeface="Open Sauce Bold"/>
              <a:sym typeface="Open Sauce Bold"/>
            </a:endParaRPr>
          </a:p>
        </p:txBody>
      </p:sp>
      <p:sp>
        <p:nvSpPr>
          <p:cNvPr id="35" name="TextBox 35"/>
          <p:cNvSpPr txBox="1"/>
          <p:nvPr/>
        </p:nvSpPr>
        <p:spPr>
          <a:xfrm>
            <a:off x="11262515" y="2558064"/>
            <a:ext cx="8673194" cy="887730"/>
          </a:xfrm>
          <a:prstGeom prst="rect">
            <a:avLst/>
          </a:prstGeom>
        </p:spPr>
        <p:txBody>
          <a:bodyPr lIns="0" tIns="0" rIns="0" bIns="0" rtlCol="0" anchor="t">
            <a:spAutoFit/>
          </a:bodyPr>
          <a:lstStyle/>
          <a:p>
            <a:pPr algn="l">
              <a:lnSpc>
                <a:spcPts val="3510"/>
              </a:lnSpc>
            </a:pPr>
            <a:r>
              <a:rPr lang="en-US" sz="3000" b="1" spc="-126">
                <a:solidFill>
                  <a:srgbClr val="FFFFFF"/>
                </a:solidFill>
                <a:latin typeface="Open Sauce Bold"/>
                <a:ea typeface="Open Sauce Bold"/>
                <a:cs typeface="Open Sauce Bold"/>
                <a:sym typeface="Open Sauce Bold"/>
              </a:rPr>
              <a:t>Memory Transfer Minimisation</a:t>
            </a:r>
          </a:p>
          <a:p>
            <a:pPr algn="l">
              <a:lnSpc>
                <a:spcPts val="3510"/>
              </a:lnSpc>
            </a:pPr>
            <a:endParaRPr lang="en-US" sz="3000" b="1" spc="-126">
              <a:solidFill>
                <a:srgbClr val="FFFFFF"/>
              </a:solidFill>
              <a:latin typeface="Open Sauce Bold"/>
              <a:ea typeface="Open Sauce Bold"/>
              <a:cs typeface="Open Sauce Bold"/>
              <a:sym typeface="Open Sauce Bold"/>
            </a:endParaRPr>
          </a:p>
        </p:txBody>
      </p:sp>
      <p:sp>
        <p:nvSpPr>
          <p:cNvPr id="36" name="TextBox 36"/>
          <p:cNvSpPr txBox="1"/>
          <p:nvPr/>
        </p:nvSpPr>
        <p:spPr>
          <a:xfrm>
            <a:off x="2101000" y="6411477"/>
            <a:ext cx="8461144" cy="887730"/>
          </a:xfrm>
          <a:prstGeom prst="rect">
            <a:avLst/>
          </a:prstGeom>
        </p:spPr>
        <p:txBody>
          <a:bodyPr lIns="0" tIns="0" rIns="0" bIns="0" rtlCol="0" anchor="t">
            <a:spAutoFit/>
          </a:bodyPr>
          <a:lstStyle/>
          <a:p>
            <a:pPr algn="l">
              <a:lnSpc>
                <a:spcPts val="3510"/>
              </a:lnSpc>
            </a:pPr>
            <a:r>
              <a:rPr lang="en-US" sz="3000" b="1" spc="-126">
                <a:solidFill>
                  <a:srgbClr val="FFFFFF"/>
                </a:solidFill>
                <a:latin typeface="Open Sauce Bold"/>
                <a:ea typeface="Open Sauce Bold"/>
                <a:cs typeface="Open Sauce Bold"/>
                <a:sym typeface="Open Sauce Bold"/>
              </a:rPr>
              <a:t>GPU Frontend, CPU Postprocess</a:t>
            </a:r>
          </a:p>
          <a:p>
            <a:pPr algn="l">
              <a:lnSpc>
                <a:spcPts val="3510"/>
              </a:lnSpc>
            </a:pPr>
            <a:endParaRPr lang="en-US" sz="3000" b="1" spc="-126">
              <a:solidFill>
                <a:srgbClr val="FFFFFF"/>
              </a:solidFill>
              <a:latin typeface="Open Sauce Bold"/>
              <a:ea typeface="Open Sauce Bold"/>
              <a:cs typeface="Open Sauce Bold"/>
              <a:sym typeface="Open Sauce Bold"/>
            </a:endParaRPr>
          </a:p>
        </p:txBody>
      </p:sp>
      <p:sp>
        <p:nvSpPr>
          <p:cNvPr id="37" name="TextBox 37"/>
          <p:cNvSpPr txBox="1"/>
          <p:nvPr/>
        </p:nvSpPr>
        <p:spPr>
          <a:xfrm>
            <a:off x="2218584" y="2934712"/>
            <a:ext cx="6162381" cy="1515999"/>
          </a:xfrm>
          <a:prstGeom prst="rect">
            <a:avLst/>
          </a:prstGeom>
        </p:spPr>
        <p:txBody>
          <a:bodyPr lIns="0" tIns="0" rIns="0" bIns="0" rtlCol="0" anchor="t">
            <a:spAutoFit/>
          </a:bodyPr>
          <a:lstStyle/>
          <a:p>
            <a:pPr algn="l">
              <a:lnSpc>
                <a:spcPts val="2448"/>
              </a:lnSpc>
            </a:pPr>
            <a:r>
              <a:rPr lang="en-US" sz="1800" spc="-41">
                <a:solidFill>
                  <a:srgbClr val="0E0637"/>
                </a:solidFill>
                <a:latin typeface="Open Sauce Light"/>
                <a:ea typeface="Open Sauce Light"/>
                <a:cs typeface="Open Sauce Light"/>
                <a:sym typeface="Open Sauce Light"/>
              </a:rPr>
              <a:t>Tested tile sizes 64/128/256/512. Tile size = 64 gave the best performance — the only tunable parameter for parallel granularity. Larger tiles increase register pressure → lower occupancy → worse throughput.</a:t>
            </a:r>
          </a:p>
          <a:p>
            <a:pPr algn="l">
              <a:lnSpc>
                <a:spcPts val="2448"/>
              </a:lnSpc>
            </a:pPr>
            <a:endParaRPr lang="en-US" sz="1800" spc="-41">
              <a:solidFill>
                <a:srgbClr val="0E0637"/>
              </a:solidFill>
              <a:latin typeface="Open Sauce Light"/>
              <a:ea typeface="Open Sauce Light"/>
              <a:cs typeface="Open Sauce Light"/>
              <a:sym typeface="Open Sauce Light"/>
            </a:endParaRPr>
          </a:p>
        </p:txBody>
      </p:sp>
      <p:sp>
        <p:nvSpPr>
          <p:cNvPr id="38" name="TextBox 38"/>
          <p:cNvSpPr txBox="1"/>
          <p:nvPr/>
        </p:nvSpPr>
        <p:spPr>
          <a:xfrm>
            <a:off x="11285965" y="7097277"/>
            <a:ext cx="5919309" cy="1211199"/>
          </a:xfrm>
          <a:prstGeom prst="rect">
            <a:avLst/>
          </a:prstGeom>
        </p:spPr>
        <p:txBody>
          <a:bodyPr lIns="0" tIns="0" rIns="0" bIns="0" rtlCol="0" anchor="t">
            <a:spAutoFit/>
          </a:bodyPr>
          <a:lstStyle/>
          <a:p>
            <a:pPr algn="l">
              <a:lnSpc>
                <a:spcPts val="2448"/>
              </a:lnSpc>
            </a:pPr>
            <a:r>
              <a:rPr lang="en-US" sz="1800" spc="-41">
                <a:solidFill>
                  <a:srgbClr val="0E0637"/>
                </a:solidFill>
                <a:latin typeface="Open Sauce Light"/>
                <a:ea typeface="Open Sauce Light"/>
                <a:cs typeface="Open Sauce Light"/>
                <a:sym typeface="Open Sauce Light"/>
              </a:rPr>
              <a:t>Adaptive thresholds (high = 90th percentile of NMS values) avoid frame-to-frame flicker. More robust for video streams.</a:t>
            </a:r>
          </a:p>
          <a:p>
            <a:pPr algn="l">
              <a:lnSpc>
                <a:spcPts val="2448"/>
              </a:lnSpc>
            </a:pPr>
            <a:endParaRPr lang="en-US" sz="1800" spc="-41">
              <a:solidFill>
                <a:srgbClr val="0E0637"/>
              </a:solidFill>
              <a:latin typeface="Open Sauce Light"/>
              <a:ea typeface="Open Sauce Light"/>
              <a:cs typeface="Open Sauce Light"/>
              <a:sym typeface="Open Sauce Light"/>
            </a:endParaRPr>
          </a:p>
        </p:txBody>
      </p:sp>
      <p:sp>
        <p:nvSpPr>
          <p:cNvPr id="39" name="TextBox 39"/>
          <p:cNvSpPr txBox="1"/>
          <p:nvPr/>
        </p:nvSpPr>
        <p:spPr>
          <a:xfrm>
            <a:off x="11262515" y="3191776"/>
            <a:ext cx="5690840" cy="1211199"/>
          </a:xfrm>
          <a:prstGeom prst="rect">
            <a:avLst/>
          </a:prstGeom>
        </p:spPr>
        <p:txBody>
          <a:bodyPr lIns="0" tIns="0" rIns="0" bIns="0" rtlCol="0" anchor="t">
            <a:spAutoFit/>
          </a:bodyPr>
          <a:lstStyle/>
          <a:p>
            <a:pPr algn="l">
              <a:lnSpc>
                <a:spcPts val="2448"/>
              </a:lnSpc>
            </a:pPr>
            <a:r>
              <a:rPr lang="en-US" sz="1800" spc="-41">
                <a:solidFill>
                  <a:srgbClr val="FFFFFF"/>
                </a:solidFill>
                <a:latin typeface="Open Sauce Light"/>
                <a:ea typeface="Open Sauce Light"/>
                <a:cs typeface="Open Sauce Light"/>
                <a:sym typeface="Open Sauce Light"/>
              </a:rPr>
              <a:t>Input transferred once; all intermediate results stay on GPU. Only NMS output copied back to CPU for post-processing. Minimised communication cost.</a:t>
            </a:r>
          </a:p>
          <a:p>
            <a:pPr algn="l">
              <a:lnSpc>
                <a:spcPts val="2448"/>
              </a:lnSpc>
            </a:pPr>
            <a:endParaRPr lang="en-US" sz="1800" spc="-41">
              <a:solidFill>
                <a:srgbClr val="FFFFFF"/>
              </a:solidFill>
              <a:latin typeface="Open Sauce Light"/>
              <a:ea typeface="Open Sauce Light"/>
              <a:cs typeface="Open Sauce Light"/>
              <a:sym typeface="Open Sauce Light"/>
            </a:endParaRPr>
          </a:p>
        </p:txBody>
      </p:sp>
      <p:sp>
        <p:nvSpPr>
          <p:cNvPr id="40" name="TextBox 40"/>
          <p:cNvSpPr txBox="1"/>
          <p:nvPr/>
        </p:nvSpPr>
        <p:spPr>
          <a:xfrm>
            <a:off x="2206276" y="7097277"/>
            <a:ext cx="6162381" cy="1211199"/>
          </a:xfrm>
          <a:prstGeom prst="rect">
            <a:avLst/>
          </a:prstGeom>
        </p:spPr>
        <p:txBody>
          <a:bodyPr lIns="0" tIns="0" rIns="0" bIns="0" rtlCol="0" anchor="t">
            <a:spAutoFit/>
          </a:bodyPr>
          <a:lstStyle/>
          <a:p>
            <a:pPr algn="l">
              <a:lnSpc>
                <a:spcPts val="2448"/>
              </a:lnSpc>
            </a:pPr>
            <a:r>
              <a:rPr lang="en-US" sz="1800" spc="-41">
                <a:solidFill>
                  <a:srgbClr val="FFFFFF"/>
                </a:solidFill>
                <a:latin typeface="Open Sauce Light"/>
                <a:ea typeface="Open Sauce Light"/>
                <a:cs typeface="Open Sauce Light"/>
                <a:sym typeface="Open Sauce Light"/>
              </a:rPr>
              <a:t>Gaussian, Sobel, and NMS run on GPU. Double threshold and hysteresis use CPU (cv2) — fast enough at &lt;5ms per frame. Hybrid scheduling design.</a:t>
            </a:r>
          </a:p>
          <a:p>
            <a:pPr algn="l">
              <a:lnSpc>
                <a:spcPts val="2448"/>
              </a:lnSpc>
            </a:pPr>
            <a:endParaRPr lang="en-US" sz="1800" spc="-41">
              <a:solidFill>
                <a:srgbClr val="FFFFFF"/>
              </a:solidFill>
              <a:latin typeface="Open Sauce Light"/>
              <a:ea typeface="Open Sauce Light"/>
              <a:cs typeface="Open Sauce Light"/>
              <a:sym typeface="Open Sauce Light"/>
            </a:endParaRPr>
          </a:p>
        </p:txBody>
      </p:sp>
      <p:grpSp>
        <p:nvGrpSpPr>
          <p:cNvPr id="41" name="Group 41"/>
          <p:cNvGrpSpPr/>
          <p:nvPr/>
        </p:nvGrpSpPr>
        <p:grpSpPr>
          <a:xfrm>
            <a:off x="6463445" y="8099307"/>
            <a:ext cx="1905212" cy="610909"/>
            <a:chOff x="0" y="0"/>
            <a:chExt cx="501784" cy="160898"/>
          </a:xfrm>
        </p:grpSpPr>
        <p:sp>
          <p:nvSpPr>
            <p:cNvPr id="42" name="Freeform 42"/>
            <p:cNvSpPr/>
            <p:nvPr/>
          </p:nvSpPr>
          <p:spPr>
            <a:xfrm>
              <a:off x="0" y="0"/>
              <a:ext cx="501784" cy="160898"/>
            </a:xfrm>
            <a:custGeom>
              <a:avLst/>
              <a:gdLst/>
              <a:ahLst/>
              <a:cxnLst/>
              <a:rect l="l" t="t" r="r" b="b"/>
              <a:pathLst>
                <a:path w="501784" h="160898">
                  <a:moveTo>
                    <a:pt x="80449" y="0"/>
                  </a:moveTo>
                  <a:lnTo>
                    <a:pt x="421335" y="0"/>
                  </a:lnTo>
                  <a:cubicBezTo>
                    <a:pt x="442672" y="0"/>
                    <a:pt x="463134" y="8476"/>
                    <a:pt x="478221" y="23563"/>
                  </a:cubicBezTo>
                  <a:cubicBezTo>
                    <a:pt x="493308" y="38650"/>
                    <a:pt x="501784" y="59113"/>
                    <a:pt x="501784" y="80449"/>
                  </a:cubicBezTo>
                  <a:lnTo>
                    <a:pt x="501784" y="80449"/>
                  </a:lnTo>
                  <a:cubicBezTo>
                    <a:pt x="501784" y="124880"/>
                    <a:pt x="465766" y="160898"/>
                    <a:pt x="421335" y="160898"/>
                  </a:cubicBezTo>
                  <a:lnTo>
                    <a:pt x="80449" y="160898"/>
                  </a:lnTo>
                  <a:cubicBezTo>
                    <a:pt x="59113" y="160898"/>
                    <a:pt x="38650" y="152422"/>
                    <a:pt x="23563" y="137335"/>
                  </a:cubicBezTo>
                  <a:cubicBezTo>
                    <a:pt x="8476" y="122248"/>
                    <a:pt x="0" y="101785"/>
                    <a:pt x="0" y="80449"/>
                  </a:cubicBezTo>
                  <a:lnTo>
                    <a:pt x="0" y="80449"/>
                  </a:lnTo>
                  <a:cubicBezTo>
                    <a:pt x="0" y="59113"/>
                    <a:pt x="8476" y="38650"/>
                    <a:pt x="23563" y="23563"/>
                  </a:cubicBezTo>
                  <a:cubicBezTo>
                    <a:pt x="38650" y="8476"/>
                    <a:pt x="59113" y="0"/>
                    <a:pt x="80449" y="0"/>
                  </a:cubicBezTo>
                  <a:close/>
                </a:path>
              </a:pathLst>
            </a:custGeom>
            <a:solidFill>
              <a:srgbClr val="000000">
                <a:alpha val="80000"/>
              </a:srgbClr>
            </a:solidFill>
            <a:ln w="38100" cap="rnd">
              <a:gradFill>
                <a:gsLst>
                  <a:gs pos="0">
                    <a:srgbClr val="F5B4FF">
                      <a:alpha val="80000"/>
                    </a:srgbClr>
                  </a:gs>
                  <a:gs pos="100000">
                    <a:srgbClr val="E393EF">
                      <a:alpha val="80000"/>
                    </a:srgbClr>
                  </a:gs>
                </a:gsLst>
                <a:lin ang="0"/>
              </a:gradFill>
              <a:prstDash val="solid"/>
              <a:round/>
            </a:ln>
          </p:spPr>
        </p:sp>
        <p:sp>
          <p:nvSpPr>
            <p:cNvPr id="43" name="TextBox 43"/>
            <p:cNvSpPr txBox="1"/>
            <p:nvPr/>
          </p:nvSpPr>
          <p:spPr>
            <a:xfrm>
              <a:off x="0" y="85725"/>
              <a:ext cx="501784" cy="75173"/>
            </a:xfrm>
            <a:prstGeom prst="rect">
              <a:avLst/>
            </a:prstGeom>
          </p:spPr>
          <p:txBody>
            <a:bodyPr lIns="50800" tIns="50800" rIns="50800" bIns="50800" rtlCol="0" anchor="ctr"/>
            <a:lstStyle/>
            <a:p>
              <a:pPr algn="ctr">
                <a:lnSpc>
                  <a:spcPts val="2218"/>
                </a:lnSpc>
              </a:pPr>
              <a:r>
                <a:rPr lang="en-US" sz="2609" spc="-195">
                  <a:solidFill>
                    <a:srgbClr val="F1D4E4">
                      <a:alpha val="80000"/>
                    </a:srgbClr>
                  </a:solidFill>
                  <a:latin typeface="Aileron"/>
                  <a:ea typeface="Aileron"/>
                  <a:cs typeface="Aileron"/>
                  <a:sym typeface="Aileron"/>
                </a:rPr>
                <a:t>DESIGN</a:t>
              </a:r>
            </a:p>
          </p:txBody>
        </p:sp>
      </p:grpSp>
      <p:grpSp>
        <p:nvGrpSpPr>
          <p:cNvPr id="44" name="Group 44"/>
          <p:cNvGrpSpPr/>
          <p:nvPr/>
        </p:nvGrpSpPr>
        <p:grpSpPr>
          <a:xfrm>
            <a:off x="15543133" y="8115307"/>
            <a:ext cx="1905212" cy="610909"/>
            <a:chOff x="0" y="0"/>
            <a:chExt cx="501784" cy="160898"/>
          </a:xfrm>
        </p:grpSpPr>
        <p:sp>
          <p:nvSpPr>
            <p:cNvPr id="45" name="Freeform 45"/>
            <p:cNvSpPr/>
            <p:nvPr/>
          </p:nvSpPr>
          <p:spPr>
            <a:xfrm>
              <a:off x="0" y="0"/>
              <a:ext cx="501784" cy="160898"/>
            </a:xfrm>
            <a:custGeom>
              <a:avLst/>
              <a:gdLst/>
              <a:ahLst/>
              <a:cxnLst/>
              <a:rect l="l" t="t" r="r" b="b"/>
              <a:pathLst>
                <a:path w="501784" h="160898">
                  <a:moveTo>
                    <a:pt x="80449" y="0"/>
                  </a:moveTo>
                  <a:lnTo>
                    <a:pt x="421335" y="0"/>
                  </a:lnTo>
                  <a:cubicBezTo>
                    <a:pt x="442672" y="0"/>
                    <a:pt x="463134" y="8476"/>
                    <a:pt x="478221" y="23563"/>
                  </a:cubicBezTo>
                  <a:cubicBezTo>
                    <a:pt x="493308" y="38650"/>
                    <a:pt x="501784" y="59113"/>
                    <a:pt x="501784" y="80449"/>
                  </a:cubicBezTo>
                  <a:lnTo>
                    <a:pt x="501784" y="80449"/>
                  </a:lnTo>
                  <a:cubicBezTo>
                    <a:pt x="501784" y="124880"/>
                    <a:pt x="465766" y="160898"/>
                    <a:pt x="421335" y="160898"/>
                  </a:cubicBezTo>
                  <a:lnTo>
                    <a:pt x="80449" y="160898"/>
                  </a:lnTo>
                  <a:cubicBezTo>
                    <a:pt x="59113" y="160898"/>
                    <a:pt x="38650" y="152422"/>
                    <a:pt x="23563" y="137335"/>
                  </a:cubicBezTo>
                  <a:cubicBezTo>
                    <a:pt x="8476" y="122248"/>
                    <a:pt x="0" y="101785"/>
                    <a:pt x="0" y="80449"/>
                  </a:cubicBezTo>
                  <a:lnTo>
                    <a:pt x="0" y="80449"/>
                  </a:lnTo>
                  <a:cubicBezTo>
                    <a:pt x="0" y="59113"/>
                    <a:pt x="8476" y="38650"/>
                    <a:pt x="23563" y="23563"/>
                  </a:cubicBezTo>
                  <a:cubicBezTo>
                    <a:pt x="38650" y="8476"/>
                    <a:pt x="59113" y="0"/>
                    <a:pt x="80449" y="0"/>
                  </a:cubicBezTo>
                  <a:close/>
                </a:path>
              </a:pathLst>
            </a:custGeom>
            <a:solidFill>
              <a:srgbClr val="000000">
                <a:alpha val="80000"/>
              </a:srgbClr>
            </a:solidFill>
            <a:ln w="38100" cap="rnd">
              <a:gradFill>
                <a:gsLst>
                  <a:gs pos="0">
                    <a:srgbClr val="F5B4FF">
                      <a:alpha val="80000"/>
                    </a:srgbClr>
                  </a:gs>
                  <a:gs pos="100000">
                    <a:srgbClr val="E393EF">
                      <a:alpha val="80000"/>
                    </a:srgbClr>
                  </a:gs>
                </a:gsLst>
                <a:lin ang="0"/>
              </a:gradFill>
              <a:prstDash val="solid"/>
              <a:round/>
            </a:ln>
          </p:spPr>
        </p:sp>
        <p:sp>
          <p:nvSpPr>
            <p:cNvPr id="46" name="TextBox 46"/>
            <p:cNvSpPr txBox="1"/>
            <p:nvPr/>
          </p:nvSpPr>
          <p:spPr>
            <a:xfrm>
              <a:off x="0" y="85725"/>
              <a:ext cx="501784" cy="75173"/>
            </a:xfrm>
            <a:prstGeom prst="rect">
              <a:avLst/>
            </a:prstGeom>
          </p:spPr>
          <p:txBody>
            <a:bodyPr lIns="50800" tIns="50800" rIns="50800" bIns="50800" rtlCol="0" anchor="ctr"/>
            <a:lstStyle/>
            <a:p>
              <a:pPr algn="ctr">
                <a:lnSpc>
                  <a:spcPts val="2218"/>
                </a:lnSpc>
              </a:pPr>
              <a:r>
                <a:rPr lang="en-US" sz="2609" spc="-195">
                  <a:solidFill>
                    <a:srgbClr val="F1D4E4">
                      <a:alpha val="80000"/>
                    </a:srgbClr>
                  </a:solidFill>
                  <a:latin typeface="Aileron"/>
                  <a:ea typeface="Aileron"/>
                  <a:cs typeface="Aileron"/>
                  <a:sym typeface="Aileron"/>
                </a:rPr>
                <a:t>ALGORITHM</a:t>
              </a:r>
            </a:p>
          </p:txBody>
        </p:sp>
      </p:grpSp>
      <p:grpSp>
        <p:nvGrpSpPr>
          <p:cNvPr id="47" name="Group 47"/>
          <p:cNvGrpSpPr/>
          <p:nvPr/>
        </p:nvGrpSpPr>
        <p:grpSpPr>
          <a:xfrm>
            <a:off x="15058378" y="4211277"/>
            <a:ext cx="1905212" cy="610909"/>
            <a:chOff x="0" y="0"/>
            <a:chExt cx="501784" cy="160898"/>
          </a:xfrm>
        </p:grpSpPr>
        <p:sp>
          <p:nvSpPr>
            <p:cNvPr id="48" name="Freeform 48"/>
            <p:cNvSpPr/>
            <p:nvPr/>
          </p:nvSpPr>
          <p:spPr>
            <a:xfrm>
              <a:off x="0" y="0"/>
              <a:ext cx="501784" cy="160898"/>
            </a:xfrm>
            <a:custGeom>
              <a:avLst/>
              <a:gdLst/>
              <a:ahLst/>
              <a:cxnLst/>
              <a:rect l="l" t="t" r="r" b="b"/>
              <a:pathLst>
                <a:path w="501784" h="160898">
                  <a:moveTo>
                    <a:pt x="80449" y="0"/>
                  </a:moveTo>
                  <a:lnTo>
                    <a:pt x="421335" y="0"/>
                  </a:lnTo>
                  <a:cubicBezTo>
                    <a:pt x="442672" y="0"/>
                    <a:pt x="463134" y="8476"/>
                    <a:pt x="478221" y="23563"/>
                  </a:cubicBezTo>
                  <a:cubicBezTo>
                    <a:pt x="493308" y="38650"/>
                    <a:pt x="501784" y="59113"/>
                    <a:pt x="501784" y="80449"/>
                  </a:cubicBezTo>
                  <a:lnTo>
                    <a:pt x="501784" y="80449"/>
                  </a:lnTo>
                  <a:cubicBezTo>
                    <a:pt x="501784" y="124880"/>
                    <a:pt x="465766" y="160898"/>
                    <a:pt x="421335" y="160898"/>
                  </a:cubicBezTo>
                  <a:lnTo>
                    <a:pt x="80449" y="160898"/>
                  </a:lnTo>
                  <a:cubicBezTo>
                    <a:pt x="59113" y="160898"/>
                    <a:pt x="38650" y="152422"/>
                    <a:pt x="23563" y="137335"/>
                  </a:cubicBezTo>
                  <a:cubicBezTo>
                    <a:pt x="8476" y="122248"/>
                    <a:pt x="0" y="101785"/>
                    <a:pt x="0" y="80449"/>
                  </a:cubicBezTo>
                  <a:lnTo>
                    <a:pt x="0" y="80449"/>
                  </a:lnTo>
                  <a:cubicBezTo>
                    <a:pt x="0" y="59113"/>
                    <a:pt x="8476" y="38650"/>
                    <a:pt x="23563" y="23563"/>
                  </a:cubicBezTo>
                  <a:cubicBezTo>
                    <a:pt x="38650" y="8476"/>
                    <a:pt x="59113" y="0"/>
                    <a:pt x="80449" y="0"/>
                  </a:cubicBezTo>
                  <a:close/>
                </a:path>
              </a:pathLst>
            </a:custGeom>
            <a:solidFill>
              <a:srgbClr val="000000">
                <a:alpha val="80000"/>
              </a:srgbClr>
            </a:solidFill>
            <a:ln w="38100" cap="rnd">
              <a:gradFill>
                <a:gsLst>
                  <a:gs pos="0">
                    <a:srgbClr val="F5B4FF">
                      <a:alpha val="80000"/>
                    </a:srgbClr>
                  </a:gs>
                  <a:gs pos="100000">
                    <a:srgbClr val="E393EF">
                      <a:alpha val="80000"/>
                    </a:srgbClr>
                  </a:gs>
                </a:gsLst>
                <a:lin ang="0"/>
              </a:gradFill>
              <a:prstDash val="solid"/>
              <a:round/>
            </a:ln>
          </p:spPr>
        </p:sp>
        <p:sp>
          <p:nvSpPr>
            <p:cNvPr id="49" name="TextBox 49"/>
            <p:cNvSpPr txBox="1"/>
            <p:nvPr/>
          </p:nvSpPr>
          <p:spPr>
            <a:xfrm>
              <a:off x="0" y="85725"/>
              <a:ext cx="501784" cy="75173"/>
            </a:xfrm>
            <a:prstGeom prst="rect">
              <a:avLst/>
            </a:prstGeom>
          </p:spPr>
          <p:txBody>
            <a:bodyPr lIns="50800" tIns="50800" rIns="50800" bIns="50800" rtlCol="0" anchor="ctr"/>
            <a:lstStyle/>
            <a:p>
              <a:pPr algn="ctr">
                <a:lnSpc>
                  <a:spcPts val="2218"/>
                </a:lnSpc>
              </a:pPr>
              <a:r>
                <a:rPr lang="en-US" sz="2609" spc="-195">
                  <a:solidFill>
                    <a:srgbClr val="F1D4E4">
                      <a:alpha val="80000"/>
                    </a:srgbClr>
                  </a:solidFill>
                  <a:latin typeface="Aileron"/>
                  <a:ea typeface="Aileron"/>
                  <a:cs typeface="Aileron"/>
                  <a:sym typeface="Aileron"/>
                </a:rPr>
                <a:t>MEMORY</a:t>
              </a:r>
            </a:p>
          </p:txBody>
        </p:sp>
      </p:grpSp>
      <p:sp>
        <p:nvSpPr>
          <p:cNvPr id="50" name="TextBox 50"/>
          <p:cNvSpPr txBox="1"/>
          <p:nvPr/>
        </p:nvSpPr>
        <p:spPr>
          <a:xfrm>
            <a:off x="3645497" y="9210675"/>
            <a:ext cx="11635904" cy="438540"/>
          </a:xfrm>
          <a:prstGeom prst="rect">
            <a:avLst/>
          </a:prstGeom>
        </p:spPr>
        <p:txBody>
          <a:bodyPr lIns="0" tIns="0" rIns="0" bIns="0" rtlCol="0" anchor="t">
            <a:spAutoFit/>
          </a:bodyPr>
          <a:lstStyle/>
          <a:p>
            <a:pPr algn="ctr">
              <a:lnSpc>
                <a:spcPts val="3653"/>
              </a:lnSpc>
              <a:spcBef>
                <a:spcPct val="0"/>
              </a:spcBef>
            </a:pPr>
            <a:r>
              <a:rPr lang="en-US" sz="2609" spc="-195">
                <a:solidFill>
                  <a:srgbClr val="FFFFFF"/>
                </a:solidFill>
                <a:latin typeface="Aileron"/>
                <a:ea typeface="Aileron"/>
                <a:cs typeface="Aileron"/>
                <a:sym typeface="Aileron"/>
              </a:rPr>
              <a:t>From dependence analysis → scheduling decisions → balanced performance &amp; compatibility</a:t>
            </a:r>
          </a:p>
        </p:txBody>
      </p:sp>
      <p:sp>
        <p:nvSpPr>
          <p:cNvPr id="51" name="TextBox 51"/>
          <p:cNvSpPr txBox="1"/>
          <p:nvPr/>
        </p:nvSpPr>
        <p:spPr>
          <a:xfrm>
            <a:off x="16650716" y="206363"/>
            <a:ext cx="1500783"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Xudong Ma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0637"/>
        </a:solidFill>
        <a:effectLst/>
      </p:bgPr>
    </p:bg>
    <p:spTree>
      <p:nvGrpSpPr>
        <p:cNvPr id="1" name=""/>
        <p:cNvGrpSpPr/>
        <p:nvPr/>
      </p:nvGrpSpPr>
      <p:grpSpPr>
        <a:xfrm>
          <a:off x="0" y="0"/>
          <a:ext cx="0" cy="0"/>
          <a:chOff x="0" y="0"/>
          <a:chExt cx="0" cy="0"/>
        </a:xfrm>
      </p:grpSpPr>
      <p:grpSp>
        <p:nvGrpSpPr>
          <p:cNvPr id="2" name="Group 2"/>
          <p:cNvGrpSpPr/>
          <p:nvPr/>
        </p:nvGrpSpPr>
        <p:grpSpPr>
          <a:xfrm>
            <a:off x="1943263" y="1639694"/>
            <a:ext cx="14610582" cy="1983647"/>
            <a:chOff x="0" y="0"/>
            <a:chExt cx="5499462" cy="746650"/>
          </a:xfrm>
        </p:grpSpPr>
        <p:sp>
          <p:nvSpPr>
            <p:cNvPr id="3" name="Freeform 3"/>
            <p:cNvSpPr/>
            <p:nvPr/>
          </p:nvSpPr>
          <p:spPr>
            <a:xfrm>
              <a:off x="0" y="0"/>
              <a:ext cx="5499462" cy="746650"/>
            </a:xfrm>
            <a:custGeom>
              <a:avLst/>
              <a:gdLst/>
              <a:ahLst/>
              <a:cxnLst/>
              <a:rect l="l" t="t" r="r" b="b"/>
              <a:pathLst>
                <a:path w="5499462" h="746650">
                  <a:moveTo>
                    <a:pt x="27024" y="0"/>
                  </a:moveTo>
                  <a:lnTo>
                    <a:pt x="5472438" y="0"/>
                  </a:lnTo>
                  <a:cubicBezTo>
                    <a:pt x="5479605" y="0"/>
                    <a:pt x="5486478" y="2847"/>
                    <a:pt x="5491547" y="7915"/>
                  </a:cubicBezTo>
                  <a:cubicBezTo>
                    <a:pt x="5496614" y="12983"/>
                    <a:pt x="5499462" y="19857"/>
                    <a:pt x="5499462" y="27024"/>
                  </a:cubicBezTo>
                  <a:lnTo>
                    <a:pt x="5499462" y="719626"/>
                  </a:lnTo>
                  <a:cubicBezTo>
                    <a:pt x="5499462" y="734551"/>
                    <a:pt x="5487362" y="746650"/>
                    <a:pt x="5472438" y="746650"/>
                  </a:cubicBezTo>
                  <a:lnTo>
                    <a:pt x="27024" y="746650"/>
                  </a:lnTo>
                  <a:cubicBezTo>
                    <a:pt x="19857" y="746650"/>
                    <a:pt x="12983" y="743803"/>
                    <a:pt x="7915" y="738735"/>
                  </a:cubicBezTo>
                  <a:cubicBezTo>
                    <a:pt x="2847" y="733667"/>
                    <a:pt x="0" y="726793"/>
                    <a:pt x="0" y="719626"/>
                  </a:cubicBezTo>
                  <a:lnTo>
                    <a:pt x="0" y="27024"/>
                  </a:lnTo>
                  <a:cubicBezTo>
                    <a:pt x="0" y="19857"/>
                    <a:pt x="2847" y="12983"/>
                    <a:pt x="7915" y="7915"/>
                  </a:cubicBezTo>
                  <a:cubicBezTo>
                    <a:pt x="12983" y="2847"/>
                    <a:pt x="19857" y="0"/>
                    <a:pt x="27024" y="0"/>
                  </a:cubicBezTo>
                  <a:close/>
                </a:path>
              </a:pathLst>
            </a:custGeom>
            <a:gradFill rotWithShape="1">
              <a:gsLst>
                <a:gs pos="0">
                  <a:srgbClr val="9245C4">
                    <a:alpha val="100000"/>
                  </a:srgbClr>
                </a:gs>
                <a:gs pos="100000">
                  <a:srgbClr val="AD64DD">
                    <a:alpha val="100000"/>
                  </a:srgbClr>
                </a:gs>
              </a:gsLst>
              <a:lin ang="0"/>
            </a:gradFill>
            <a:ln w="19050" cap="rnd">
              <a:solidFill>
                <a:srgbClr val="FFFFFF"/>
              </a:solidFill>
              <a:prstDash val="solid"/>
              <a:round/>
            </a:ln>
          </p:spPr>
        </p:sp>
        <p:sp>
          <p:nvSpPr>
            <p:cNvPr id="4" name="TextBox 4"/>
            <p:cNvSpPr txBox="1"/>
            <p:nvPr/>
          </p:nvSpPr>
          <p:spPr>
            <a:xfrm>
              <a:off x="0" y="85725"/>
              <a:ext cx="5499462" cy="660925"/>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5" name="Group 5"/>
          <p:cNvGrpSpPr/>
          <p:nvPr/>
        </p:nvGrpSpPr>
        <p:grpSpPr>
          <a:xfrm rot="-8073719">
            <a:off x="-9076180" y="-7675107"/>
            <a:ext cx="19366015" cy="1936601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199FF">
                <a:alpha val="8627"/>
              </a:srgbClr>
            </a:solidFill>
            <a:ln w="19050" cap="rnd">
              <a:solidFill>
                <a:srgbClr val="FFFFFF">
                  <a:alpha val="8627"/>
                </a:srgbClr>
              </a:solidFill>
              <a:prstDash val="solid"/>
              <a:round/>
            </a:ln>
          </p:spPr>
        </p:sp>
        <p:sp>
          <p:nvSpPr>
            <p:cNvPr id="7" name="TextBox 7"/>
            <p:cNvSpPr txBox="1"/>
            <p:nvPr/>
          </p:nvSpPr>
          <p:spPr>
            <a:xfrm>
              <a:off x="76200" y="819150"/>
              <a:ext cx="660400" cy="660400"/>
            </a:xfrm>
            <a:prstGeom prst="rect">
              <a:avLst/>
            </a:prstGeom>
          </p:spPr>
          <p:txBody>
            <a:bodyPr lIns="50800" tIns="50800" rIns="50800" bIns="50800" rtlCol="0" anchor="ctr"/>
            <a:lstStyle/>
            <a:p>
              <a:pPr marL="0" lvl="0" indent="0" algn="l">
                <a:lnSpc>
                  <a:spcPts val="19673"/>
                </a:lnSpc>
                <a:spcBef>
                  <a:spcPct val="0"/>
                </a:spcBef>
              </a:pPr>
              <a:endParaRPr/>
            </a:p>
          </p:txBody>
        </p:sp>
      </p:grpSp>
      <p:grpSp>
        <p:nvGrpSpPr>
          <p:cNvPr id="8" name="Group 8"/>
          <p:cNvGrpSpPr/>
          <p:nvPr/>
        </p:nvGrpSpPr>
        <p:grpSpPr>
          <a:xfrm rot="-8073719">
            <a:off x="-7259273" y="-4285384"/>
            <a:ext cx="12586569" cy="1258656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F199FF">
                <a:alpha val="8627"/>
              </a:srgbClr>
            </a:solidFill>
            <a:ln w="19050" cap="rnd">
              <a:solidFill>
                <a:srgbClr val="FFFFFF">
                  <a:alpha val="8627"/>
                </a:srgbClr>
              </a:solidFill>
              <a:prstDash val="solid"/>
              <a:round/>
            </a:ln>
          </p:spPr>
        </p:sp>
        <p:sp>
          <p:nvSpPr>
            <p:cNvPr id="10" name="TextBox 10"/>
            <p:cNvSpPr txBox="1"/>
            <p:nvPr/>
          </p:nvSpPr>
          <p:spPr>
            <a:xfrm>
              <a:off x="76200" y="161925"/>
              <a:ext cx="660400" cy="57467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11" name="Freeform 11"/>
          <p:cNvSpPr/>
          <p:nvPr/>
        </p:nvSpPr>
        <p:spPr>
          <a:xfrm>
            <a:off x="1304071" y="3903122"/>
            <a:ext cx="15554219" cy="5988374"/>
          </a:xfrm>
          <a:custGeom>
            <a:avLst/>
            <a:gdLst/>
            <a:ahLst/>
            <a:cxnLst/>
            <a:rect l="l" t="t" r="r" b="b"/>
            <a:pathLst>
              <a:path w="15554219" h="5988374">
                <a:moveTo>
                  <a:pt x="0" y="0"/>
                </a:moveTo>
                <a:lnTo>
                  <a:pt x="15554218" y="0"/>
                </a:lnTo>
                <a:lnTo>
                  <a:pt x="15554218" y="5988375"/>
                </a:lnTo>
                <a:lnTo>
                  <a:pt x="0" y="5988375"/>
                </a:lnTo>
                <a:lnTo>
                  <a:pt x="0" y="0"/>
                </a:lnTo>
                <a:close/>
              </a:path>
            </a:pathLst>
          </a:custGeom>
          <a:blipFill>
            <a:blip r:embed="rId3"/>
            <a:stretch>
              <a:fillRect/>
            </a:stretch>
          </a:blipFill>
        </p:spPr>
      </p:sp>
      <p:sp>
        <p:nvSpPr>
          <p:cNvPr id="12" name="TextBox 12"/>
          <p:cNvSpPr txBox="1"/>
          <p:nvPr/>
        </p:nvSpPr>
        <p:spPr>
          <a:xfrm>
            <a:off x="741371" y="471849"/>
            <a:ext cx="16679618" cy="1536052"/>
          </a:xfrm>
          <a:prstGeom prst="rect">
            <a:avLst/>
          </a:prstGeom>
        </p:spPr>
        <p:txBody>
          <a:bodyPr lIns="0" tIns="0" rIns="0" bIns="0" rtlCol="0" anchor="t">
            <a:spAutoFit/>
          </a:bodyPr>
          <a:lstStyle/>
          <a:p>
            <a:pPr algn="ctr">
              <a:lnSpc>
                <a:spcPts val="6160"/>
              </a:lnSpc>
            </a:pPr>
            <a:r>
              <a:rPr lang="en-US" sz="4400" b="1">
                <a:solidFill>
                  <a:srgbClr val="FFFFFF"/>
                </a:solidFill>
                <a:latin typeface="Canva Sans Bold"/>
                <a:ea typeface="Canva Sans Bold"/>
                <a:cs typeface="Canva Sans Bold"/>
                <a:sym typeface="Canva Sans Bold"/>
              </a:rPr>
              <a:t>Tile Size: The Only Tunable Parameter</a:t>
            </a:r>
          </a:p>
          <a:p>
            <a:pPr algn="ctr">
              <a:lnSpc>
                <a:spcPts val="6160"/>
              </a:lnSpc>
            </a:pPr>
            <a:endParaRPr lang="en-US" sz="4400" b="1">
              <a:solidFill>
                <a:srgbClr val="FFFFFF"/>
              </a:solidFill>
              <a:latin typeface="Canva Sans Bold"/>
              <a:ea typeface="Canva Sans Bold"/>
              <a:cs typeface="Canva Sans Bold"/>
              <a:sym typeface="Canva Sans Bold"/>
            </a:endParaRPr>
          </a:p>
        </p:txBody>
      </p:sp>
      <p:sp>
        <p:nvSpPr>
          <p:cNvPr id="13" name="TextBox 13"/>
          <p:cNvSpPr txBox="1"/>
          <p:nvPr/>
        </p:nvSpPr>
        <p:spPr>
          <a:xfrm>
            <a:off x="2126491" y="1985722"/>
            <a:ext cx="14731798" cy="1243966"/>
          </a:xfrm>
          <a:prstGeom prst="rect">
            <a:avLst/>
          </a:prstGeom>
        </p:spPr>
        <p:txBody>
          <a:bodyPr lIns="0" tIns="0" rIns="0" bIns="0" rtlCol="0" anchor="t">
            <a:spAutoFit/>
          </a:bodyPr>
          <a:lstStyle/>
          <a:p>
            <a:pPr marL="0" lvl="0" indent="0" algn="just">
              <a:lnSpc>
                <a:spcPts val="3359"/>
              </a:lnSpc>
              <a:spcBef>
                <a:spcPct val="0"/>
              </a:spcBef>
            </a:pPr>
            <a:r>
              <a:rPr lang="en-US" sz="2399" u="none" strike="noStrike">
                <a:solidFill>
                  <a:srgbClr val="FFFFFF"/>
                </a:solidFill>
                <a:latin typeface="Open Sauce"/>
                <a:ea typeface="Open Sauce"/>
                <a:cs typeface="Open Sauce"/>
                <a:sym typeface="Open Sauce"/>
              </a:rPr>
              <a:t>Small Scale: Tile=64 offers the best balance between SM utilization and kernel launch overhead.</a:t>
            </a:r>
          </a:p>
          <a:p>
            <a:pPr marL="0" lvl="0" indent="0" algn="just">
              <a:lnSpc>
                <a:spcPts val="3359"/>
              </a:lnSpc>
              <a:spcBef>
                <a:spcPct val="0"/>
              </a:spcBef>
            </a:pPr>
            <a:r>
              <a:rPr lang="en-US" sz="2399" u="none" strike="noStrike">
                <a:solidFill>
                  <a:srgbClr val="FFFFFF"/>
                </a:solidFill>
                <a:latin typeface="Open Sauce"/>
                <a:ea typeface="Open Sauce"/>
                <a:cs typeface="Open Sauce"/>
                <a:sym typeface="Open Sauce"/>
              </a:rPr>
              <a:t>Large Scale: Stable performance with abundant N_blocks and low sensitivity to tile size.</a:t>
            </a:r>
          </a:p>
          <a:p>
            <a:pPr marL="0" lvl="0" indent="0" algn="just">
              <a:lnSpc>
                <a:spcPts val="3359"/>
              </a:lnSpc>
              <a:spcBef>
                <a:spcPct val="0"/>
              </a:spcBef>
            </a:pPr>
            <a:r>
              <a:rPr lang="en-US" sz="2399" u="none" strike="noStrike">
                <a:solidFill>
                  <a:srgbClr val="FFFFFF"/>
                </a:solidFill>
                <a:latin typeface="Open Sauce"/>
                <a:ea typeface="Open Sauce"/>
                <a:cs typeface="Open Sauce"/>
                <a:sym typeface="Open Sauce"/>
              </a:rPr>
              <a:t>Conclusion: No one-size-fits-all — per-dimension testing is required.</a:t>
            </a:r>
          </a:p>
        </p:txBody>
      </p:sp>
      <p:sp>
        <p:nvSpPr>
          <p:cNvPr id="14" name="TextBox 14"/>
          <p:cNvSpPr txBox="1"/>
          <p:nvPr/>
        </p:nvSpPr>
        <p:spPr>
          <a:xfrm>
            <a:off x="16650716" y="206363"/>
            <a:ext cx="1500783"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Xudong Ma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0637"/>
        </a:solidFill>
        <a:effectLst/>
      </p:bgPr>
    </p:bg>
    <p:spTree>
      <p:nvGrpSpPr>
        <p:cNvPr id="1" name=""/>
        <p:cNvGrpSpPr/>
        <p:nvPr/>
      </p:nvGrpSpPr>
      <p:grpSpPr>
        <a:xfrm>
          <a:off x="0" y="0"/>
          <a:ext cx="0" cy="0"/>
          <a:chOff x="0" y="0"/>
          <a:chExt cx="0" cy="0"/>
        </a:xfrm>
      </p:grpSpPr>
      <p:sp>
        <p:nvSpPr>
          <p:cNvPr id="2" name="Freeform 2"/>
          <p:cNvSpPr/>
          <p:nvPr/>
        </p:nvSpPr>
        <p:spPr>
          <a:xfrm>
            <a:off x="1136427" y="3849449"/>
            <a:ext cx="16015146" cy="6205869"/>
          </a:xfrm>
          <a:custGeom>
            <a:avLst/>
            <a:gdLst/>
            <a:ahLst/>
            <a:cxnLst/>
            <a:rect l="l" t="t" r="r" b="b"/>
            <a:pathLst>
              <a:path w="16015146" h="6205869">
                <a:moveTo>
                  <a:pt x="0" y="0"/>
                </a:moveTo>
                <a:lnTo>
                  <a:pt x="16015146" y="0"/>
                </a:lnTo>
                <a:lnTo>
                  <a:pt x="16015146" y="6205869"/>
                </a:lnTo>
                <a:lnTo>
                  <a:pt x="0" y="6205869"/>
                </a:lnTo>
                <a:lnTo>
                  <a:pt x="0" y="0"/>
                </a:lnTo>
                <a:close/>
              </a:path>
            </a:pathLst>
          </a:custGeom>
          <a:blipFill>
            <a:blip r:embed="rId3"/>
            <a:stretch>
              <a:fillRect/>
            </a:stretch>
          </a:blipFill>
        </p:spPr>
      </p:sp>
      <p:sp>
        <p:nvSpPr>
          <p:cNvPr id="3" name="TextBox 3"/>
          <p:cNvSpPr txBox="1"/>
          <p:nvPr/>
        </p:nvSpPr>
        <p:spPr>
          <a:xfrm>
            <a:off x="215311" y="233693"/>
            <a:ext cx="16900448" cy="795007"/>
          </a:xfrm>
          <a:prstGeom prst="rect">
            <a:avLst/>
          </a:prstGeom>
        </p:spPr>
        <p:txBody>
          <a:bodyPr lIns="0" tIns="0" rIns="0" bIns="0" rtlCol="0" anchor="t">
            <a:spAutoFit/>
          </a:bodyPr>
          <a:lstStyle/>
          <a:p>
            <a:pPr algn="l">
              <a:lnSpc>
                <a:spcPts val="6580"/>
              </a:lnSpc>
            </a:pPr>
            <a:r>
              <a:rPr lang="en-US" sz="4700" b="1">
                <a:solidFill>
                  <a:srgbClr val="FFFFFF"/>
                </a:solidFill>
                <a:latin typeface="Canva Sans Bold"/>
                <a:ea typeface="Canva Sans Bold"/>
                <a:cs typeface="Canva Sans Bold"/>
                <a:sym typeface="Canva Sans Bold"/>
              </a:rPr>
              <a:t>Larger Images → Higher GPU Utilization → Better Speedup</a:t>
            </a:r>
          </a:p>
        </p:txBody>
      </p:sp>
      <p:grpSp>
        <p:nvGrpSpPr>
          <p:cNvPr id="4" name="Group 4"/>
          <p:cNvGrpSpPr/>
          <p:nvPr/>
        </p:nvGrpSpPr>
        <p:grpSpPr>
          <a:xfrm>
            <a:off x="3177701" y="1447251"/>
            <a:ext cx="11932599" cy="1983647"/>
            <a:chOff x="0" y="0"/>
            <a:chExt cx="4491462" cy="746650"/>
          </a:xfrm>
        </p:grpSpPr>
        <p:sp>
          <p:nvSpPr>
            <p:cNvPr id="5" name="Freeform 5"/>
            <p:cNvSpPr/>
            <p:nvPr/>
          </p:nvSpPr>
          <p:spPr>
            <a:xfrm>
              <a:off x="0" y="0"/>
              <a:ext cx="4491462" cy="746650"/>
            </a:xfrm>
            <a:custGeom>
              <a:avLst/>
              <a:gdLst/>
              <a:ahLst/>
              <a:cxnLst/>
              <a:rect l="l" t="t" r="r" b="b"/>
              <a:pathLst>
                <a:path w="4491462" h="746650">
                  <a:moveTo>
                    <a:pt x="33089" y="0"/>
                  </a:moveTo>
                  <a:lnTo>
                    <a:pt x="4458372" y="0"/>
                  </a:lnTo>
                  <a:cubicBezTo>
                    <a:pt x="4467148" y="0"/>
                    <a:pt x="4475564" y="3486"/>
                    <a:pt x="4481770" y="9692"/>
                  </a:cubicBezTo>
                  <a:cubicBezTo>
                    <a:pt x="4487975" y="15897"/>
                    <a:pt x="4491462" y="24313"/>
                    <a:pt x="4491462" y="33089"/>
                  </a:cubicBezTo>
                  <a:lnTo>
                    <a:pt x="4491462" y="713561"/>
                  </a:lnTo>
                  <a:cubicBezTo>
                    <a:pt x="4491462" y="731835"/>
                    <a:pt x="4476647" y="746650"/>
                    <a:pt x="4458372" y="746650"/>
                  </a:cubicBezTo>
                  <a:lnTo>
                    <a:pt x="33089" y="746650"/>
                  </a:lnTo>
                  <a:cubicBezTo>
                    <a:pt x="24313" y="746650"/>
                    <a:pt x="15897" y="743164"/>
                    <a:pt x="9692" y="736958"/>
                  </a:cubicBezTo>
                  <a:cubicBezTo>
                    <a:pt x="3486" y="730753"/>
                    <a:pt x="0" y="722337"/>
                    <a:pt x="0" y="713561"/>
                  </a:cubicBezTo>
                  <a:lnTo>
                    <a:pt x="0" y="33089"/>
                  </a:lnTo>
                  <a:cubicBezTo>
                    <a:pt x="0" y="24313"/>
                    <a:pt x="3486" y="15897"/>
                    <a:pt x="9692" y="9692"/>
                  </a:cubicBezTo>
                  <a:cubicBezTo>
                    <a:pt x="15897" y="3486"/>
                    <a:pt x="24313" y="0"/>
                    <a:pt x="33089" y="0"/>
                  </a:cubicBezTo>
                  <a:close/>
                </a:path>
              </a:pathLst>
            </a:custGeom>
            <a:solidFill>
              <a:srgbClr val="6A367A"/>
            </a:solidFill>
            <a:ln w="19050" cap="rnd">
              <a:solidFill>
                <a:srgbClr val="FFFFFF"/>
              </a:solidFill>
              <a:prstDash val="solid"/>
              <a:round/>
            </a:ln>
          </p:spPr>
        </p:sp>
        <p:sp>
          <p:nvSpPr>
            <p:cNvPr id="6" name="TextBox 6"/>
            <p:cNvSpPr txBox="1"/>
            <p:nvPr/>
          </p:nvSpPr>
          <p:spPr>
            <a:xfrm>
              <a:off x="0" y="85725"/>
              <a:ext cx="4491462" cy="66092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7" name="TextBox 7"/>
          <p:cNvSpPr txBox="1"/>
          <p:nvPr/>
        </p:nvSpPr>
        <p:spPr>
          <a:xfrm>
            <a:off x="3967494" y="1801689"/>
            <a:ext cx="10687940" cy="1640354"/>
          </a:xfrm>
          <a:prstGeom prst="rect">
            <a:avLst/>
          </a:prstGeom>
        </p:spPr>
        <p:txBody>
          <a:bodyPr lIns="0" tIns="0" rIns="0" bIns="0" rtlCol="0" anchor="t">
            <a:spAutoFit/>
          </a:bodyPr>
          <a:lstStyle/>
          <a:p>
            <a:pPr marL="0" lvl="0" indent="0" algn="just">
              <a:lnSpc>
                <a:spcPts val="3312"/>
              </a:lnSpc>
              <a:spcBef>
                <a:spcPct val="0"/>
              </a:spcBef>
            </a:pPr>
            <a:r>
              <a:rPr lang="en-US" sz="2366">
                <a:solidFill>
                  <a:srgbClr val="FFFFFF"/>
                </a:solidFill>
                <a:latin typeface="Open Sauce"/>
                <a:ea typeface="Open Sauce"/>
                <a:cs typeface="Open Sauce"/>
                <a:sym typeface="Open Sauce"/>
              </a:rPr>
              <a:t>Co</a:t>
            </a:r>
            <a:r>
              <a:rPr lang="en-US" sz="2366" u="none" strike="noStrike">
                <a:solidFill>
                  <a:srgbClr val="FFFFFF"/>
                </a:solidFill>
                <a:latin typeface="Open Sauce"/>
                <a:ea typeface="Open Sauce"/>
                <a:cs typeface="Open Sauce"/>
                <a:sym typeface="Open Sauce"/>
              </a:rPr>
              <a:t>mpute-only: GPU kernel time vs. CPU execution time (excluding data transfer) End-to-end: Full pipeline latency, including PCIe transfer overhead</a:t>
            </a:r>
          </a:p>
          <a:p>
            <a:pPr marL="0" lvl="0" indent="0" algn="just">
              <a:lnSpc>
                <a:spcPts val="3312"/>
              </a:lnSpc>
              <a:spcBef>
                <a:spcPct val="0"/>
              </a:spcBef>
            </a:pPr>
            <a:endParaRPr lang="en-US" sz="2366" u="none" strike="noStrike">
              <a:solidFill>
                <a:srgbClr val="FFFFFF"/>
              </a:solidFill>
              <a:latin typeface="Open Sauce"/>
              <a:ea typeface="Open Sauce"/>
              <a:cs typeface="Open Sauce"/>
              <a:sym typeface="Open Sauce"/>
            </a:endParaRPr>
          </a:p>
        </p:txBody>
      </p:sp>
      <p:sp>
        <p:nvSpPr>
          <p:cNvPr id="8" name="TextBox 8"/>
          <p:cNvSpPr txBox="1"/>
          <p:nvPr/>
        </p:nvSpPr>
        <p:spPr>
          <a:xfrm>
            <a:off x="16650716" y="206363"/>
            <a:ext cx="1500783"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Xudong Ma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0637"/>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937838" y="3290888"/>
          <a:ext cx="14498072" cy="5646585"/>
        </p:xfrm>
        <a:graphic>
          <a:graphicData uri="http://schemas.openxmlformats.org/drawingml/2006/table">
            <a:tbl>
              <a:tblPr/>
              <a:tblGrid>
                <a:gridCol w="3624518">
                  <a:extLst>
                    <a:ext uri="{9D8B030D-6E8A-4147-A177-3AD203B41FA5}">
                      <a16:colId xmlns:a16="http://schemas.microsoft.com/office/drawing/2014/main" val="20000"/>
                    </a:ext>
                  </a:extLst>
                </a:gridCol>
                <a:gridCol w="3624518">
                  <a:extLst>
                    <a:ext uri="{9D8B030D-6E8A-4147-A177-3AD203B41FA5}">
                      <a16:colId xmlns:a16="http://schemas.microsoft.com/office/drawing/2014/main" val="20001"/>
                    </a:ext>
                  </a:extLst>
                </a:gridCol>
                <a:gridCol w="3624518">
                  <a:extLst>
                    <a:ext uri="{9D8B030D-6E8A-4147-A177-3AD203B41FA5}">
                      <a16:colId xmlns:a16="http://schemas.microsoft.com/office/drawing/2014/main" val="20002"/>
                    </a:ext>
                  </a:extLst>
                </a:gridCol>
                <a:gridCol w="3624518">
                  <a:extLst>
                    <a:ext uri="{9D8B030D-6E8A-4147-A177-3AD203B41FA5}">
                      <a16:colId xmlns:a16="http://schemas.microsoft.com/office/drawing/2014/main" val="20003"/>
                    </a:ext>
                  </a:extLst>
                </a:gridCol>
              </a:tblGrid>
              <a:tr h="1129317">
                <a:tc>
                  <a:txBody>
                    <a:bodyPr/>
                    <a:lstStyle/>
                    <a:p>
                      <a:pPr algn="ctr">
                        <a:lnSpc>
                          <a:spcPts val="3079"/>
                        </a:lnSpc>
                        <a:defRPr/>
                      </a:pPr>
                      <a:r>
                        <a:rPr lang="en-US" sz="2199" b="1">
                          <a:solidFill>
                            <a:srgbClr val="FFFFFF"/>
                          </a:solidFill>
                          <a:latin typeface="Aileron Bold"/>
                          <a:ea typeface="Aileron Bold"/>
                          <a:cs typeface="Aileron Bold"/>
                          <a:sym typeface="Aileron Bold"/>
                        </a:rPr>
                        <a:t>tile_size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b="1">
                          <a:solidFill>
                            <a:srgbClr val="FFFFFF"/>
                          </a:solidFill>
                          <a:latin typeface="Aileron Bold"/>
                          <a:ea typeface="Aileron Bold"/>
                          <a:cs typeface="Aileron Bold"/>
                          <a:sym typeface="Aileron Bold"/>
                        </a:rPr>
                        <a:t>Compute-only speedup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b="1">
                          <a:solidFill>
                            <a:srgbClr val="FFFFFF"/>
                          </a:solidFill>
                          <a:latin typeface="Aileron Bold"/>
                          <a:ea typeface="Aileron Bold"/>
                          <a:cs typeface="Aileron Bold"/>
                          <a:sym typeface="Aileron Bold"/>
                        </a:rPr>
                        <a:t>End-to-end speedup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b="1">
                          <a:solidFill>
                            <a:srgbClr val="FFFFFF"/>
                          </a:solidFill>
                          <a:latin typeface="Aileron Bold"/>
                          <a:ea typeface="Aileron Bold"/>
                          <a:cs typeface="Aileron Bold"/>
                          <a:sym typeface="Aileron Bold"/>
                        </a:rPr>
                        <a:t>CPU total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129317">
                <a:tc>
                  <a:txBody>
                    <a:bodyPr/>
                    <a:lstStyle/>
                    <a:p>
                      <a:pPr algn="ctr">
                        <a:lnSpc>
                          <a:spcPts val="3079"/>
                        </a:lnSpc>
                        <a:defRPr/>
                      </a:pPr>
                      <a:r>
                        <a:rPr lang="en-US" sz="2199">
                          <a:solidFill>
                            <a:srgbClr val="FFFFFF"/>
                          </a:solidFill>
                          <a:latin typeface="Aileron"/>
                          <a:ea typeface="Aileron"/>
                          <a:cs typeface="Aileron"/>
                          <a:sym typeface="Aileron"/>
                        </a:rPr>
                        <a:t>64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Aileron"/>
                          <a:ea typeface="Aileron"/>
                          <a:cs typeface="Aileron"/>
                          <a:sym typeface="Aileron"/>
                        </a:rPr>
                        <a:t>17.5×</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Aileron"/>
                          <a:ea typeface="Aileron"/>
                          <a:cs typeface="Aileron"/>
                          <a:sym typeface="Aileron"/>
                        </a:rPr>
                        <a:t>13.8×</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Aileron"/>
                          <a:ea typeface="Aileron"/>
                          <a:cs typeface="Aileron"/>
                          <a:sym typeface="Aileron"/>
                        </a:rPr>
                        <a:t>1174 ms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129317">
                <a:tc>
                  <a:txBody>
                    <a:bodyPr/>
                    <a:lstStyle/>
                    <a:p>
                      <a:pPr algn="ctr">
                        <a:lnSpc>
                          <a:spcPts val="2519"/>
                        </a:lnSpc>
                        <a:defRPr/>
                      </a:pPr>
                      <a:r>
                        <a:rPr lang="en-US" sz="1799">
                          <a:solidFill>
                            <a:srgbClr val="FFFFFF"/>
                          </a:solidFill>
                          <a:latin typeface="Canva Sans"/>
                          <a:ea typeface="Canva Sans"/>
                          <a:cs typeface="Canva Sans"/>
                          <a:sym typeface="Canva Sans"/>
                        </a:rPr>
                        <a:t>128</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lvl="0" indent="0" algn="ctr">
                        <a:lnSpc>
                          <a:spcPts val="3079"/>
                        </a:lnSpc>
                        <a:spcBef>
                          <a:spcPct val="0"/>
                        </a:spcBef>
                        <a:defRPr/>
                      </a:pPr>
                      <a:r>
                        <a:rPr lang="en-US" sz="2199" u="none" strike="noStrike">
                          <a:solidFill>
                            <a:srgbClr val="FFFFFF"/>
                          </a:solidFill>
                          <a:latin typeface="Aileron"/>
                          <a:ea typeface="Aileron"/>
                          <a:cs typeface="Aileron"/>
                          <a:sym typeface="Aileron"/>
                        </a:rPr>
                        <a:t>19.6×</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lvl="0" indent="0" algn="ctr">
                        <a:lnSpc>
                          <a:spcPts val="3079"/>
                        </a:lnSpc>
                        <a:spcBef>
                          <a:spcPct val="0"/>
                        </a:spcBef>
                        <a:defRPr/>
                      </a:pPr>
                      <a:r>
                        <a:rPr lang="en-US" sz="2199" u="none" strike="noStrike">
                          <a:solidFill>
                            <a:srgbClr val="FFFFFF"/>
                          </a:solidFill>
                          <a:latin typeface="Aileron"/>
                          <a:ea typeface="Aileron"/>
                          <a:cs typeface="Aileron"/>
                          <a:sym typeface="Aileron"/>
                        </a:rPr>
                        <a:t>13.6×</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marL="0" lvl="0" indent="0" algn="ctr">
                        <a:lnSpc>
                          <a:spcPts val="3079"/>
                        </a:lnSpc>
                        <a:spcBef>
                          <a:spcPct val="0"/>
                        </a:spcBef>
                        <a:defRPr/>
                      </a:pPr>
                      <a:r>
                        <a:rPr lang="en-US" sz="2199" u="none" strike="noStrike">
                          <a:solidFill>
                            <a:srgbClr val="FFFFFF"/>
                          </a:solidFill>
                          <a:latin typeface="Aileron"/>
                          <a:ea typeface="Aileron"/>
                          <a:cs typeface="Aileron"/>
                          <a:sym typeface="Aileron"/>
                        </a:rPr>
                        <a:t>729ms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129317">
                <a:tc>
                  <a:txBody>
                    <a:bodyPr/>
                    <a:lstStyle/>
                    <a:p>
                      <a:pPr algn="ctr">
                        <a:lnSpc>
                          <a:spcPts val="3079"/>
                        </a:lnSpc>
                        <a:defRPr/>
                      </a:pPr>
                      <a:r>
                        <a:rPr lang="en-US" sz="2199">
                          <a:solidFill>
                            <a:srgbClr val="FFFFFF"/>
                          </a:solidFill>
                          <a:latin typeface="Aileron"/>
                          <a:ea typeface="Aileron"/>
                          <a:cs typeface="Aileron"/>
                          <a:sym typeface="Aileron"/>
                        </a:rPr>
                        <a:t>256</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Aileron"/>
                          <a:ea typeface="Aileron"/>
                          <a:cs typeface="Aileron"/>
                          <a:sym typeface="Aileron"/>
                        </a:rPr>
                        <a:t>19.6×</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Aileron"/>
                          <a:ea typeface="Aileron"/>
                          <a:cs typeface="Aileron"/>
                          <a:sym typeface="Aileron"/>
                        </a:rPr>
                        <a:t>13.5×</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Aileron"/>
                          <a:ea typeface="Aileron"/>
                          <a:cs typeface="Aileron"/>
                          <a:sym typeface="Aileron"/>
                        </a:rPr>
                        <a:t>729ms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129317">
                <a:tc>
                  <a:txBody>
                    <a:bodyPr/>
                    <a:lstStyle/>
                    <a:p>
                      <a:pPr algn="ctr">
                        <a:lnSpc>
                          <a:spcPts val="3079"/>
                        </a:lnSpc>
                        <a:defRPr/>
                      </a:pPr>
                      <a:r>
                        <a:rPr lang="en-US" sz="2199">
                          <a:solidFill>
                            <a:srgbClr val="FFFFFF"/>
                          </a:solidFill>
                          <a:latin typeface="Aileron"/>
                          <a:ea typeface="Aileron"/>
                          <a:cs typeface="Aileron"/>
                          <a:sym typeface="Aileron"/>
                        </a:rPr>
                        <a:t>512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Aileron"/>
                          <a:ea typeface="Aileron"/>
                          <a:cs typeface="Aileron"/>
                          <a:sym typeface="Aileron"/>
                        </a:rPr>
                        <a:t>19.6×</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Aileron"/>
                          <a:ea typeface="Aileron"/>
                          <a:cs typeface="Aileron"/>
                          <a:sym typeface="Aileron"/>
                        </a:rPr>
                        <a:t>13.0×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079"/>
                        </a:lnSpc>
                        <a:defRPr/>
                      </a:pPr>
                      <a:r>
                        <a:rPr lang="en-US" sz="2199">
                          <a:solidFill>
                            <a:srgbClr val="FFFFFF"/>
                          </a:solidFill>
                          <a:latin typeface="Aileron"/>
                          <a:ea typeface="Aileron"/>
                          <a:cs typeface="Aileron"/>
                          <a:sym typeface="Aileron"/>
                        </a:rPr>
                        <a:t>729ms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extBox 3"/>
          <p:cNvSpPr txBox="1"/>
          <p:nvPr/>
        </p:nvSpPr>
        <p:spPr>
          <a:xfrm>
            <a:off x="215311" y="233693"/>
            <a:ext cx="16900448" cy="795007"/>
          </a:xfrm>
          <a:prstGeom prst="rect">
            <a:avLst/>
          </a:prstGeom>
        </p:spPr>
        <p:txBody>
          <a:bodyPr lIns="0" tIns="0" rIns="0" bIns="0" rtlCol="0" anchor="t">
            <a:spAutoFit/>
          </a:bodyPr>
          <a:lstStyle/>
          <a:p>
            <a:pPr algn="l">
              <a:lnSpc>
                <a:spcPts val="6580"/>
              </a:lnSpc>
            </a:pPr>
            <a:r>
              <a:rPr lang="en-US" sz="4700">
                <a:solidFill>
                  <a:srgbClr val="FFFFFF"/>
                </a:solidFill>
                <a:latin typeface="Canva Sans"/>
                <a:ea typeface="Canva Sans"/>
                <a:cs typeface="Canva Sans"/>
                <a:sym typeface="Canva Sans"/>
              </a:rPr>
              <a:t>Benchmark Result</a:t>
            </a:r>
          </a:p>
        </p:txBody>
      </p:sp>
      <p:sp>
        <p:nvSpPr>
          <p:cNvPr id="4" name="TextBox 4"/>
          <p:cNvSpPr txBox="1"/>
          <p:nvPr/>
        </p:nvSpPr>
        <p:spPr>
          <a:xfrm>
            <a:off x="215311" y="1513031"/>
            <a:ext cx="9706570" cy="755002"/>
          </a:xfrm>
          <a:prstGeom prst="rect">
            <a:avLst/>
          </a:prstGeom>
        </p:spPr>
        <p:txBody>
          <a:bodyPr lIns="0" tIns="0" rIns="0" bIns="0" rtlCol="0" anchor="t">
            <a:spAutoFit/>
          </a:bodyPr>
          <a:lstStyle/>
          <a:p>
            <a:pPr marL="0" lvl="0" indent="0" algn="l">
              <a:lnSpc>
                <a:spcPts val="6160"/>
              </a:lnSpc>
              <a:spcBef>
                <a:spcPct val="0"/>
              </a:spcBef>
            </a:pPr>
            <a:r>
              <a:rPr lang="en-US" sz="4400" u="none" strike="noStrike">
                <a:solidFill>
                  <a:srgbClr val="FFFFFF"/>
                </a:solidFill>
                <a:latin typeface="Canva Sans"/>
                <a:ea typeface="Canva Sans"/>
                <a:cs typeface="Canva Sans"/>
                <a:sym typeface="Canva Sans"/>
              </a:rPr>
              <a:t>Stage level vs End -to-End Speed up</a:t>
            </a:r>
          </a:p>
        </p:txBody>
      </p:sp>
      <p:sp>
        <p:nvSpPr>
          <p:cNvPr id="5" name="TextBox 5"/>
          <p:cNvSpPr txBox="1"/>
          <p:nvPr/>
        </p:nvSpPr>
        <p:spPr>
          <a:xfrm>
            <a:off x="16435908" y="290843"/>
            <a:ext cx="1646783"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Shiying Yang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0637"/>
        </a:solidFill>
        <a:effectLst/>
      </p:bgPr>
    </p:bg>
    <p:spTree>
      <p:nvGrpSpPr>
        <p:cNvPr id="1" name=""/>
        <p:cNvGrpSpPr/>
        <p:nvPr/>
      </p:nvGrpSpPr>
      <p:grpSpPr>
        <a:xfrm>
          <a:off x="0" y="0"/>
          <a:ext cx="0" cy="0"/>
          <a:chOff x="0" y="0"/>
          <a:chExt cx="0" cy="0"/>
        </a:xfrm>
      </p:grpSpPr>
      <p:sp>
        <p:nvSpPr>
          <p:cNvPr id="2" name="TextBox 2"/>
          <p:cNvSpPr txBox="1"/>
          <p:nvPr/>
        </p:nvSpPr>
        <p:spPr>
          <a:xfrm>
            <a:off x="215311" y="233693"/>
            <a:ext cx="16900448" cy="795007"/>
          </a:xfrm>
          <a:prstGeom prst="rect">
            <a:avLst/>
          </a:prstGeom>
        </p:spPr>
        <p:txBody>
          <a:bodyPr lIns="0" tIns="0" rIns="0" bIns="0" rtlCol="0" anchor="t">
            <a:spAutoFit/>
          </a:bodyPr>
          <a:lstStyle/>
          <a:p>
            <a:pPr algn="l">
              <a:lnSpc>
                <a:spcPts val="6580"/>
              </a:lnSpc>
            </a:pPr>
            <a:r>
              <a:rPr lang="en-US" sz="4700" b="1">
                <a:solidFill>
                  <a:srgbClr val="FFFFFF"/>
                </a:solidFill>
                <a:latin typeface="Canva Sans Bold"/>
                <a:ea typeface="Canva Sans Bold"/>
                <a:cs typeface="Canva Sans Bold"/>
                <a:sym typeface="Canva Sans Bold"/>
              </a:rPr>
              <a:t>Reason: Amdahl’s law</a:t>
            </a:r>
          </a:p>
        </p:txBody>
      </p:sp>
      <p:sp>
        <p:nvSpPr>
          <p:cNvPr id="3" name="Freeform 3"/>
          <p:cNvSpPr/>
          <p:nvPr/>
        </p:nvSpPr>
        <p:spPr>
          <a:xfrm>
            <a:off x="1339939" y="4538362"/>
            <a:ext cx="15736274" cy="4799563"/>
          </a:xfrm>
          <a:custGeom>
            <a:avLst/>
            <a:gdLst/>
            <a:ahLst/>
            <a:cxnLst/>
            <a:rect l="l" t="t" r="r" b="b"/>
            <a:pathLst>
              <a:path w="15736274" h="4799563">
                <a:moveTo>
                  <a:pt x="0" y="0"/>
                </a:moveTo>
                <a:lnTo>
                  <a:pt x="15736273" y="0"/>
                </a:lnTo>
                <a:lnTo>
                  <a:pt x="15736273" y="4799563"/>
                </a:lnTo>
                <a:lnTo>
                  <a:pt x="0" y="4799563"/>
                </a:lnTo>
                <a:lnTo>
                  <a:pt x="0" y="0"/>
                </a:lnTo>
                <a:close/>
              </a:path>
            </a:pathLst>
          </a:custGeom>
          <a:blipFill>
            <a:blip r:embed="rId3"/>
            <a:stretch>
              <a:fillRect/>
            </a:stretch>
          </a:blipFill>
        </p:spPr>
      </p:sp>
      <p:pic>
        <p:nvPicPr>
          <p:cNvPr id="4" name="Picture 4"/>
          <p:cNvPicPr>
            <a:picLocks noChangeAspect="1"/>
          </p:cNvPicPr>
          <p:nvPr/>
        </p:nvPicPr>
        <p:blipFill>
          <a:blip r:embed="rId4"/>
          <a:stretch>
            <a:fillRect/>
          </a:stretch>
        </p:blipFill>
        <p:spPr>
          <a:xfrm>
            <a:off x="1101643" y="1761806"/>
            <a:ext cx="4979033" cy="2493608"/>
          </a:xfrm>
          <a:prstGeom prst="rect">
            <a:avLst/>
          </a:prstGeom>
        </p:spPr>
      </p:pic>
      <p:grpSp>
        <p:nvGrpSpPr>
          <p:cNvPr id="5" name="Group 5"/>
          <p:cNvGrpSpPr/>
          <p:nvPr/>
        </p:nvGrpSpPr>
        <p:grpSpPr>
          <a:xfrm>
            <a:off x="9144000" y="1564715"/>
            <a:ext cx="6963811" cy="2593440"/>
            <a:chOff x="0" y="0"/>
            <a:chExt cx="2621197" cy="976178"/>
          </a:xfrm>
        </p:grpSpPr>
        <p:sp>
          <p:nvSpPr>
            <p:cNvPr id="6" name="Freeform 6"/>
            <p:cNvSpPr/>
            <p:nvPr/>
          </p:nvSpPr>
          <p:spPr>
            <a:xfrm>
              <a:off x="0" y="0"/>
              <a:ext cx="2621197" cy="976178"/>
            </a:xfrm>
            <a:custGeom>
              <a:avLst/>
              <a:gdLst/>
              <a:ahLst/>
              <a:cxnLst/>
              <a:rect l="l" t="t" r="r" b="b"/>
              <a:pathLst>
                <a:path w="2621197" h="976178">
                  <a:moveTo>
                    <a:pt x="56699" y="0"/>
                  </a:moveTo>
                  <a:lnTo>
                    <a:pt x="2564498" y="0"/>
                  </a:lnTo>
                  <a:cubicBezTo>
                    <a:pt x="2579536" y="0"/>
                    <a:pt x="2593957" y="5974"/>
                    <a:pt x="2604590" y="16607"/>
                  </a:cubicBezTo>
                  <a:cubicBezTo>
                    <a:pt x="2615223" y="27240"/>
                    <a:pt x="2621197" y="41661"/>
                    <a:pt x="2621197" y="56699"/>
                  </a:cubicBezTo>
                  <a:lnTo>
                    <a:pt x="2621197" y="919479"/>
                  </a:lnTo>
                  <a:cubicBezTo>
                    <a:pt x="2621197" y="934517"/>
                    <a:pt x="2615223" y="948938"/>
                    <a:pt x="2604590" y="959571"/>
                  </a:cubicBezTo>
                  <a:cubicBezTo>
                    <a:pt x="2593957" y="970204"/>
                    <a:pt x="2579536" y="976178"/>
                    <a:pt x="2564498" y="976178"/>
                  </a:cubicBezTo>
                  <a:lnTo>
                    <a:pt x="56699" y="976178"/>
                  </a:lnTo>
                  <a:cubicBezTo>
                    <a:pt x="41661" y="976178"/>
                    <a:pt x="27240" y="970204"/>
                    <a:pt x="16607" y="959571"/>
                  </a:cubicBezTo>
                  <a:cubicBezTo>
                    <a:pt x="5974" y="948938"/>
                    <a:pt x="0" y="934517"/>
                    <a:pt x="0" y="919479"/>
                  </a:cubicBezTo>
                  <a:lnTo>
                    <a:pt x="0" y="56699"/>
                  </a:lnTo>
                  <a:cubicBezTo>
                    <a:pt x="0" y="41661"/>
                    <a:pt x="5974" y="27240"/>
                    <a:pt x="16607" y="16607"/>
                  </a:cubicBezTo>
                  <a:cubicBezTo>
                    <a:pt x="27240" y="5974"/>
                    <a:pt x="41661" y="0"/>
                    <a:pt x="56699" y="0"/>
                  </a:cubicBezTo>
                  <a:close/>
                </a:path>
              </a:pathLst>
            </a:custGeom>
            <a:gradFill rotWithShape="1">
              <a:gsLst>
                <a:gs pos="0">
                  <a:srgbClr val="9245C4">
                    <a:alpha val="100000"/>
                  </a:srgbClr>
                </a:gs>
                <a:gs pos="100000">
                  <a:srgbClr val="AD64DD">
                    <a:alpha val="100000"/>
                  </a:srgbClr>
                </a:gs>
              </a:gsLst>
              <a:lin ang="0"/>
            </a:gradFill>
            <a:ln w="19050" cap="rnd">
              <a:solidFill>
                <a:srgbClr val="FFFFFF"/>
              </a:solidFill>
              <a:prstDash val="solid"/>
              <a:round/>
            </a:ln>
          </p:spPr>
        </p:sp>
        <p:sp>
          <p:nvSpPr>
            <p:cNvPr id="7" name="TextBox 7"/>
            <p:cNvSpPr txBox="1"/>
            <p:nvPr/>
          </p:nvSpPr>
          <p:spPr>
            <a:xfrm>
              <a:off x="0" y="85725"/>
              <a:ext cx="2621197" cy="890453"/>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8" name="TextBox 8"/>
          <p:cNvSpPr txBox="1"/>
          <p:nvPr/>
        </p:nvSpPr>
        <p:spPr>
          <a:xfrm>
            <a:off x="9405039" y="1796540"/>
            <a:ext cx="6702771" cy="2082166"/>
          </a:xfrm>
          <a:prstGeom prst="rect">
            <a:avLst/>
          </a:prstGeom>
        </p:spPr>
        <p:txBody>
          <a:bodyPr lIns="0" tIns="0" rIns="0" bIns="0" rtlCol="0" anchor="t">
            <a:spAutoFit/>
          </a:bodyPr>
          <a:lstStyle/>
          <a:p>
            <a:pPr marL="0" lvl="0" indent="0" algn="just">
              <a:lnSpc>
                <a:spcPts val="3359"/>
              </a:lnSpc>
              <a:spcBef>
                <a:spcPct val="0"/>
              </a:spcBef>
            </a:pPr>
            <a:r>
              <a:rPr lang="en-US" sz="2399" dirty="0">
                <a:solidFill>
                  <a:srgbClr val="FFFFFF"/>
                </a:solidFill>
                <a:latin typeface="Open Sauce"/>
                <a:ea typeface="Open Sauce"/>
                <a:cs typeface="Open Sauce"/>
                <a:sym typeface="Open Sauce"/>
              </a:rPr>
              <a:t>    </a:t>
            </a:r>
            <a:r>
              <a:rPr lang="en-US" sz="2399" u="none" strike="noStrike" dirty="0">
                <a:solidFill>
                  <a:srgbClr val="FFFFFF"/>
                </a:solidFill>
                <a:latin typeface="Open Sauce"/>
                <a:ea typeface="Open Sauce"/>
                <a:cs typeface="Open Sauce"/>
                <a:sym typeface="Open Sauce"/>
              </a:rPr>
              <a:t>= Hysteresis Time / Full CPU Execution    </a:t>
            </a:r>
          </a:p>
          <a:p>
            <a:pPr marL="0" lvl="0" indent="0" algn="just">
              <a:lnSpc>
                <a:spcPts val="3359"/>
              </a:lnSpc>
              <a:spcBef>
                <a:spcPct val="0"/>
              </a:spcBef>
            </a:pPr>
            <a:r>
              <a:rPr lang="en-US" sz="2399" u="none" strike="noStrike" dirty="0">
                <a:solidFill>
                  <a:srgbClr val="FFFFFF"/>
                </a:solidFill>
                <a:latin typeface="Open Sauce"/>
                <a:ea typeface="Open Sauce"/>
                <a:cs typeface="Open Sauce"/>
                <a:sym typeface="Open Sauce"/>
              </a:rPr>
              <a:t>      Time (Serial Fraction)</a:t>
            </a:r>
          </a:p>
          <a:p>
            <a:pPr marL="0" lvl="0" indent="0" algn="just">
              <a:lnSpc>
                <a:spcPts val="3359"/>
              </a:lnSpc>
              <a:spcBef>
                <a:spcPct val="0"/>
              </a:spcBef>
            </a:pPr>
            <a:r>
              <a:rPr lang="en-US" sz="2399" u="none" strike="noStrike" dirty="0">
                <a:solidFill>
                  <a:srgbClr val="FFFFFF"/>
                </a:solidFill>
                <a:latin typeface="Open Sauce"/>
                <a:ea typeface="Open Sauce"/>
                <a:cs typeface="Open Sauce"/>
                <a:sym typeface="Open Sauce"/>
              </a:rPr>
              <a:t>  = GPU Frontend Speedup (Parallel Portion Speedup)</a:t>
            </a:r>
          </a:p>
          <a:p>
            <a:pPr marL="0" lvl="0" indent="0" algn="just">
              <a:lnSpc>
                <a:spcPts val="3359"/>
              </a:lnSpc>
              <a:spcBef>
                <a:spcPct val="0"/>
              </a:spcBef>
            </a:pPr>
            <a:r>
              <a:rPr lang="en-US" sz="2399" u="none" strike="noStrike" dirty="0" err="1">
                <a:solidFill>
                  <a:srgbClr val="FFFFFF"/>
                </a:solidFill>
                <a:latin typeface="Open Sauce"/>
                <a:ea typeface="Open Sauce"/>
                <a:cs typeface="Open Sauce"/>
                <a:sym typeface="Open Sauce"/>
              </a:rPr>
              <a:t>S（max</a:t>
            </a:r>
            <a:r>
              <a:rPr lang="en-US" sz="2399" u="none" strike="noStrike" dirty="0">
                <a:solidFill>
                  <a:srgbClr val="FFFFFF"/>
                </a:solidFill>
                <a:latin typeface="Open Sauce"/>
                <a:ea typeface="Open Sauce"/>
                <a:cs typeface="Open Sauce"/>
                <a:sym typeface="Open Sauce"/>
              </a:rPr>
              <a:t>） = 1/    , when </a:t>
            </a:r>
          </a:p>
        </p:txBody>
      </p:sp>
      <p:pic>
        <p:nvPicPr>
          <p:cNvPr id="9" name="Picture 9"/>
          <p:cNvPicPr>
            <a:picLocks noChangeAspect="1"/>
          </p:cNvPicPr>
          <p:nvPr/>
        </p:nvPicPr>
        <p:blipFill>
          <a:blip r:embed="rId5"/>
          <a:stretch>
            <a:fillRect/>
          </a:stretch>
        </p:blipFill>
        <p:spPr>
          <a:xfrm>
            <a:off x="12831368" y="3374626"/>
            <a:ext cx="1959056" cy="667333"/>
          </a:xfrm>
          <a:prstGeom prst="rect">
            <a:avLst/>
          </a:prstGeom>
        </p:spPr>
      </p:pic>
      <p:pic>
        <p:nvPicPr>
          <p:cNvPr id="10" name="Picture 10"/>
          <p:cNvPicPr>
            <a:picLocks noChangeAspect="1"/>
          </p:cNvPicPr>
          <p:nvPr/>
        </p:nvPicPr>
        <p:blipFill>
          <a:blip r:embed="rId6"/>
          <a:stretch>
            <a:fillRect/>
          </a:stretch>
        </p:blipFill>
        <p:spPr>
          <a:xfrm>
            <a:off x="11390620" y="3425905"/>
            <a:ext cx="379369" cy="564775"/>
          </a:xfrm>
          <a:prstGeom prst="rect">
            <a:avLst/>
          </a:prstGeom>
        </p:spPr>
      </p:pic>
      <p:pic>
        <p:nvPicPr>
          <p:cNvPr id="11" name="Picture 11"/>
          <p:cNvPicPr>
            <a:picLocks noChangeAspect="1"/>
          </p:cNvPicPr>
          <p:nvPr/>
        </p:nvPicPr>
        <p:blipFill>
          <a:blip r:embed="rId7"/>
          <a:stretch>
            <a:fillRect/>
          </a:stretch>
        </p:blipFill>
        <p:spPr>
          <a:xfrm>
            <a:off x="9305737" y="2640836"/>
            <a:ext cx="391523" cy="361590"/>
          </a:xfrm>
          <a:prstGeom prst="rect">
            <a:avLst/>
          </a:prstGeom>
        </p:spPr>
      </p:pic>
      <p:pic>
        <p:nvPicPr>
          <p:cNvPr id="12" name="Picture 12"/>
          <p:cNvPicPr>
            <a:picLocks noChangeAspect="1"/>
          </p:cNvPicPr>
          <p:nvPr/>
        </p:nvPicPr>
        <p:blipFill>
          <a:blip r:embed="rId8"/>
          <a:stretch>
            <a:fillRect/>
          </a:stretch>
        </p:blipFill>
        <p:spPr>
          <a:xfrm>
            <a:off x="9351378" y="1737576"/>
            <a:ext cx="379369" cy="564775"/>
          </a:xfrm>
          <a:prstGeom prst="rect">
            <a:avLst/>
          </a:prstGeom>
        </p:spPr>
      </p:pic>
      <p:grpSp>
        <p:nvGrpSpPr>
          <p:cNvPr id="13" name="Group 13"/>
          <p:cNvGrpSpPr/>
          <p:nvPr/>
        </p:nvGrpSpPr>
        <p:grpSpPr>
          <a:xfrm>
            <a:off x="9144000" y="4158155"/>
            <a:ext cx="7120348" cy="2049959"/>
            <a:chOff x="0" y="0"/>
            <a:chExt cx="2680118" cy="771610"/>
          </a:xfrm>
        </p:grpSpPr>
        <p:sp>
          <p:nvSpPr>
            <p:cNvPr id="14" name="Freeform 14"/>
            <p:cNvSpPr/>
            <p:nvPr/>
          </p:nvSpPr>
          <p:spPr>
            <a:xfrm>
              <a:off x="0" y="0"/>
              <a:ext cx="2680118" cy="771610"/>
            </a:xfrm>
            <a:custGeom>
              <a:avLst/>
              <a:gdLst/>
              <a:ahLst/>
              <a:cxnLst/>
              <a:rect l="l" t="t" r="r" b="b"/>
              <a:pathLst>
                <a:path w="2680118" h="771610">
                  <a:moveTo>
                    <a:pt x="55452" y="0"/>
                  </a:moveTo>
                  <a:lnTo>
                    <a:pt x="2624666" y="0"/>
                  </a:lnTo>
                  <a:cubicBezTo>
                    <a:pt x="2639373" y="0"/>
                    <a:pt x="2653477" y="5842"/>
                    <a:pt x="2663877" y="16242"/>
                  </a:cubicBezTo>
                  <a:cubicBezTo>
                    <a:pt x="2674276" y="26641"/>
                    <a:pt x="2680118" y="40745"/>
                    <a:pt x="2680118" y="55452"/>
                  </a:cubicBezTo>
                  <a:lnTo>
                    <a:pt x="2680118" y="716158"/>
                  </a:lnTo>
                  <a:cubicBezTo>
                    <a:pt x="2680118" y="730865"/>
                    <a:pt x="2674276" y="744969"/>
                    <a:pt x="2663877" y="755369"/>
                  </a:cubicBezTo>
                  <a:cubicBezTo>
                    <a:pt x="2653477" y="765768"/>
                    <a:pt x="2639373" y="771610"/>
                    <a:pt x="2624666" y="771610"/>
                  </a:cubicBezTo>
                  <a:lnTo>
                    <a:pt x="55452" y="771610"/>
                  </a:lnTo>
                  <a:cubicBezTo>
                    <a:pt x="24827" y="771610"/>
                    <a:pt x="0" y="746783"/>
                    <a:pt x="0" y="716158"/>
                  </a:cubicBezTo>
                  <a:lnTo>
                    <a:pt x="0" y="55452"/>
                  </a:lnTo>
                  <a:cubicBezTo>
                    <a:pt x="0" y="40745"/>
                    <a:pt x="5842" y="26641"/>
                    <a:pt x="16242" y="16242"/>
                  </a:cubicBezTo>
                  <a:cubicBezTo>
                    <a:pt x="26641" y="5842"/>
                    <a:pt x="40745" y="0"/>
                    <a:pt x="55452" y="0"/>
                  </a:cubicBezTo>
                  <a:close/>
                </a:path>
              </a:pathLst>
            </a:custGeom>
            <a:gradFill rotWithShape="1">
              <a:gsLst>
                <a:gs pos="0">
                  <a:srgbClr val="F5B4FF">
                    <a:alpha val="100000"/>
                  </a:srgbClr>
                </a:gs>
                <a:gs pos="100000">
                  <a:srgbClr val="E393EF">
                    <a:alpha val="100000"/>
                  </a:srgbClr>
                </a:gs>
              </a:gsLst>
              <a:lin ang="0"/>
            </a:gradFill>
            <a:ln w="19050" cap="rnd">
              <a:solidFill>
                <a:srgbClr val="FFFFFF"/>
              </a:solidFill>
              <a:prstDash val="solid"/>
              <a:round/>
            </a:ln>
          </p:spPr>
        </p:sp>
        <p:sp>
          <p:nvSpPr>
            <p:cNvPr id="15" name="TextBox 15"/>
            <p:cNvSpPr txBox="1"/>
            <p:nvPr/>
          </p:nvSpPr>
          <p:spPr>
            <a:xfrm>
              <a:off x="0" y="85725"/>
              <a:ext cx="2680118" cy="685885"/>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16" name="TextBox 16"/>
          <p:cNvSpPr txBox="1"/>
          <p:nvPr/>
        </p:nvSpPr>
        <p:spPr>
          <a:xfrm>
            <a:off x="9541063" y="4323272"/>
            <a:ext cx="12615833" cy="2436324"/>
          </a:xfrm>
          <a:prstGeom prst="rect">
            <a:avLst/>
          </a:prstGeom>
        </p:spPr>
        <p:txBody>
          <a:bodyPr lIns="0" tIns="0" rIns="0" bIns="0" rtlCol="0" anchor="t">
            <a:spAutoFit/>
          </a:bodyPr>
          <a:lstStyle/>
          <a:p>
            <a:pPr algn="just">
              <a:lnSpc>
                <a:spcPts val="3354"/>
              </a:lnSpc>
            </a:pPr>
            <a:r>
              <a:rPr lang="en-US" sz="2396">
                <a:solidFill>
                  <a:srgbClr val="0E0637"/>
                </a:solidFill>
                <a:latin typeface="Open Sauce"/>
                <a:ea typeface="Open Sauce"/>
                <a:cs typeface="Open Sauce"/>
                <a:sym typeface="Open Sauce"/>
              </a:rPr>
              <a:t>test.jpg:   CPU  total=177ms,  </a:t>
            </a:r>
          </a:p>
          <a:p>
            <a:pPr algn="just">
              <a:lnSpc>
                <a:spcPts val="3354"/>
              </a:lnSpc>
            </a:pPr>
            <a:r>
              <a:rPr lang="en-US" sz="2396">
                <a:solidFill>
                  <a:srgbClr val="0E0637"/>
                </a:solidFill>
                <a:latin typeface="Open Sauce"/>
                <a:ea typeface="Open Sauce"/>
                <a:cs typeface="Open Sauce"/>
                <a:sym typeface="Open Sauce"/>
              </a:rPr>
              <a:t>                 GPU frontend=3.4ms  </a:t>
            </a:r>
          </a:p>
          <a:p>
            <a:pPr algn="just">
              <a:lnSpc>
                <a:spcPts val="3354"/>
              </a:lnSpc>
            </a:pPr>
            <a:r>
              <a:rPr lang="en-US" sz="2396">
                <a:solidFill>
                  <a:srgbClr val="0E0637"/>
                </a:solidFill>
                <a:latin typeface="Open Sauce"/>
                <a:ea typeface="Open Sauce"/>
                <a:cs typeface="Open Sauce"/>
                <a:sym typeface="Open Sauce"/>
              </a:rPr>
              <a:t>                 CPU post=157ms  </a:t>
            </a:r>
          </a:p>
          <a:p>
            <a:pPr algn="just">
              <a:lnSpc>
                <a:spcPts val="3354"/>
              </a:lnSpc>
            </a:pPr>
            <a:r>
              <a:rPr lang="en-US" sz="2396">
                <a:solidFill>
                  <a:srgbClr val="0E0637"/>
                </a:solidFill>
                <a:latin typeface="Open Sauce"/>
                <a:ea typeface="Open Sauce"/>
                <a:cs typeface="Open Sauce"/>
                <a:sym typeface="Open Sauce"/>
              </a:rPr>
              <a:t>                  f=0.88   S_max=1.1x</a:t>
            </a:r>
          </a:p>
          <a:p>
            <a:pPr marL="0" lvl="0" indent="0" algn="just">
              <a:lnSpc>
                <a:spcPts val="6324"/>
              </a:lnSpc>
              <a:spcBef>
                <a:spcPct val="0"/>
              </a:spcBef>
            </a:pPr>
            <a:endParaRPr lang="en-US" sz="2396">
              <a:solidFill>
                <a:srgbClr val="0E0637"/>
              </a:solidFill>
              <a:latin typeface="Open Sauce"/>
              <a:ea typeface="Open Sauce"/>
              <a:cs typeface="Open Sauce"/>
              <a:sym typeface="Open Sauce"/>
            </a:endParaRPr>
          </a:p>
        </p:txBody>
      </p:sp>
      <p:sp>
        <p:nvSpPr>
          <p:cNvPr id="17" name="TextBox 17"/>
          <p:cNvSpPr txBox="1"/>
          <p:nvPr/>
        </p:nvSpPr>
        <p:spPr>
          <a:xfrm>
            <a:off x="1269440" y="9680825"/>
            <a:ext cx="16137849" cy="372745"/>
          </a:xfrm>
          <a:prstGeom prst="rect">
            <a:avLst/>
          </a:prstGeom>
        </p:spPr>
        <p:txBody>
          <a:bodyPr lIns="0" tIns="0" rIns="0" bIns="0" rtlCol="0" anchor="t">
            <a:spAutoFit/>
          </a:bodyPr>
          <a:lstStyle/>
          <a:p>
            <a:pPr marL="0" lvl="0" indent="0" algn="just">
              <a:lnSpc>
                <a:spcPts val="3079"/>
              </a:lnSpc>
              <a:spcBef>
                <a:spcPct val="0"/>
              </a:spcBef>
            </a:pPr>
            <a:r>
              <a:rPr lang="en-US" sz="2199">
                <a:solidFill>
                  <a:srgbClr val="FFFFFF"/>
                </a:solidFill>
                <a:latin typeface="Open Sauce"/>
                <a:ea typeface="Open Sauce"/>
                <a:cs typeface="Open Sauce"/>
                <a:sym typeface="Open Sauce"/>
              </a:rPr>
              <a:t>As </a:t>
            </a:r>
            <a:r>
              <a:rPr lang="en-US" sz="2199" u="none" strike="noStrike">
                <a:solidFill>
                  <a:srgbClr val="FFFFFF"/>
                </a:solidFill>
                <a:latin typeface="Open Sauce"/>
                <a:ea typeface="Open Sauce"/>
                <a:cs typeface="Open Sauce"/>
                <a:sym typeface="Open Sauce"/>
              </a:rPr>
              <a:t>long as Hysteresis runs on CPU, the ceiling is locked at 1/f — regardless of how fast the GPU frontend becomes.</a:t>
            </a:r>
          </a:p>
        </p:txBody>
      </p:sp>
      <p:sp>
        <p:nvSpPr>
          <p:cNvPr id="18" name="TextBox 18"/>
          <p:cNvSpPr txBox="1"/>
          <p:nvPr/>
        </p:nvSpPr>
        <p:spPr>
          <a:xfrm>
            <a:off x="16435908" y="290843"/>
            <a:ext cx="1646783"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Shiying Yang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E0637"/>
        </a:solidFill>
        <a:effectLst/>
      </p:bgPr>
    </p:bg>
    <p:spTree>
      <p:nvGrpSpPr>
        <p:cNvPr id="1" name=""/>
        <p:cNvGrpSpPr/>
        <p:nvPr/>
      </p:nvGrpSpPr>
      <p:grpSpPr>
        <a:xfrm>
          <a:off x="0" y="0"/>
          <a:ext cx="0" cy="0"/>
          <a:chOff x="0" y="0"/>
          <a:chExt cx="0" cy="0"/>
        </a:xfrm>
      </p:grpSpPr>
      <p:sp>
        <p:nvSpPr>
          <p:cNvPr id="2" name="Freeform 2"/>
          <p:cNvSpPr/>
          <p:nvPr/>
        </p:nvSpPr>
        <p:spPr>
          <a:xfrm>
            <a:off x="4086728" y="4860780"/>
            <a:ext cx="11550139" cy="5067918"/>
          </a:xfrm>
          <a:custGeom>
            <a:avLst/>
            <a:gdLst/>
            <a:ahLst/>
            <a:cxnLst/>
            <a:rect l="l" t="t" r="r" b="b"/>
            <a:pathLst>
              <a:path w="11550139" h="5067918">
                <a:moveTo>
                  <a:pt x="0" y="0"/>
                </a:moveTo>
                <a:lnTo>
                  <a:pt x="11550139" y="0"/>
                </a:lnTo>
                <a:lnTo>
                  <a:pt x="11550139" y="5067918"/>
                </a:lnTo>
                <a:lnTo>
                  <a:pt x="0" y="5067918"/>
                </a:lnTo>
                <a:lnTo>
                  <a:pt x="0" y="0"/>
                </a:lnTo>
                <a:close/>
              </a:path>
            </a:pathLst>
          </a:custGeom>
          <a:blipFill>
            <a:blip r:embed="rId3"/>
            <a:stretch>
              <a:fillRect/>
            </a:stretch>
          </a:blipFill>
        </p:spPr>
      </p:sp>
      <p:sp>
        <p:nvSpPr>
          <p:cNvPr id="3" name="Freeform 3"/>
          <p:cNvSpPr/>
          <p:nvPr/>
        </p:nvSpPr>
        <p:spPr>
          <a:xfrm>
            <a:off x="4086728" y="1700598"/>
            <a:ext cx="12521178" cy="2488283"/>
          </a:xfrm>
          <a:custGeom>
            <a:avLst/>
            <a:gdLst/>
            <a:ahLst/>
            <a:cxnLst/>
            <a:rect l="l" t="t" r="r" b="b"/>
            <a:pathLst>
              <a:path w="12521178" h="2488283">
                <a:moveTo>
                  <a:pt x="0" y="0"/>
                </a:moveTo>
                <a:lnTo>
                  <a:pt x="12521178" y="0"/>
                </a:lnTo>
                <a:lnTo>
                  <a:pt x="12521178" y="2488283"/>
                </a:lnTo>
                <a:lnTo>
                  <a:pt x="0" y="2488283"/>
                </a:lnTo>
                <a:lnTo>
                  <a:pt x="0" y="0"/>
                </a:lnTo>
                <a:close/>
              </a:path>
            </a:pathLst>
          </a:custGeom>
          <a:blipFill>
            <a:blip r:embed="rId4"/>
            <a:stretch>
              <a:fillRect t="-635" b="-635"/>
            </a:stretch>
          </a:blipFill>
        </p:spPr>
      </p:sp>
      <p:sp>
        <p:nvSpPr>
          <p:cNvPr id="4" name="TextBox 4"/>
          <p:cNvSpPr txBox="1"/>
          <p:nvPr/>
        </p:nvSpPr>
        <p:spPr>
          <a:xfrm>
            <a:off x="470343" y="2509289"/>
            <a:ext cx="3315533" cy="1536052"/>
          </a:xfrm>
          <a:prstGeom prst="rect">
            <a:avLst/>
          </a:prstGeom>
        </p:spPr>
        <p:txBody>
          <a:bodyPr lIns="0" tIns="0" rIns="0" bIns="0" rtlCol="0" anchor="t">
            <a:spAutoFit/>
          </a:bodyPr>
          <a:lstStyle/>
          <a:p>
            <a:pPr marL="0" lvl="0" indent="0" algn="l">
              <a:lnSpc>
                <a:spcPts val="6160"/>
              </a:lnSpc>
              <a:spcBef>
                <a:spcPct val="0"/>
              </a:spcBef>
            </a:pPr>
            <a:r>
              <a:rPr lang="en-US" sz="4400">
                <a:solidFill>
                  <a:srgbClr val="FFFFFF"/>
                </a:solidFill>
                <a:latin typeface="Canva Sans"/>
                <a:ea typeface="Canva Sans"/>
                <a:cs typeface="Canva Sans"/>
                <a:sym typeface="Canva Sans"/>
              </a:rPr>
              <a:t>a</a:t>
            </a:r>
            <a:r>
              <a:rPr lang="en-US" sz="4400" u="none" strike="noStrike">
                <a:solidFill>
                  <a:srgbClr val="FFFFFF"/>
                </a:solidFill>
                <a:latin typeface="Canva Sans"/>
                <a:ea typeface="Canva Sans"/>
                <a:cs typeface="Canva Sans"/>
                <a:sym typeface="Canva Sans"/>
              </a:rPr>
              <a:t>rchitecture</a:t>
            </a:r>
          </a:p>
          <a:p>
            <a:pPr marL="0" lvl="0" indent="0" algn="l">
              <a:lnSpc>
                <a:spcPts val="6160"/>
              </a:lnSpc>
              <a:spcBef>
                <a:spcPct val="0"/>
              </a:spcBef>
            </a:pPr>
            <a:endParaRPr lang="en-US" sz="4400" u="none" strike="noStrike">
              <a:solidFill>
                <a:srgbClr val="FFFFFF"/>
              </a:solidFill>
              <a:latin typeface="Canva Sans"/>
              <a:ea typeface="Canva Sans"/>
              <a:cs typeface="Canva Sans"/>
              <a:sym typeface="Canva Sans"/>
            </a:endParaRPr>
          </a:p>
        </p:txBody>
      </p:sp>
      <p:sp>
        <p:nvSpPr>
          <p:cNvPr id="5" name="TextBox 5"/>
          <p:cNvSpPr txBox="1"/>
          <p:nvPr/>
        </p:nvSpPr>
        <p:spPr>
          <a:xfrm>
            <a:off x="215311" y="7510486"/>
            <a:ext cx="3570565" cy="481316"/>
          </a:xfrm>
          <a:prstGeom prst="rect">
            <a:avLst/>
          </a:prstGeom>
        </p:spPr>
        <p:txBody>
          <a:bodyPr lIns="0" tIns="0" rIns="0" bIns="0" rtlCol="0" anchor="t">
            <a:spAutoFit/>
          </a:bodyPr>
          <a:lstStyle/>
          <a:p>
            <a:pPr marL="0" lvl="0" indent="0" algn="l">
              <a:lnSpc>
                <a:spcPts val="3920"/>
              </a:lnSpc>
              <a:spcBef>
                <a:spcPct val="0"/>
              </a:spcBef>
            </a:pPr>
            <a:r>
              <a:rPr lang="en-US" sz="2800" u="none" strike="noStrike">
                <a:solidFill>
                  <a:srgbClr val="FFFFFF"/>
                </a:solidFill>
                <a:latin typeface="Canva Sans"/>
                <a:ea typeface="Canva Sans"/>
                <a:cs typeface="Canva Sans"/>
                <a:sym typeface="Canva Sans"/>
              </a:rPr>
              <a:t>Timeline comparison</a:t>
            </a:r>
          </a:p>
        </p:txBody>
      </p:sp>
      <p:grpSp>
        <p:nvGrpSpPr>
          <p:cNvPr id="6" name="Group 6"/>
          <p:cNvGrpSpPr/>
          <p:nvPr/>
        </p:nvGrpSpPr>
        <p:grpSpPr>
          <a:xfrm>
            <a:off x="1028700" y="2035769"/>
            <a:ext cx="15841852" cy="6710562"/>
            <a:chOff x="0" y="0"/>
            <a:chExt cx="5962915" cy="2525873"/>
          </a:xfrm>
        </p:grpSpPr>
        <p:sp>
          <p:nvSpPr>
            <p:cNvPr id="7" name="Freeform 7"/>
            <p:cNvSpPr/>
            <p:nvPr/>
          </p:nvSpPr>
          <p:spPr>
            <a:xfrm>
              <a:off x="0" y="0"/>
              <a:ext cx="5962915" cy="2525873"/>
            </a:xfrm>
            <a:custGeom>
              <a:avLst/>
              <a:gdLst/>
              <a:ahLst/>
              <a:cxnLst/>
              <a:rect l="l" t="t" r="r" b="b"/>
              <a:pathLst>
                <a:path w="5962915" h="2525873">
                  <a:moveTo>
                    <a:pt x="24924" y="0"/>
                  </a:moveTo>
                  <a:lnTo>
                    <a:pt x="5937991" y="0"/>
                  </a:lnTo>
                  <a:cubicBezTo>
                    <a:pt x="5951756" y="0"/>
                    <a:pt x="5962915" y="11159"/>
                    <a:pt x="5962915" y="24924"/>
                  </a:cubicBezTo>
                  <a:lnTo>
                    <a:pt x="5962915" y="2500949"/>
                  </a:lnTo>
                  <a:cubicBezTo>
                    <a:pt x="5962915" y="2507560"/>
                    <a:pt x="5960289" y="2513899"/>
                    <a:pt x="5955615" y="2518573"/>
                  </a:cubicBezTo>
                  <a:cubicBezTo>
                    <a:pt x="5950941" y="2523247"/>
                    <a:pt x="5944601" y="2525873"/>
                    <a:pt x="5937991" y="2525873"/>
                  </a:cubicBezTo>
                  <a:lnTo>
                    <a:pt x="24924" y="2525873"/>
                  </a:lnTo>
                  <a:cubicBezTo>
                    <a:pt x="11159" y="2525873"/>
                    <a:pt x="0" y="2514714"/>
                    <a:pt x="0" y="2500949"/>
                  </a:cubicBezTo>
                  <a:lnTo>
                    <a:pt x="0" y="24924"/>
                  </a:lnTo>
                  <a:cubicBezTo>
                    <a:pt x="0" y="11159"/>
                    <a:pt x="11159" y="0"/>
                    <a:pt x="24924" y="0"/>
                  </a:cubicBezTo>
                  <a:close/>
                </a:path>
              </a:pathLst>
            </a:custGeom>
            <a:gradFill rotWithShape="1">
              <a:gsLst>
                <a:gs pos="0">
                  <a:srgbClr val="F5B4FF">
                    <a:alpha val="100000"/>
                  </a:srgbClr>
                </a:gs>
                <a:gs pos="100000">
                  <a:srgbClr val="E393EF">
                    <a:alpha val="100000"/>
                  </a:srgbClr>
                </a:gs>
              </a:gsLst>
              <a:lin ang="0"/>
            </a:gradFill>
            <a:ln w="19050" cap="rnd">
              <a:solidFill>
                <a:srgbClr val="FFFFFF"/>
              </a:solidFill>
              <a:prstDash val="solid"/>
              <a:round/>
            </a:ln>
          </p:spPr>
          <p:txBody>
            <a:bodyPr/>
            <a:lstStyle/>
            <a:p>
              <a:endParaRPr lang="zh-CN" altLang="en-US"/>
            </a:p>
          </p:txBody>
        </p:sp>
        <p:sp>
          <p:nvSpPr>
            <p:cNvPr id="8" name="TextBox 8"/>
            <p:cNvSpPr txBox="1"/>
            <p:nvPr/>
          </p:nvSpPr>
          <p:spPr>
            <a:xfrm>
              <a:off x="0" y="85725"/>
              <a:ext cx="5962915" cy="2440148"/>
            </a:xfrm>
            <a:prstGeom prst="rect">
              <a:avLst/>
            </a:prstGeom>
          </p:spPr>
          <p:txBody>
            <a:bodyPr lIns="50800" tIns="50800" rIns="50800" bIns="50800" rtlCol="0" anchor="ctr"/>
            <a:lstStyle/>
            <a:p>
              <a:pPr marL="0" lvl="0" indent="0" algn="ctr">
                <a:lnSpc>
                  <a:spcPts val="2218"/>
                </a:lnSpc>
                <a:spcBef>
                  <a:spcPct val="0"/>
                </a:spcBef>
              </a:pPr>
              <a:endParaRPr/>
            </a:p>
          </p:txBody>
        </p:sp>
      </p:grpSp>
      <p:graphicFrame>
        <p:nvGraphicFramePr>
          <p:cNvPr id="9" name="Table 9"/>
          <p:cNvGraphicFramePr>
            <a:graphicFrameLocks noGrp="1"/>
          </p:cNvGraphicFramePr>
          <p:nvPr/>
        </p:nvGraphicFramePr>
        <p:xfrm>
          <a:off x="2325864" y="2432214"/>
          <a:ext cx="13636272" cy="4962524"/>
        </p:xfrm>
        <a:graphic>
          <a:graphicData uri="http://schemas.openxmlformats.org/drawingml/2006/table">
            <a:tbl>
              <a:tblPr/>
              <a:tblGrid>
                <a:gridCol w="3409068">
                  <a:extLst>
                    <a:ext uri="{9D8B030D-6E8A-4147-A177-3AD203B41FA5}">
                      <a16:colId xmlns:a16="http://schemas.microsoft.com/office/drawing/2014/main" val="20000"/>
                    </a:ext>
                  </a:extLst>
                </a:gridCol>
                <a:gridCol w="3409068">
                  <a:extLst>
                    <a:ext uri="{9D8B030D-6E8A-4147-A177-3AD203B41FA5}">
                      <a16:colId xmlns:a16="http://schemas.microsoft.com/office/drawing/2014/main" val="20001"/>
                    </a:ext>
                  </a:extLst>
                </a:gridCol>
                <a:gridCol w="3409068">
                  <a:extLst>
                    <a:ext uri="{9D8B030D-6E8A-4147-A177-3AD203B41FA5}">
                      <a16:colId xmlns:a16="http://schemas.microsoft.com/office/drawing/2014/main" val="20002"/>
                    </a:ext>
                  </a:extLst>
                </a:gridCol>
                <a:gridCol w="3409068">
                  <a:extLst>
                    <a:ext uri="{9D8B030D-6E8A-4147-A177-3AD203B41FA5}">
                      <a16:colId xmlns:a16="http://schemas.microsoft.com/office/drawing/2014/main" val="20003"/>
                    </a:ext>
                  </a:extLst>
                </a:gridCol>
              </a:tblGrid>
              <a:tr h="1506995">
                <a:tc>
                  <a:txBody>
                    <a:bodyPr/>
                    <a:lstStyle/>
                    <a:p>
                      <a:pPr algn="ctr">
                        <a:lnSpc>
                          <a:spcPts val="3404"/>
                        </a:lnSpc>
                        <a:defRPr/>
                      </a:pPr>
                      <a:r>
                        <a:rPr lang="en-US" sz="2431" b="1">
                          <a:solidFill>
                            <a:srgbClr val="000000"/>
                          </a:solidFill>
                          <a:latin typeface="Open Sauce Bold"/>
                          <a:ea typeface="Open Sauce Bold"/>
                          <a:cs typeface="Open Sauce Bold"/>
                          <a:sym typeface="Open Sauce Bold"/>
                        </a:rPr>
                        <a:t>pattern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684"/>
                        </a:lnSpc>
                        <a:defRPr/>
                      </a:pPr>
                      <a:r>
                        <a:rPr lang="en-US" sz="2631" b="1">
                          <a:solidFill>
                            <a:srgbClr val="000000"/>
                          </a:solidFill>
                          <a:latin typeface="Open Sauce Bold"/>
                          <a:ea typeface="Open Sauce Bold"/>
                          <a:cs typeface="Open Sauce Bold"/>
                          <a:sym typeface="Open Sauce Bold"/>
                        </a:rPr>
                        <a:t>test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44"/>
                        </a:lnSpc>
                        <a:defRPr/>
                      </a:pPr>
                      <a:r>
                        <a:rPr lang="en-US" sz="2031" b="1">
                          <a:solidFill>
                            <a:srgbClr val="000000"/>
                          </a:solidFill>
                          <a:latin typeface="Open Sauce Bold"/>
                          <a:ea typeface="Open Sauce Bold"/>
                          <a:cs typeface="Open Sauce Bold"/>
                          <a:sym typeface="Open Sauce Bold"/>
                        </a:rPr>
                        <a:t>Whether real-time ≥30fps has been achieved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264"/>
                        </a:lnSpc>
                        <a:defRPr/>
                      </a:pPr>
                      <a:r>
                        <a:rPr lang="en-US" sz="2331" b="1">
                          <a:solidFill>
                            <a:srgbClr val="000000"/>
                          </a:solidFill>
                          <a:latin typeface="Open Sauce Bold"/>
                          <a:ea typeface="Open Sauce Bold"/>
                          <a:cs typeface="Open Sauce Bold"/>
                          <a:sym typeface="Open Sauce Bold"/>
                        </a:rPr>
                        <a:t>Throughput FPS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51843">
                <a:tc>
                  <a:txBody>
                    <a:bodyPr/>
                    <a:lstStyle/>
                    <a:p>
                      <a:pPr algn="ctr">
                        <a:lnSpc>
                          <a:spcPts val="3264"/>
                        </a:lnSpc>
                        <a:defRPr/>
                      </a:pPr>
                      <a:r>
                        <a:rPr lang="en-US" sz="2331">
                          <a:solidFill>
                            <a:srgbClr val="000000"/>
                          </a:solidFill>
                          <a:latin typeface="Open Sauce"/>
                          <a:ea typeface="Open Sauce"/>
                          <a:cs typeface="Open Sauce"/>
                          <a:sym typeface="Open Sauce"/>
                        </a:rPr>
                        <a:t>Sequential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44"/>
                        </a:lnSpc>
                        <a:defRPr/>
                      </a:pPr>
                      <a:r>
                        <a:rPr lang="en-US" sz="2031">
                          <a:solidFill>
                            <a:srgbClr val="000000"/>
                          </a:solidFill>
                          <a:latin typeface="Open Sauce"/>
                          <a:ea typeface="Open Sauce"/>
                          <a:cs typeface="Open Sauce"/>
                          <a:sym typeface="Open Sauce"/>
                        </a:rPr>
                        <a:t>30 frames of image-loop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44"/>
                        </a:lnSpc>
                        <a:defRPr/>
                      </a:pPr>
                      <a:r>
                        <a:rPr lang="en-US" sz="2031">
                          <a:solidFill>
                            <a:srgbClr val="000000"/>
                          </a:solidFill>
                          <a:latin typeface="Open Sauce"/>
                          <a:ea typeface="Open Sauce"/>
                          <a:cs typeface="Open Sauce"/>
                          <a:sym typeface="Open Sauce"/>
                        </a:rPr>
                        <a:t>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124"/>
                        </a:lnSpc>
                        <a:defRPr/>
                      </a:pPr>
                      <a:r>
                        <a:rPr lang="en-US" sz="2231">
                          <a:solidFill>
                            <a:srgbClr val="000000"/>
                          </a:solidFill>
                          <a:latin typeface="Open Sauce"/>
                          <a:ea typeface="Open Sauce"/>
                          <a:cs typeface="Open Sauce"/>
                          <a:sym typeface="Open Sauce"/>
                        </a:rPr>
                        <a:t>9.36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51843">
                <a:tc>
                  <a:txBody>
                    <a:bodyPr/>
                    <a:lstStyle/>
                    <a:p>
                      <a:pPr algn="ctr">
                        <a:lnSpc>
                          <a:spcPts val="3544"/>
                        </a:lnSpc>
                        <a:defRPr/>
                      </a:pPr>
                      <a:r>
                        <a:rPr lang="en-US" sz="2531">
                          <a:solidFill>
                            <a:srgbClr val="000000"/>
                          </a:solidFill>
                          <a:latin typeface="Open Sauce"/>
                          <a:ea typeface="Open Sauce"/>
                          <a:cs typeface="Open Sauce"/>
                          <a:sym typeface="Open Sauce"/>
                        </a:rPr>
                        <a:t>Pipeline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44"/>
                        </a:lnSpc>
                        <a:defRPr/>
                      </a:pPr>
                      <a:r>
                        <a:rPr lang="en-US" sz="2031">
                          <a:solidFill>
                            <a:srgbClr val="000000"/>
                          </a:solidFill>
                          <a:latin typeface="Open Sauce"/>
                          <a:ea typeface="Open Sauce"/>
                          <a:cs typeface="Open Sauce"/>
                          <a:sym typeface="Open Sauce"/>
                        </a:rPr>
                        <a:t>30 frames of image-loop</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44"/>
                        </a:lnSpc>
                        <a:defRPr/>
                      </a:pPr>
                      <a:r>
                        <a:rPr lang="en-US" sz="2031">
                          <a:solidFill>
                            <a:srgbClr val="000000"/>
                          </a:solidFill>
                          <a:latin typeface="Open Sauce"/>
                          <a:ea typeface="Open Sauce"/>
                          <a:cs typeface="Open Sauce"/>
                          <a:sym typeface="Open Sauce"/>
                        </a:rPr>
                        <a:t>YES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marL="0" lvl="0" indent="0" algn="ctr">
                        <a:lnSpc>
                          <a:spcPts val="3124"/>
                        </a:lnSpc>
                        <a:spcBef>
                          <a:spcPct val="0"/>
                        </a:spcBef>
                        <a:defRPr/>
                      </a:pPr>
                      <a:r>
                        <a:rPr lang="en-US" sz="2231" u="none" strike="noStrike">
                          <a:solidFill>
                            <a:srgbClr val="000000"/>
                          </a:solidFill>
                          <a:latin typeface="Open Sauce"/>
                          <a:ea typeface="Open Sauce"/>
                          <a:cs typeface="Open Sauce"/>
                          <a:sym typeface="Open Sauce"/>
                        </a:rPr>
                        <a:t>39.57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51843">
                <a:tc>
                  <a:txBody>
                    <a:bodyPr/>
                    <a:lstStyle/>
                    <a:p>
                      <a:pPr algn="ctr">
                        <a:lnSpc>
                          <a:spcPts val="3544"/>
                        </a:lnSpc>
                        <a:defRPr/>
                      </a:pPr>
                      <a:r>
                        <a:rPr lang="en-US" sz="2531">
                          <a:solidFill>
                            <a:srgbClr val="000000"/>
                          </a:solidFill>
                          <a:latin typeface="Open Sauce"/>
                          <a:ea typeface="Open Sauce"/>
                          <a:cs typeface="Open Sauce"/>
                          <a:sym typeface="Open Sauce"/>
                        </a:rPr>
                        <a:t>Pipeline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44"/>
                        </a:lnSpc>
                        <a:defRPr/>
                      </a:pPr>
                      <a:r>
                        <a:rPr lang="en-US" sz="2031">
                          <a:solidFill>
                            <a:srgbClr val="000000"/>
                          </a:solidFill>
                          <a:latin typeface="Open Sauce"/>
                          <a:ea typeface="Open Sauce"/>
                          <a:cs typeface="Open Sauce"/>
                          <a:sym typeface="Open Sauce"/>
                        </a:rPr>
                        <a:t>100 frames per second camera</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844"/>
                        </a:lnSpc>
                        <a:defRPr/>
                      </a:pPr>
                      <a:r>
                        <a:rPr lang="en-US" sz="2031">
                          <a:solidFill>
                            <a:srgbClr val="000000"/>
                          </a:solidFill>
                          <a:latin typeface="Open Sauce"/>
                          <a:ea typeface="Open Sauce"/>
                          <a:cs typeface="Open Sauce"/>
                          <a:sym typeface="Open Sauce"/>
                        </a:rPr>
                        <a:t>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124"/>
                        </a:lnSpc>
                        <a:defRPr/>
                      </a:pPr>
                      <a:r>
                        <a:rPr lang="en-US" sz="2231" dirty="0">
                          <a:solidFill>
                            <a:srgbClr val="000000"/>
                          </a:solidFill>
                          <a:latin typeface="Open Sauce"/>
                          <a:ea typeface="Open Sauce"/>
                          <a:cs typeface="Open Sauce"/>
                          <a:sym typeface="Open Sauce"/>
                        </a:rPr>
                        <a:t>22.79</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Box 10"/>
          <p:cNvSpPr txBox="1"/>
          <p:nvPr/>
        </p:nvSpPr>
        <p:spPr>
          <a:xfrm>
            <a:off x="215311" y="233693"/>
            <a:ext cx="16900448" cy="795007"/>
          </a:xfrm>
          <a:prstGeom prst="rect">
            <a:avLst/>
          </a:prstGeom>
        </p:spPr>
        <p:txBody>
          <a:bodyPr lIns="0" tIns="0" rIns="0" bIns="0" rtlCol="0" anchor="t">
            <a:spAutoFit/>
          </a:bodyPr>
          <a:lstStyle/>
          <a:p>
            <a:pPr algn="l">
              <a:lnSpc>
                <a:spcPts val="6580"/>
              </a:lnSpc>
            </a:pPr>
            <a:r>
              <a:rPr lang="en-US" sz="4700" b="1">
                <a:solidFill>
                  <a:srgbClr val="FFFFFF"/>
                </a:solidFill>
                <a:latin typeface="Canva Sans Bold"/>
                <a:ea typeface="Canva Sans Bold"/>
                <a:cs typeface="Canva Sans Bold"/>
                <a:sym typeface="Canva Sans Bold"/>
              </a:rPr>
              <a:t>Video Stream: pipeline Parallelism across Frames</a:t>
            </a:r>
          </a:p>
        </p:txBody>
      </p:sp>
      <p:sp>
        <p:nvSpPr>
          <p:cNvPr id="11" name="TextBox 11"/>
          <p:cNvSpPr txBox="1"/>
          <p:nvPr/>
        </p:nvSpPr>
        <p:spPr>
          <a:xfrm>
            <a:off x="1542390" y="7786378"/>
            <a:ext cx="14814471" cy="372745"/>
          </a:xfrm>
          <a:prstGeom prst="rect">
            <a:avLst/>
          </a:prstGeom>
        </p:spPr>
        <p:txBody>
          <a:bodyPr lIns="0" tIns="0" rIns="0" bIns="0" rtlCol="0" anchor="t">
            <a:spAutoFit/>
          </a:bodyPr>
          <a:lstStyle/>
          <a:p>
            <a:pPr marL="0" lvl="0" indent="0" algn="just">
              <a:lnSpc>
                <a:spcPts val="3079"/>
              </a:lnSpc>
              <a:spcBef>
                <a:spcPct val="0"/>
              </a:spcBef>
            </a:pPr>
            <a:r>
              <a:rPr lang="en-US" sz="2199" u="none" strike="noStrike" dirty="0">
                <a:solidFill>
                  <a:srgbClr val="000000"/>
                </a:solidFill>
                <a:latin typeface="Open Sauce"/>
                <a:ea typeface="Open Sauce"/>
                <a:cs typeface="Open Sauce"/>
                <a:sym typeface="Open Sauce"/>
              </a:rPr>
              <a:t>Throughput FPS ≠ per-frame latency. Pipeline improves system throughput, not single-frame end-to-end delay.</a:t>
            </a:r>
          </a:p>
        </p:txBody>
      </p:sp>
      <p:sp>
        <p:nvSpPr>
          <p:cNvPr id="12" name="TextBox 12"/>
          <p:cNvSpPr txBox="1"/>
          <p:nvPr/>
        </p:nvSpPr>
        <p:spPr>
          <a:xfrm>
            <a:off x="16435908" y="290843"/>
            <a:ext cx="1646783"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Shiying Yang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768940" flipV="1">
            <a:off x="-1315101" y="-4221648"/>
            <a:ext cx="20918202" cy="18730295"/>
          </a:xfrm>
          <a:custGeom>
            <a:avLst/>
            <a:gdLst/>
            <a:ahLst/>
            <a:cxnLst/>
            <a:rect l="l" t="t" r="r" b="b"/>
            <a:pathLst>
              <a:path w="20918202" h="18730295">
                <a:moveTo>
                  <a:pt x="15187984" y="0"/>
                </a:moveTo>
                <a:lnTo>
                  <a:pt x="0" y="10187054"/>
                </a:lnTo>
                <a:lnTo>
                  <a:pt x="5730218" y="18730296"/>
                </a:lnTo>
                <a:lnTo>
                  <a:pt x="20918202" y="8543242"/>
                </a:lnTo>
                <a:lnTo>
                  <a:pt x="15187984" y="0"/>
                </a:lnTo>
                <a:close/>
              </a:path>
            </a:pathLst>
          </a:custGeom>
          <a:blipFill>
            <a:blip r:embed="rId3"/>
            <a:stretch>
              <a:fillRect l="-2753" r="-31641"/>
            </a:stretch>
          </a:blipFill>
        </p:spPr>
      </p:sp>
      <p:grpSp>
        <p:nvGrpSpPr>
          <p:cNvPr id="3" name="Group 3"/>
          <p:cNvGrpSpPr/>
          <p:nvPr/>
        </p:nvGrpSpPr>
        <p:grpSpPr>
          <a:xfrm rot="-8457765">
            <a:off x="-425717" y="-9272866"/>
            <a:ext cx="19140231" cy="19140231"/>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id="5" name="TextBox 5"/>
            <p:cNvSpPr txBox="1"/>
            <p:nvPr/>
          </p:nvSpPr>
          <p:spPr>
            <a:xfrm>
              <a:off x="76200" y="819150"/>
              <a:ext cx="660400" cy="660400"/>
            </a:xfrm>
            <a:prstGeom prst="rect">
              <a:avLst/>
            </a:prstGeom>
          </p:spPr>
          <p:txBody>
            <a:bodyPr lIns="50800" tIns="50800" rIns="50800" bIns="50800" rtlCol="0" anchor="ctr"/>
            <a:lstStyle/>
            <a:p>
              <a:pPr marL="0" lvl="0" indent="0" algn="l">
                <a:lnSpc>
                  <a:spcPts val="19673"/>
                </a:lnSpc>
                <a:spcBef>
                  <a:spcPct val="0"/>
                </a:spcBef>
              </a:pPr>
              <a:endParaRPr/>
            </a:p>
          </p:txBody>
        </p:sp>
      </p:grpSp>
      <p:grpSp>
        <p:nvGrpSpPr>
          <p:cNvPr id="6" name="Group 6"/>
          <p:cNvGrpSpPr/>
          <p:nvPr/>
        </p:nvGrpSpPr>
        <p:grpSpPr>
          <a:xfrm rot="-8457765">
            <a:off x="2148368" y="-6538878"/>
            <a:ext cx="13929461" cy="1392946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FFFFFF">
                    <a:alpha val="1155"/>
                  </a:srgbClr>
                </a:gs>
                <a:gs pos="25000">
                  <a:srgbClr val="FFFFFF">
                    <a:alpha val="1650"/>
                  </a:srgbClr>
                </a:gs>
                <a:gs pos="50000">
                  <a:srgbClr val="FFFFFF">
                    <a:alpha val="1100"/>
                  </a:srgbClr>
                </a:gs>
                <a:gs pos="75000">
                  <a:srgbClr val="FFFFFF">
                    <a:alpha val="1650"/>
                  </a:srgbClr>
                </a:gs>
                <a:gs pos="100000">
                  <a:srgbClr val="FFFFFF">
                    <a:alpha val="1100"/>
                  </a:srgbClr>
                </a:gs>
              </a:gsLst>
              <a:lin ang="2700000"/>
            </a:gradFill>
            <a:ln w="19050" cap="rnd">
              <a:solidFill>
                <a:srgbClr val="FFFFFF">
                  <a:alpha val="10980"/>
                </a:srgbClr>
              </a:solidFill>
              <a:prstDash val="solid"/>
              <a:round/>
            </a:ln>
          </p:spPr>
        </p:sp>
        <p:sp>
          <p:nvSpPr>
            <p:cNvPr id="8" name="TextBox 8"/>
            <p:cNvSpPr txBox="1"/>
            <p:nvPr/>
          </p:nvSpPr>
          <p:spPr>
            <a:xfrm>
              <a:off x="76200" y="161925"/>
              <a:ext cx="660400" cy="574675"/>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9" name="Group 9"/>
          <p:cNvGrpSpPr/>
          <p:nvPr/>
        </p:nvGrpSpPr>
        <p:grpSpPr>
          <a:xfrm>
            <a:off x="1028700" y="2561772"/>
            <a:ext cx="7910123" cy="7265277"/>
            <a:chOff x="0" y="0"/>
            <a:chExt cx="2977391" cy="2734669"/>
          </a:xfrm>
        </p:grpSpPr>
        <p:sp>
          <p:nvSpPr>
            <p:cNvPr id="10" name="Freeform 10"/>
            <p:cNvSpPr/>
            <p:nvPr/>
          </p:nvSpPr>
          <p:spPr>
            <a:xfrm>
              <a:off x="0" y="0"/>
              <a:ext cx="2977391" cy="2734669"/>
            </a:xfrm>
            <a:custGeom>
              <a:avLst/>
              <a:gdLst/>
              <a:ahLst/>
              <a:cxnLst/>
              <a:rect l="l" t="t" r="r" b="b"/>
              <a:pathLst>
                <a:path w="2977391" h="2734669">
                  <a:moveTo>
                    <a:pt x="49916" y="0"/>
                  </a:moveTo>
                  <a:lnTo>
                    <a:pt x="2927476" y="0"/>
                  </a:lnTo>
                  <a:cubicBezTo>
                    <a:pt x="2955043" y="0"/>
                    <a:pt x="2977391" y="22348"/>
                    <a:pt x="2977391" y="49916"/>
                  </a:cubicBezTo>
                  <a:lnTo>
                    <a:pt x="2977391" y="2684754"/>
                  </a:lnTo>
                  <a:cubicBezTo>
                    <a:pt x="2977391" y="2697992"/>
                    <a:pt x="2972132" y="2710688"/>
                    <a:pt x="2962771" y="2720049"/>
                  </a:cubicBezTo>
                  <a:cubicBezTo>
                    <a:pt x="2953410" y="2729410"/>
                    <a:pt x="2940714" y="2734669"/>
                    <a:pt x="2927476" y="2734669"/>
                  </a:cubicBezTo>
                  <a:lnTo>
                    <a:pt x="49916" y="2734669"/>
                  </a:lnTo>
                  <a:cubicBezTo>
                    <a:pt x="22348" y="2734669"/>
                    <a:pt x="0" y="2712321"/>
                    <a:pt x="0" y="2684754"/>
                  </a:cubicBezTo>
                  <a:lnTo>
                    <a:pt x="0" y="49916"/>
                  </a:lnTo>
                  <a:cubicBezTo>
                    <a:pt x="0" y="22348"/>
                    <a:pt x="22348" y="0"/>
                    <a:pt x="49916" y="0"/>
                  </a:cubicBezTo>
                  <a:close/>
                </a:path>
              </a:pathLst>
            </a:custGeom>
            <a:gradFill rotWithShape="1">
              <a:gsLst>
                <a:gs pos="0">
                  <a:srgbClr val="FFFFFF">
                    <a:alpha val="100000"/>
                  </a:srgbClr>
                </a:gs>
                <a:gs pos="100000">
                  <a:srgbClr val="DBD8D8">
                    <a:alpha val="100000"/>
                  </a:srgbClr>
                </a:gs>
              </a:gsLst>
              <a:lin ang="5400000"/>
            </a:gradFill>
            <a:ln w="19050" cap="rnd">
              <a:gradFill>
                <a:gsLst>
                  <a:gs pos="0">
                    <a:srgbClr val="FFFFFF">
                      <a:alpha val="100000"/>
                    </a:srgbClr>
                  </a:gs>
                  <a:gs pos="100000">
                    <a:srgbClr val="DBD8D8">
                      <a:alpha val="100000"/>
                    </a:srgbClr>
                  </a:gs>
                </a:gsLst>
                <a:lin ang="5400000"/>
              </a:gradFill>
              <a:prstDash val="solid"/>
              <a:round/>
            </a:ln>
          </p:spPr>
        </p:sp>
        <p:sp>
          <p:nvSpPr>
            <p:cNvPr id="11" name="TextBox 11"/>
            <p:cNvSpPr txBox="1"/>
            <p:nvPr/>
          </p:nvSpPr>
          <p:spPr>
            <a:xfrm>
              <a:off x="0" y="85725"/>
              <a:ext cx="2977391" cy="2648944"/>
            </a:xfrm>
            <a:prstGeom prst="rect">
              <a:avLst/>
            </a:prstGeom>
          </p:spPr>
          <p:txBody>
            <a:bodyPr lIns="50800" tIns="50800" rIns="50800" bIns="50800" rtlCol="0" anchor="ctr"/>
            <a:lstStyle/>
            <a:p>
              <a:pPr marL="0" lvl="0" indent="0" algn="ctr">
                <a:lnSpc>
                  <a:spcPts val="2218"/>
                </a:lnSpc>
                <a:spcBef>
                  <a:spcPct val="0"/>
                </a:spcBef>
              </a:pPr>
              <a:endParaRPr/>
            </a:p>
          </p:txBody>
        </p:sp>
      </p:grpSp>
      <p:grpSp>
        <p:nvGrpSpPr>
          <p:cNvPr id="12" name="Group 12"/>
          <p:cNvGrpSpPr/>
          <p:nvPr/>
        </p:nvGrpSpPr>
        <p:grpSpPr>
          <a:xfrm>
            <a:off x="9311951" y="2406654"/>
            <a:ext cx="7947349" cy="7265277"/>
            <a:chOff x="0" y="0"/>
            <a:chExt cx="2991403" cy="2734669"/>
          </a:xfrm>
        </p:grpSpPr>
        <p:sp>
          <p:nvSpPr>
            <p:cNvPr id="13" name="Freeform 13"/>
            <p:cNvSpPr/>
            <p:nvPr/>
          </p:nvSpPr>
          <p:spPr>
            <a:xfrm>
              <a:off x="0" y="0"/>
              <a:ext cx="2991403" cy="2734669"/>
            </a:xfrm>
            <a:custGeom>
              <a:avLst/>
              <a:gdLst/>
              <a:ahLst/>
              <a:cxnLst/>
              <a:rect l="l" t="t" r="r" b="b"/>
              <a:pathLst>
                <a:path w="2991403" h="2734669">
                  <a:moveTo>
                    <a:pt x="49682" y="0"/>
                  </a:moveTo>
                  <a:lnTo>
                    <a:pt x="2941722" y="0"/>
                  </a:lnTo>
                  <a:cubicBezTo>
                    <a:pt x="2969160" y="0"/>
                    <a:pt x="2991403" y="22243"/>
                    <a:pt x="2991403" y="49682"/>
                  </a:cubicBezTo>
                  <a:lnTo>
                    <a:pt x="2991403" y="2684988"/>
                  </a:lnTo>
                  <a:cubicBezTo>
                    <a:pt x="2991403" y="2698164"/>
                    <a:pt x="2986169" y="2710801"/>
                    <a:pt x="2976852" y="2720118"/>
                  </a:cubicBezTo>
                  <a:cubicBezTo>
                    <a:pt x="2967535" y="2729435"/>
                    <a:pt x="2954898" y="2734669"/>
                    <a:pt x="2941722" y="2734669"/>
                  </a:cubicBezTo>
                  <a:lnTo>
                    <a:pt x="49682" y="2734669"/>
                  </a:lnTo>
                  <a:cubicBezTo>
                    <a:pt x="22243" y="2734669"/>
                    <a:pt x="0" y="2712426"/>
                    <a:pt x="0" y="2684988"/>
                  </a:cubicBezTo>
                  <a:lnTo>
                    <a:pt x="0" y="49682"/>
                  </a:lnTo>
                  <a:cubicBezTo>
                    <a:pt x="0" y="36505"/>
                    <a:pt x="5234" y="23869"/>
                    <a:pt x="14551" y="14551"/>
                  </a:cubicBezTo>
                  <a:cubicBezTo>
                    <a:pt x="23869" y="5234"/>
                    <a:pt x="36505" y="0"/>
                    <a:pt x="49682" y="0"/>
                  </a:cubicBezTo>
                  <a:close/>
                </a:path>
              </a:pathLst>
            </a:custGeom>
            <a:gradFill rotWithShape="1">
              <a:gsLst>
                <a:gs pos="0">
                  <a:srgbClr val="9245C4">
                    <a:alpha val="100000"/>
                  </a:srgbClr>
                </a:gs>
                <a:gs pos="100000">
                  <a:srgbClr val="AD64DD">
                    <a:alpha val="100000"/>
                  </a:srgbClr>
                </a:gs>
              </a:gsLst>
              <a:lin ang="0"/>
            </a:gradFill>
            <a:ln w="19050" cap="rnd">
              <a:solidFill>
                <a:srgbClr val="FFFFFF"/>
              </a:solidFill>
              <a:prstDash val="solid"/>
              <a:round/>
            </a:ln>
          </p:spPr>
        </p:sp>
        <p:sp>
          <p:nvSpPr>
            <p:cNvPr id="14" name="TextBox 14"/>
            <p:cNvSpPr txBox="1"/>
            <p:nvPr/>
          </p:nvSpPr>
          <p:spPr>
            <a:xfrm>
              <a:off x="0" y="85725"/>
              <a:ext cx="2991403" cy="2648944"/>
            </a:xfrm>
            <a:prstGeom prst="rect">
              <a:avLst/>
            </a:prstGeom>
          </p:spPr>
          <p:txBody>
            <a:bodyPr lIns="50800" tIns="50800" rIns="50800" bIns="50800" rtlCol="0" anchor="ctr"/>
            <a:lstStyle/>
            <a:p>
              <a:pPr marL="0" lvl="0" indent="0" algn="ctr">
                <a:lnSpc>
                  <a:spcPts val="2218"/>
                </a:lnSpc>
                <a:spcBef>
                  <a:spcPct val="0"/>
                </a:spcBef>
              </a:pPr>
              <a:endParaRPr/>
            </a:p>
          </p:txBody>
        </p:sp>
      </p:grpSp>
      <p:sp>
        <p:nvSpPr>
          <p:cNvPr id="15" name="Freeform 15"/>
          <p:cNvSpPr/>
          <p:nvPr/>
        </p:nvSpPr>
        <p:spPr>
          <a:xfrm>
            <a:off x="1481256" y="2727209"/>
            <a:ext cx="1401636" cy="1493259"/>
          </a:xfrm>
          <a:custGeom>
            <a:avLst/>
            <a:gdLst/>
            <a:ahLst/>
            <a:cxnLst/>
            <a:rect l="l" t="t" r="r" b="b"/>
            <a:pathLst>
              <a:path w="1401636" h="1493259">
                <a:moveTo>
                  <a:pt x="0" y="0"/>
                </a:moveTo>
                <a:lnTo>
                  <a:pt x="1401635" y="0"/>
                </a:lnTo>
                <a:lnTo>
                  <a:pt x="1401635" y="1493259"/>
                </a:lnTo>
                <a:lnTo>
                  <a:pt x="0" y="149325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Freeform 16"/>
          <p:cNvSpPr/>
          <p:nvPr/>
        </p:nvSpPr>
        <p:spPr>
          <a:xfrm>
            <a:off x="9831828" y="2667724"/>
            <a:ext cx="1482689" cy="1504574"/>
          </a:xfrm>
          <a:custGeom>
            <a:avLst/>
            <a:gdLst/>
            <a:ahLst/>
            <a:cxnLst/>
            <a:rect l="l" t="t" r="r" b="b"/>
            <a:pathLst>
              <a:path w="1482689" h="1504574">
                <a:moveTo>
                  <a:pt x="0" y="0"/>
                </a:moveTo>
                <a:lnTo>
                  <a:pt x="1482689" y="0"/>
                </a:lnTo>
                <a:lnTo>
                  <a:pt x="1482689" y="1504574"/>
                </a:lnTo>
                <a:lnTo>
                  <a:pt x="0" y="150457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7" name="TextBox 17"/>
          <p:cNvSpPr txBox="1"/>
          <p:nvPr/>
        </p:nvSpPr>
        <p:spPr>
          <a:xfrm>
            <a:off x="1485414" y="696555"/>
            <a:ext cx="15317172" cy="1538738"/>
          </a:xfrm>
          <a:prstGeom prst="rect">
            <a:avLst/>
          </a:prstGeom>
        </p:spPr>
        <p:txBody>
          <a:bodyPr lIns="0" tIns="0" rIns="0" bIns="0" rtlCol="0" anchor="t">
            <a:spAutoFit/>
          </a:bodyPr>
          <a:lstStyle/>
          <a:p>
            <a:pPr algn="ctr">
              <a:lnSpc>
                <a:spcPts val="12035"/>
              </a:lnSpc>
            </a:pPr>
            <a:r>
              <a:rPr lang="en-US" sz="10286" b="1" spc="-432">
                <a:solidFill>
                  <a:srgbClr val="FFFFFF"/>
                </a:solidFill>
                <a:latin typeface="Open Sauce Bold"/>
                <a:ea typeface="Open Sauce Bold"/>
                <a:cs typeface="Open Sauce Bold"/>
                <a:sym typeface="Open Sauce Bold"/>
              </a:rPr>
              <a:t>Future Work</a:t>
            </a:r>
          </a:p>
        </p:txBody>
      </p:sp>
      <p:sp>
        <p:nvSpPr>
          <p:cNvPr id="18" name="TextBox 18"/>
          <p:cNvSpPr txBox="1"/>
          <p:nvPr/>
        </p:nvSpPr>
        <p:spPr>
          <a:xfrm>
            <a:off x="3546766" y="3141500"/>
            <a:ext cx="2713040" cy="557022"/>
          </a:xfrm>
          <a:prstGeom prst="rect">
            <a:avLst/>
          </a:prstGeom>
        </p:spPr>
        <p:txBody>
          <a:bodyPr lIns="0" tIns="0" rIns="0" bIns="0" rtlCol="0" anchor="t">
            <a:spAutoFit/>
          </a:bodyPr>
          <a:lstStyle/>
          <a:p>
            <a:pPr algn="l">
              <a:lnSpc>
                <a:spcPts val="4328"/>
              </a:lnSpc>
            </a:pPr>
            <a:r>
              <a:rPr lang="en-US" sz="3699" b="1" spc="-155">
                <a:solidFill>
                  <a:srgbClr val="0E0637"/>
                </a:solidFill>
                <a:latin typeface="Open Sauce Bold"/>
                <a:ea typeface="Open Sauce Bold"/>
                <a:cs typeface="Open Sauce Bold"/>
                <a:sym typeface="Open Sauce Bold"/>
              </a:rPr>
              <a:t>  Challenge</a:t>
            </a:r>
          </a:p>
        </p:txBody>
      </p:sp>
      <p:sp>
        <p:nvSpPr>
          <p:cNvPr id="19" name="TextBox 19"/>
          <p:cNvSpPr txBox="1"/>
          <p:nvPr/>
        </p:nvSpPr>
        <p:spPr>
          <a:xfrm>
            <a:off x="11760779" y="3141500"/>
            <a:ext cx="3049693" cy="557022"/>
          </a:xfrm>
          <a:prstGeom prst="rect">
            <a:avLst/>
          </a:prstGeom>
        </p:spPr>
        <p:txBody>
          <a:bodyPr lIns="0" tIns="0" rIns="0" bIns="0" rtlCol="0" anchor="t">
            <a:spAutoFit/>
          </a:bodyPr>
          <a:lstStyle/>
          <a:p>
            <a:pPr marL="0" lvl="1" indent="0" algn="l">
              <a:lnSpc>
                <a:spcPts val="4328"/>
              </a:lnSpc>
              <a:spcBef>
                <a:spcPct val="0"/>
              </a:spcBef>
            </a:pPr>
            <a:r>
              <a:rPr lang="en-US" sz="3699" b="1" u="none" strike="noStrike" spc="-155">
                <a:solidFill>
                  <a:srgbClr val="FFFFFF"/>
                </a:solidFill>
                <a:latin typeface="Open Sauce Bold"/>
                <a:ea typeface="Open Sauce Bold"/>
                <a:cs typeface="Open Sauce Bold"/>
                <a:sym typeface="Open Sauce Bold"/>
              </a:rPr>
              <a:t>Future work</a:t>
            </a:r>
          </a:p>
        </p:txBody>
      </p:sp>
      <p:sp>
        <p:nvSpPr>
          <p:cNvPr id="20" name="TextBox 20"/>
          <p:cNvSpPr txBox="1"/>
          <p:nvPr/>
        </p:nvSpPr>
        <p:spPr>
          <a:xfrm>
            <a:off x="1291761" y="4762371"/>
            <a:ext cx="7580432" cy="4909560"/>
          </a:xfrm>
          <a:prstGeom prst="rect">
            <a:avLst/>
          </a:prstGeom>
        </p:spPr>
        <p:txBody>
          <a:bodyPr lIns="0" tIns="0" rIns="0" bIns="0" rtlCol="0" anchor="t">
            <a:spAutoFit/>
          </a:bodyPr>
          <a:lstStyle/>
          <a:p>
            <a:pPr algn="l">
              <a:lnSpc>
                <a:spcPts val="3196"/>
              </a:lnSpc>
            </a:pPr>
            <a:r>
              <a:rPr lang="en-US" sz="2350" b="1" spc="-54">
                <a:solidFill>
                  <a:srgbClr val="0E0637"/>
                </a:solidFill>
                <a:latin typeface="Open Sauce Bold"/>
                <a:ea typeface="Open Sauce Bold"/>
                <a:cs typeface="Open Sauce Bold"/>
                <a:sym typeface="Open Sauce Bold"/>
              </a:rPr>
              <a:t>Hysteresis parallelization</a:t>
            </a:r>
            <a:r>
              <a:rPr lang="en-US" sz="2350" spc="-54">
                <a:solidFill>
                  <a:srgbClr val="0E0637"/>
                </a:solidFill>
                <a:latin typeface="Open Sauce Light"/>
                <a:ea typeface="Open Sauce Light"/>
                <a:cs typeface="Open Sauce Light"/>
                <a:sym typeface="Open Sauce Light"/>
              </a:rPr>
              <a:t> Connected-component analysis has chain-like dependencies with no fixed computation range, making it incompatible with cuTile's tile model — the root cause of our Amdahl ceiling.</a:t>
            </a:r>
          </a:p>
          <a:p>
            <a:pPr algn="l">
              <a:lnSpc>
                <a:spcPts val="3196"/>
              </a:lnSpc>
            </a:pPr>
            <a:r>
              <a:rPr lang="en-US" sz="2350" b="1" spc="-54">
                <a:solidFill>
                  <a:srgbClr val="0E0637"/>
                </a:solidFill>
                <a:latin typeface="Open Sauce Bold"/>
                <a:ea typeface="Open Sauce Bold"/>
                <a:cs typeface="Open Sauce Bold"/>
                <a:sym typeface="Open Sauce Bold"/>
              </a:rPr>
              <a:t>Low GPU efficiency</a:t>
            </a:r>
            <a:r>
              <a:rPr lang="en-US" sz="2350" spc="-54">
                <a:solidFill>
                  <a:srgbClr val="0E0637"/>
                </a:solidFill>
                <a:latin typeface="Open Sauce Light"/>
                <a:ea typeface="Open Sauce Light"/>
                <a:cs typeface="Open Sauce Light"/>
                <a:sym typeface="Open Sauce Light"/>
              </a:rPr>
              <a:t> on small images PCIe transfer and kernel launch overhead dominate at small image sizes, pushing end-to-end speedup close to or below 1×.</a:t>
            </a:r>
          </a:p>
          <a:p>
            <a:pPr algn="l">
              <a:lnSpc>
                <a:spcPts val="3196"/>
              </a:lnSpc>
            </a:pPr>
            <a:r>
              <a:rPr lang="en-US" sz="2350" b="1" spc="-54">
                <a:solidFill>
                  <a:srgbClr val="0E0637"/>
                </a:solidFill>
                <a:latin typeface="Open Sauce Bold"/>
                <a:ea typeface="Open Sauce Bold"/>
                <a:cs typeface="Open Sauce Bold"/>
                <a:sym typeface="Open Sauce Bold"/>
              </a:rPr>
              <a:t>Camera I/O bottleneck</a:t>
            </a:r>
            <a:r>
              <a:rPr lang="en-US" sz="2350" spc="-54">
                <a:solidFill>
                  <a:srgbClr val="0E0637"/>
                </a:solidFill>
                <a:latin typeface="Open Sauce Light"/>
                <a:ea typeface="Open Sauce Light"/>
                <a:cs typeface="Open Sauce Light"/>
                <a:sym typeface="Open Sauce Light"/>
              </a:rPr>
              <a:t> Hardware latency from the physical camera limits pipeline throughput — an external constraint, not an algorithmic one, but it prevents reaching the real-time target.</a:t>
            </a:r>
          </a:p>
          <a:p>
            <a:pPr algn="l">
              <a:lnSpc>
                <a:spcPts val="4557"/>
              </a:lnSpc>
            </a:pPr>
            <a:endParaRPr lang="en-US" sz="2350" spc="-54">
              <a:solidFill>
                <a:srgbClr val="0E0637"/>
              </a:solidFill>
              <a:latin typeface="Open Sauce Light"/>
              <a:ea typeface="Open Sauce Light"/>
              <a:cs typeface="Open Sauce Light"/>
              <a:sym typeface="Open Sauce Light"/>
            </a:endParaRPr>
          </a:p>
        </p:txBody>
      </p:sp>
      <p:sp>
        <p:nvSpPr>
          <p:cNvPr id="21" name="TextBox 21"/>
          <p:cNvSpPr txBox="1"/>
          <p:nvPr/>
        </p:nvSpPr>
        <p:spPr>
          <a:xfrm>
            <a:off x="9743339" y="4581873"/>
            <a:ext cx="7427472" cy="4795966"/>
          </a:xfrm>
          <a:prstGeom prst="rect">
            <a:avLst/>
          </a:prstGeom>
        </p:spPr>
        <p:txBody>
          <a:bodyPr lIns="0" tIns="0" rIns="0" bIns="0" rtlCol="0" anchor="t">
            <a:spAutoFit/>
          </a:bodyPr>
          <a:lstStyle/>
          <a:p>
            <a:pPr algn="l">
              <a:lnSpc>
                <a:spcPts val="3497"/>
              </a:lnSpc>
            </a:pPr>
            <a:r>
              <a:rPr lang="en-US" sz="2571" b="1" spc="-59">
                <a:solidFill>
                  <a:srgbClr val="FFFFFF"/>
                </a:solidFill>
                <a:latin typeface="Open Sauce Bold"/>
                <a:ea typeface="Open Sauce Bold"/>
                <a:cs typeface="Open Sauce Bold"/>
                <a:sym typeface="Open Sauce Bold"/>
              </a:rPr>
              <a:t>GPU Connected Components</a:t>
            </a:r>
            <a:r>
              <a:rPr lang="en-US" sz="2571" spc="-59">
                <a:solidFill>
                  <a:srgbClr val="FFFFFF"/>
                </a:solidFill>
                <a:latin typeface="Open Sauce Light"/>
                <a:ea typeface="Open Sauce Light"/>
                <a:cs typeface="Open Sauce Light"/>
                <a:sym typeface="Open Sauce Light"/>
              </a:rPr>
              <a:t> (highest priority) Algorithms such as ECL-CC enable parallel connected-component analysis on GPU, reducing f from 0.5–0.8 to near zero and raising the theoretical end-to-end speedup to 10–20×.</a:t>
            </a:r>
          </a:p>
          <a:p>
            <a:pPr algn="l">
              <a:lnSpc>
                <a:spcPts val="3497"/>
              </a:lnSpc>
            </a:pPr>
            <a:r>
              <a:rPr lang="en-US" sz="2571" b="1" spc="-59">
                <a:solidFill>
                  <a:srgbClr val="FFFFFF"/>
                </a:solidFill>
                <a:latin typeface="Open Sauce Bold"/>
                <a:ea typeface="Open Sauce Bold"/>
                <a:cs typeface="Open Sauce Bold"/>
                <a:sym typeface="Open Sauce Bold"/>
              </a:rPr>
              <a:t>Pinned Memory + CUDA Streams</a:t>
            </a:r>
            <a:r>
              <a:rPr lang="en-US" sz="2571" spc="-59">
                <a:solidFill>
                  <a:srgbClr val="FFFFFF"/>
                </a:solidFill>
                <a:latin typeface="Open Sauce Light"/>
                <a:ea typeface="Open Sauce Light"/>
                <a:cs typeface="Open Sauce Light"/>
                <a:sym typeface="Open Sauce Light"/>
              </a:rPr>
              <a:t> Pinned memory eliminates the extra copy step during data transfer; CUDA Streams allow transfer and computation to overlap, reducing end-to-end latency.</a:t>
            </a:r>
          </a:p>
          <a:p>
            <a:pPr algn="l">
              <a:lnSpc>
                <a:spcPts val="3497"/>
              </a:lnSpc>
            </a:pPr>
            <a:endParaRPr lang="en-US" sz="2571" spc="-59">
              <a:solidFill>
                <a:srgbClr val="FFFFFF"/>
              </a:solidFill>
              <a:latin typeface="Open Sauce Light"/>
              <a:ea typeface="Open Sauce Light"/>
              <a:cs typeface="Open Sauce Light"/>
              <a:sym typeface="Open Sauce Light"/>
            </a:endParaRPr>
          </a:p>
        </p:txBody>
      </p:sp>
      <p:sp>
        <p:nvSpPr>
          <p:cNvPr id="22" name="TextBox 22"/>
          <p:cNvSpPr txBox="1"/>
          <p:nvPr/>
        </p:nvSpPr>
        <p:spPr>
          <a:xfrm>
            <a:off x="16435908" y="290843"/>
            <a:ext cx="1646783" cy="372182"/>
          </a:xfrm>
          <a:prstGeom prst="rect">
            <a:avLst/>
          </a:prstGeom>
        </p:spPr>
        <p:txBody>
          <a:bodyPr lIns="0" tIns="0" rIns="0" bIns="0" rtlCol="0" anchor="t">
            <a:spAutoFit/>
          </a:bodyPr>
          <a:lstStyle/>
          <a:p>
            <a:pPr algn="ctr">
              <a:lnSpc>
                <a:spcPts val="3140"/>
              </a:lnSpc>
              <a:spcBef>
                <a:spcPct val="0"/>
              </a:spcBef>
            </a:pPr>
            <a:r>
              <a:rPr lang="en-US" sz="2308" spc="-53">
                <a:solidFill>
                  <a:srgbClr val="FFFFFF"/>
                </a:solidFill>
                <a:latin typeface="Open Sauce Light"/>
                <a:ea typeface="Open Sauce Light"/>
                <a:cs typeface="Open Sauce Light"/>
                <a:sym typeface="Open Sauce Light"/>
              </a:rPr>
              <a:t>Shiying Yang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3"/>
            <a:stretch>
              <a:fillRect t="-9222" b="-9222"/>
            </a:stretch>
          </a:blipFill>
        </p:spPr>
      </p:sp>
      <p:sp>
        <p:nvSpPr>
          <p:cNvPr id="3" name="TextBox 3"/>
          <p:cNvSpPr txBox="1"/>
          <p:nvPr/>
        </p:nvSpPr>
        <p:spPr>
          <a:xfrm>
            <a:off x="1028700" y="3486583"/>
            <a:ext cx="16230600" cy="5231027"/>
          </a:xfrm>
          <a:prstGeom prst="rect">
            <a:avLst/>
          </a:prstGeom>
        </p:spPr>
        <p:txBody>
          <a:bodyPr lIns="0" tIns="0" rIns="0" bIns="0" rtlCol="0" anchor="t">
            <a:spAutoFit/>
          </a:bodyPr>
          <a:lstStyle/>
          <a:p>
            <a:pPr algn="l">
              <a:lnSpc>
                <a:spcPts val="19673"/>
              </a:lnSpc>
            </a:pPr>
            <a:r>
              <a:rPr lang="en-US" sz="22876" b="1" spc="-1075">
                <a:solidFill>
                  <a:srgbClr val="FFFFFF"/>
                </a:solidFill>
                <a:latin typeface="Open Sauce Heavy"/>
                <a:ea typeface="Open Sauce Heavy"/>
                <a:cs typeface="Open Sauce Heavy"/>
                <a:sym typeface="Open Sauce Heavy"/>
              </a:rPr>
              <a:t>Thank You</a:t>
            </a:r>
          </a:p>
          <a:p>
            <a:pPr algn="l">
              <a:lnSpc>
                <a:spcPts val="19673"/>
              </a:lnSpc>
            </a:pPr>
            <a:r>
              <a:rPr lang="en-US" sz="22876" b="1" spc="-1075">
                <a:solidFill>
                  <a:srgbClr val="FFFFFF"/>
                </a:solidFill>
                <a:latin typeface="Open Sauce Heavy"/>
                <a:ea typeface="Open Sauce Heavy"/>
                <a:cs typeface="Open Sauce Heavy"/>
                <a:sym typeface="Open Sauce Heavy"/>
              </a:rPr>
              <a:t>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4554</Words>
  <Application>Microsoft Office PowerPoint</Application>
  <PresentationFormat>自定义</PresentationFormat>
  <Paragraphs>429</Paragraphs>
  <Slides>16</Slides>
  <Notes>16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Open Sauce Heavy</vt:lpstr>
      <vt:lpstr>Aileron Bold</vt:lpstr>
      <vt:lpstr>Open Sauce</vt:lpstr>
      <vt:lpstr>Canva Sans Bold</vt:lpstr>
      <vt:lpstr>Canva Sans</vt:lpstr>
      <vt:lpstr>Open Sauce Bold</vt:lpstr>
      <vt:lpstr>Open Sauce Light</vt:lpstr>
      <vt:lpstr>Calibri</vt:lpstr>
      <vt:lpstr>Aileron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Canny Edge Detection</dc:title>
  <cp:lastModifiedBy>Kallen Y</cp:lastModifiedBy>
  <cp:revision>2</cp:revision>
  <dcterms:created xsi:type="dcterms:W3CDTF">2006-08-16T00:00:00Z</dcterms:created>
  <dcterms:modified xsi:type="dcterms:W3CDTF">2026-06-02T02:13:05Z</dcterms:modified>
  <dc:identifier>DAHJUHGrkCc</dc:identifier>
</cp:coreProperties>
</file>